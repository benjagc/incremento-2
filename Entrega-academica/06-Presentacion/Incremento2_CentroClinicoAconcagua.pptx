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jrEcEIm7lW7OaU0QnE20n7sOWT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0A2E4C-0797-4C70-88C3-9BE22FBBC304}">
  <a:tblStyle styleId="{930A2E4C-0797-4C70-88C3-9BE22FBBC30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2" name="Google Shape;112;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3" name="Google Shape;113;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a:t>
            </a:r>
            <a:endParaRPr/>
          </a:p>
        </p:txBody>
      </p:sp>
      <p:sp>
        <p:nvSpPr>
          <p:cNvPr id="115" name="Google Shape;115;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6" name="Google Shape;116;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1" name="Google Shape;221;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2" name="Google Shape;222;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a:t>
            </a:r>
            <a:endParaRPr/>
          </a:p>
        </p:txBody>
      </p:sp>
      <p:sp>
        <p:nvSpPr>
          <p:cNvPr id="224" name="Google Shape;224;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7" name="Google Shape;257;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8" name="Google Shape;258;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a:t>
            </a:r>
            <a:endParaRPr/>
          </a:p>
        </p:txBody>
      </p:sp>
      <p:sp>
        <p:nvSpPr>
          <p:cNvPr id="260" name="Google Shape;260;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1" name="Google Shape;261;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4" name="Google Shape;304;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a:t>
            </a:r>
            <a:endParaRPr/>
          </a:p>
        </p:txBody>
      </p:sp>
      <p:sp>
        <p:nvSpPr>
          <p:cNvPr id="306" name="Google Shape;306;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7" name="Google Shape;307;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3" name="Google Shape;343;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4" name="Google Shape;344;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a:t>
            </a:r>
            <a:endParaRPr/>
          </a:p>
        </p:txBody>
      </p:sp>
      <p:sp>
        <p:nvSpPr>
          <p:cNvPr id="346" name="Google Shape;346;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7" name="Google Shape;347;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4" name="Google Shape;384;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5" name="Google Shape;385;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a:t>
            </a:r>
            <a:endParaRPr/>
          </a:p>
        </p:txBody>
      </p:sp>
      <p:sp>
        <p:nvSpPr>
          <p:cNvPr id="387" name="Google Shape;387;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8" name="Google Shape;388;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4" name="Google Shape;414;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5" name="Google Shape;415;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a:t>
            </a:r>
            <a:endParaRPr/>
          </a:p>
        </p:txBody>
      </p:sp>
      <p:sp>
        <p:nvSpPr>
          <p:cNvPr id="417" name="Google Shape;417;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8" name="Google Shape;418;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6" name="Google Shape;426;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7" name="Google Shape;427;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a:t>
            </a:r>
            <a:endParaRPr/>
          </a:p>
        </p:txBody>
      </p:sp>
      <p:sp>
        <p:nvSpPr>
          <p:cNvPr id="429" name="Google Shape;429;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0" name="Google Shape;430;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8" name="Google Shape;438;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9" name="Google Shape;439;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a:t>
            </a:r>
            <a:endParaRPr/>
          </a:p>
        </p:txBody>
      </p:sp>
      <p:sp>
        <p:nvSpPr>
          <p:cNvPr id="441" name="Google Shape;441;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2" name="Google Shape;442;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0" name="Google Shape;450;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1" name="Google Shape;451;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a:t>
            </a:r>
            <a:endParaRPr/>
          </a:p>
        </p:txBody>
      </p:sp>
      <p:sp>
        <p:nvSpPr>
          <p:cNvPr id="453" name="Google Shape;453;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4" name="Google Shape;454;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2" name="Google Shape;462;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3" name="Google Shape;463;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a:t>
            </a:r>
            <a:endParaRPr/>
          </a:p>
        </p:txBody>
      </p:sp>
      <p:sp>
        <p:nvSpPr>
          <p:cNvPr id="465" name="Google Shape;465;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6" name="Google Shape;466;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4" name="Google Shape;474;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5" name="Google Shape;475;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a:t>
            </a:r>
            <a:endParaRPr/>
          </a:p>
        </p:txBody>
      </p:sp>
      <p:sp>
        <p:nvSpPr>
          <p:cNvPr id="477" name="Google Shape;477;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8" name="Google Shape;478;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6" name="Google Shape;486;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7" name="Google Shape;487;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14</a:t>
            </a:r>
            <a:endParaRPr/>
          </a:p>
        </p:txBody>
      </p:sp>
      <p:sp>
        <p:nvSpPr>
          <p:cNvPr id="489" name="Google Shape;489;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0" name="Google Shape;490;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8" name="Google Shape;548;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49" name="Google Shape;549;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a:t>
            </a:r>
            <a:endParaRPr/>
          </a:p>
        </p:txBody>
      </p:sp>
      <p:sp>
        <p:nvSpPr>
          <p:cNvPr id="551" name="Google Shape;551;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52" name="Google Shape;552;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30" name="Google Shape;730;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31" name="Google Shape;731;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16</a:t>
            </a:r>
            <a:endParaRPr/>
          </a:p>
        </p:txBody>
      </p:sp>
      <p:sp>
        <p:nvSpPr>
          <p:cNvPr id="733" name="Google Shape;733;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34" name="Google Shape;734;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
          <p:cNvSpPr/>
          <p:nvPr>
            <p:ph idx="2" type="pic"/>
          </p:nvPr>
        </p:nvSpPr>
        <p:spPr>
          <a:xfrm>
            <a:off x="1792288" y="612775"/>
            <a:ext cx="5486400" cy="4114800"/>
          </a:xfrm>
          <a:prstGeom prst="rect">
            <a:avLst/>
          </a:prstGeom>
          <a:noFill/>
          <a:ln>
            <a:noFill/>
          </a:ln>
        </p:spPr>
      </p:sp>
      <p:sp>
        <p:nvSpPr>
          <p:cNvPr id="68" name="Google Shape;68;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4.png"/><Relationship Id="rId9"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25.png"/><Relationship Id="rId8"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91" name="Shape 91"/>
        <p:cNvGrpSpPr/>
        <p:nvPr/>
      </p:nvGrpSpPr>
      <p:grpSpPr>
        <a:xfrm>
          <a:off x="0" y="0"/>
          <a:ext cx="0" cy="0"/>
          <a:chOff x="0" y="0"/>
          <a:chExt cx="0" cy="0"/>
        </a:xfrm>
      </p:grpSpPr>
      <p:sp>
        <p:nvSpPr>
          <p:cNvPr id="92" name="Google Shape;92;p1"/>
          <p:cNvSpPr/>
          <p:nvPr/>
        </p:nvSpPr>
        <p:spPr>
          <a:xfrm>
            <a:off x="10561320" y="0"/>
            <a:ext cx="7726204" cy="10287000"/>
          </a:xfrm>
          <a:custGeom>
            <a:rect b="b" l="l" r="r" t="t"/>
            <a:pathLst>
              <a:path extrusionOk="0" h="13716000" w="10301605">
                <a:moveTo>
                  <a:pt x="0" y="0"/>
                </a:moveTo>
                <a:lnTo>
                  <a:pt x="10301605" y="0"/>
                </a:lnTo>
                <a:lnTo>
                  <a:pt x="10301605" y="13716000"/>
                </a:lnTo>
                <a:lnTo>
                  <a:pt x="0" y="13716000"/>
                </a:lnTo>
                <a:close/>
              </a:path>
            </a:pathLst>
          </a:custGeom>
          <a:solidFill>
            <a:srgbClr val="1E2235"/>
          </a:solidFill>
          <a:ln>
            <a:noFill/>
          </a:ln>
        </p:spPr>
      </p:sp>
      <p:sp>
        <p:nvSpPr>
          <p:cNvPr descr="/home/claude/assets/logo_aconcagua.png" id="93" name="Google Shape;93;p1"/>
          <p:cNvSpPr/>
          <p:nvPr/>
        </p:nvSpPr>
        <p:spPr>
          <a:xfrm>
            <a:off x="617220" y="548640"/>
            <a:ext cx="3771900" cy="1303020"/>
          </a:xfrm>
          <a:custGeom>
            <a:rect b="b" l="l" r="r" t="t"/>
            <a:pathLst>
              <a:path extrusionOk="0" h="1737360" w="5029200">
                <a:moveTo>
                  <a:pt x="0" y="0"/>
                </a:moveTo>
                <a:lnTo>
                  <a:pt x="5029200" y="0"/>
                </a:lnTo>
                <a:lnTo>
                  <a:pt x="5029200" y="1737360"/>
                </a:lnTo>
                <a:lnTo>
                  <a:pt x="0" y="1737360"/>
                </a:lnTo>
                <a:lnTo>
                  <a:pt x="0" y="0"/>
                </a:lnTo>
                <a:close/>
              </a:path>
            </a:pathLst>
          </a:custGeom>
          <a:blipFill rotWithShape="1">
            <a:blip r:embed="rId3">
              <a:alphaModFix/>
            </a:blip>
            <a:stretch>
              <a:fillRect b="0" l="-150" r="-150" t="0"/>
            </a:stretch>
          </a:blipFill>
          <a:ln>
            <a:noFill/>
          </a:ln>
        </p:spPr>
      </p:sp>
      <p:sp>
        <p:nvSpPr>
          <p:cNvPr id="94" name="Google Shape;94;p1"/>
          <p:cNvSpPr txBox="1"/>
          <p:nvPr/>
        </p:nvSpPr>
        <p:spPr>
          <a:xfrm>
            <a:off x="708660" y="2705100"/>
            <a:ext cx="9144000" cy="2186940"/>
          </a:xfrm>
          <a:prstGeom prst="rect">
            <a:avLst/>
          </a:prstGeom>
          <a:noFill/>
          <a:ln>
            <a:noFill/>
          </a:ln>
        </p:spPr>
        <p:txBody>
          <a:bodyPr anchorCtr="0" anchor="t" bIns="0" lIns="0" spcFirstLastPara="1" rIns="0" wrap="square" tIns="0">
            <a:spAutoFit/>
          </a:bodyPr>
          <a:lstStyle/>
          <a:p>
            <a:pPr indent="0" lvl="0" marL="0" marR="0" rtl="0" algn="l">
              <a:lnSpc>
                <a:spcPct val="125983"/>
              </a:lnSpc>
              <a:spcBef>
                <a:spcPts val="0"/>
              </a:spcBef>
              <a:spcAft>
                <a:spcPts val="0"/>
              </a:spcAft>
              <a:buNone/>
            </a:pPr>
            <a:r>
              <a:rPr b="1" i="0" lang="en-US" sz="6000" u="none" cap="none" strike="noStrike">
                <a:solidFill>
                  <a:srgbClr val="FFFFFF"/>
                </a:solidFill>
                <a:latin typeface="Calibri"/>
                <a:ea typeface="Calibri"/>
                <a:cs typeface="Calibri"/>
                <a:sym typeface="Calibri"/>
              </a:rPr>
              <a:t>CENTRO CLÍNICO</a:t>
            </a:r>
            <a:endParaRPr/>
          </a:p>
          <a:p>
            <a:pPr indent="0" lvl="0" marL="0" marR="0" rtl="0" algn="l">
              <a:lnSpc>
                <a:spcPct val="125983"/>
              </a:lnSpc>
              <a:spcBef>
                <a:spcPts val="0"/>
              </a:spcBef>
              <a:spcAft>
                <a:spcPts val="0"/>
              </a:spcAft>
              <a:buNone/>
            </a:pPr>
            <a:r>
              <a:rPr b="1" i="0" lang="en-US" sz="6000" u="none" cap="none" strike="noStrike">
                <a:solidFill>
                  <a:srgbClr val="FFFFFF"/>
                </a:solidFill>
                <a:latin typeface="Calibri"/>
                <a:ea typeface="Calibri"/>
                <a:cs typeface="Calibri"/>
                <a:sym typeface="Calibri"/>
              </a:rPr>
              <a:t>ACONCAGUA</a:t>
            </a:r>
            <a:endParaRPr/>
          </a:p>
        </p:txBody>
      </p:sp>
      <p:grpSp>
        <p:nvGrpSpPr>
          <p:cNvPr id="95" name="Google Shape;95;p1"/>
          <p:cNvGrpSpPr/>
          <p:nvPr/>
        </p:nvGrpSpPr>
        <p:grpSpPr>
          <a:xfrm>
            <a:off x="617220" y="5100638"/>
            <a:ext cx="9464040" cy="728663"/>
            <a:chOff x="0" y="-57150"/>
            <a:chExt cx="12618720" cy="971550"/>
          </a:xfrm>
        </p:grpSpPr>
        <p:sp>
          <p:nvSpPr>
            <p:cNvPr id="96" name="Google Shape;96;p1"/>
            <p:cNvSpPr/>
            <p:nvPr/>
          </p:nvSpPr>
          <p:spPr>
            <a:xfrm>
              <a:off x="0" y="0"/>
              <a:ext cx="12618720" cy="914400"/>
            </a:xfrm>
            <a:custGeom>
              <a:rect b="b" l="l" r="r" t="t"/>
              <a:pathLst>
                <a:path extrusionOk="0" h="914400" w="12618720">
                  <a:moveTo>
                    <a:pt x="0" y="0"/>
                  </a:moveTo>
                  <a:lnTo>
                    <a:pt x="12618720" y="0"/>
                  </a:lnTo>
                  <a:lnTo>
                    <a:pt x="12618720" y="914400"/>
                  </a:lnTo>
                  <a:lnTo>
                    <a:pt x="0" y="914400"/>
                  </a:lnTo>
                  <a:close/>
                </a:path>
              </a:pathLst>
            </a:custGeom>
            <a:blipFill rotWithShape="1">
              <a:blip r:embed="rId4">
                <a:alphaModFix amt="0"/>
              </a:blip>
              <a:stretch>
                <a:fillRect b="-218904" l="0" r="0" t="-218904"/>
              </a:stretch>
            </a:blipFill>
            <a:ln>
              <a:noFill/>
            </a:ln>
          </p:spPr>
        </p:sp>
        <p:sp>
          <p:nvSpPr>
            <p:cNvPr id="97" name="Google Shape;97;p1"/>
            <p:cNvSpPr txBox="1"/>
            <p:nvPr/>
          </p:nvSpPr>
          <p:spPr>
            <a:xfrm>
              <a:off x="0" y="-57150"/>
              <a:ext cx="12618720" cy="971550"/>
            </a:xfrm>
            <a:prstGeom prst="rect">
              <a:avLst/>
            </a:prstGeom>
            <a:noFill/>
            <a:ln>
              <a:noFill/>
            </a:ln>
          </p:spPr>
          <p:txBody>
            <a:bodyPr anchorCtr="0" anchor="ctr" bIns="0" lIns="0" spcFirstLastPara="1" rIns="0" wrap="square" tIns="0">
              <a:noAutofit/>
            </a:bodyPr>
            <a:lstStyle/>
            <a:p>
              <a:pPr indent="0" lvl="0" marL="0" marR="0" rtl="0" algn="l">
                <a:lnSpc>
                  <a:spcPct val="119964"/>
                </a:lnSpc>
                <a:spcBef>
                  <a:spcPts val="0"/>
                </a:spcBef>
                <a:spcAft>
                  <a:spcPts val="0"/>
                </a:spcAft>
                <a:buNone/>
              </a:pPr>
              <a:r>
                <a:rPr b="0" i="0" lang="en-US" sz="2850" u="none" cap="none" strike="noStrike">
                  <a:solidFill>
                    <a:srgbClr val="4A9FD5"/>
                  </a:solidFill>
                  <a:latin typeface="Calibri"/>
                  <a:ea typeface="Calibri"/>
                  <a:cs typeface="Calibri"/>
                  <a:sym typeface="Calibri"/>
                </a:rPr>
                <a:t>Incremento II — Sistema de Gestión de Tickets</a:t>
              </a:r>
              <a:endParaRPr/>
            </a:p>
          </p:txBody>
        </p:sp>
      </p:grpSp>
      <p:grpSp>
        <p:nvGrpSpPr>
          <p:cNvPr id="98" name="Google Shape;98;p1"/>
          <p:cNvGrpSpPr/>
          <p:nvPr/>
        </p:nvGrpSpPr>
        <p:grpSpPr>
          <a:xfrm>
            <a:off x="617220" y="5834729"/>
            <a:ext cx="8915400" cy="584359"/>
            <a:chOff x="0" y="-47625"/>
            <a:chExt cx="11887200" cy="779145"/>
          </a:xfrm>
        </p:grpSpPr>
        <p:sp>
          <p:nvSpPr>
            <p:cNvPr id="99" name="Google Shape;99;p1"/>
            <p:cNvSpPr/>
            <p:nvPr/>
          </p:nvSpPr>
          <p:spPr>
            <a:xfrm>
              <a:off x="0" y="0"/>
              <a:ext cx="11887200" cy="731520"/>
            </a:xfrm>
            <a:custGeom>
              <a:rect b="b" l="l" r="r" t="t"/>
              <a:pathLst>
                <a:path extrusionOk="0" h="731520" w="11887200">
                  <a:moveTo>
                    <a:pt x="0" y="0"/>
                  </a:moveTo>
                  <a:lnTo>
                    <a:pt x="11887200" y="0"/>
                  </a:lnTo>
                  <a:lnTo>
                    <a:pt x="11887200" y="731520"/>
                  </a:lnTo>
                  <a:lnTo>
                    <a:pt x="0" y="731520"/>
                  </a:lnTo>
                  <a:close/>
                </a:path>
              </a:pathLst>
            </a:custGeom>
            <a:blipFill rotWithShape="1">
              <a:blip r:embed="rId4">
                <a:alphaModFix amt="0"/>
              </a:blip>
              <a:stretch>
                <a:fillRect b="-266616" l="0" r="0" t="-266616"/>
              </a:stretch>
            </a:blipFill>
            <a:ln>
              <a:noFill/>
            </a:ln>
          </p:spPr>
        </p:sp>
        <p:sp>
          <p:nvSpPr>
            <p:cNvPr id="100" name="Google Shape;100;p1"/>
            <p:cNvSpPr txBox="1"/>
            <p:nvPr/>
          </p:nvSpPr>
          <p:spPr>
            <a:xfrm>
              <a:off x="0" y="-47625"/>
              <a:ext cx="118872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8A94B0"/>
                  </a:solidFill>
                  <a:latin typeface="Calibri"/>
                  <a:ea typeface="Calibri"/>
                  <a:cs typeface="Calibri"/>
                  <a:sym typeface="Calibri"/>
                </a:rPr>
                <a:t>Ingeniería en Software II</a:t>
              </a:r>
              <a:endParaRPr/>
            </a:p>
          </p:txBody>
        </p:sp>
      </p:grpSp>
      <p:grpSp>
        <p:nvGrpSpPr>
          <p:cNvPr id="101" name="Google Shape;101;p1"/>
          <p:cNvGrpSpPr/>
          <p:nvPr/>
        </p:nvGrpSpPr>
        <p:grpSpPr>
          <a:xfrm>
            <a:off x="11041380" y="711517"/>
            <a:ext cx="6720840" cy="591503"/>
            <a:chOff x="0" y="-57150"/>
            <a:chExt cx="8961120" cy="788670"/>
          </a:xfrm>
        </p:grpSpPr>
        <p:sp>
          <p:nvSpPr>
            <p:cNvPr id="102" name="Google Shape;102;p1"/>
            <p:cNvSpPr/>
            <p:nvPr/>
          </p:nvSpPr>
          <p:spPr>
            <a:xfrm>
              <a:off x="0" y="0"/>
              <a:ext cx="8961120" cy="731520"/>
            </a:xfrm>
            <a:custGeom>
              <a:rect b="b" l="l" r="r" t="t"/>
              <a:pathLst>
                <a:path extrusionOk="0" h="731520" w="8961120">
                  <a:moveTo>
                    <a:pt x="0" y="0"/>
                  </a:moveTo>
                  <a:lnTo>
                    <a:pt x="8961120" y="0"/>
                  </a:lnTo>
                  <a:lnTo>
                    <a:pt x="8961120" y="731520"/>
                  </a:lnTo>
                  <a:lnTo>
                    <a:pt x="0" y="731520"/>
                  </a:lnTo>
                  <a:close/>
                </a:path>
              </a:pathLst>
            </a:custGeom>
            <a:blipFill rotWithShape="1">
              <a:blip r:embed="rId4">
                <a:alphaModFix amt="0"/>
              </a:blip>
              <a:stretch>
                <a:fillRect b="-188686" l="0" r="0" t="-188686"/>
              </a:stretch>
            </a:blipFill>
            <a:ln>
              <a:noFill/>
            </a:ln>
          </p:spPr>
        </p:sp>
        <p:sp>
          <p:nvSpPr>
            <p:cNvPr id="103" name="Google Shape;103;p1"/>
            <p:cNvSpPr txBox="1"/>
            <p:nvPr/>
          </p:nvSpPr>
          <p:spPr>
            <a:xfrm>
              <a:off x="0" y="-57150"/>
              <a:ext cx="8961120" cy="7886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50" u="none" cap="none" strike="noStrike">
                  <a:solidFill>
                    <a:srgbClr val="FFFFFF"/>
                  </a:solidFill>
                  <a:latin typeface="Calibri"/>
                  <a:ea typeface="Calibri"/>
                  <a:cs typeface="Calibri"/>
                  <a:sym typeface="Calibri"/>
                </a:rPr>
                <a:t>Equipo N° 11</a:t>
              </a:r>
              <a:endParaRPr/>
            </a:p>
          </p:txBody>
        </p:sp>
      </p:grpSp>
      <p:grpSp>
        <p:nvGrpSpPr>
          <p:cNvPr id="104" name="Google Shape;104;p1"/>
          <p:cNvGrpSpPr/>
          <p:nvPr/>
        </p:nvGrpSpPr>
        <p:grpSpPr>
          <a:xfrm>
            <a:off x="11041380" y="2588895"/>
            <a:ext cx="6789420" cy="2691765"/>
            <a:chOff x="0" y="-114300"/>
            <a:chExt cx="9052560" cy="3589020"/>
          </a:xfrm>
        </p:grpSpPr>
        <p:sp>
          <p:nvSpPr>
            <p:cNvPr id="105" name="Google Shape;105;p1"/>
            <p:cNvSpPr/>
            <p:nvPr/>
          </p:nvSpPr>
          <p:spPr>
            <a:xfrm>
              <a:off x="0" y="0"/>
              <a:ext cx="9052560" cy="3474720"/>
            </a:xfrm>
            <a:custGeom>
              <a:rect b="b" l="l" r="r" t="t"/>
              <a:pathLst>
                <a:path extrusionOk="0" h="3474720" w="9052560">
                  <a:moveTo>
                    <a:pt x="0" y="0"/>
                  </a:moveTo>
                  <a:lnTo>
                    <a:pt x="9052560" y="0"/>
                  </a:lnTo>
                  <a:lnTo>
                    <a:pt x="9052560" y="3474720"/>
                  </a:lnTo>
                  <a:lnTo>
                    <a:pt x="0" y="3474720"/>
                  </a:lnTo>
                  <a:close/>
                </a:path>
              </a:pathLst>
            </a:custGeom>
            <a:blipFill rotWithShape="1">
              <a:blip r:embed="rId4">
                <a:alphaModFix amt="0"/>
              </a:blip>
              <a:stretch>
                <a:fillRect b="-763" l="0" r="0" t="-763"/>
              </a:stretch>
            </a:blipFill>
            <a:ln>
              <a:noFill/>
            </a:ln>
          </p:spPr>
        </p:sp>
        <p:sp>
          <p:nvSpPr>
            <p:cNvPr id="106" name="Google Shape;106;p1"/>
            <p:cNvSpPr txBox="1"/>
            <p:nvPr/>
          </p:nvSpPr>
          <p:spPr>
            <a:xfrm>
              <a:off x="0" y="-114300"/>
              <a:ext cx="9052560" cy="3589020"/>
            </a:xfrm>
            <a:prstGeom prst="rect">
              <a:avLst/>
            </a:prstGeom>
            <a:noFill/>
            <a:ln>
              <a:noFill/>
            </a:ln>
          </p:spPr>
          <p:txBody>
            <a:bodyPr anchorCtr="0" anchor="ctr" bIns="0" lIns="0" spcFirstLastPara="1" rIns="0" wrap="square" tIns="0">
              <a:noAutofit/>
            </a:bodyPr>
            <a:lstStyle/>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Benjamín Jeremias González Cortes</a:t>
              </a:r>
              <a:endParaRPr/>
            </a:p>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Vicente Antonio Henríquez Rojas</a:t>
              </a:r>
              <a:endParaRPr/>
            </a:p>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Aylin Catalina Herrera Soto</a:t>
              </a:r>
              <a:endParaRPr/>
            </a:p>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Carlos Matias León Gómez</a:t>
              </a:r>
              <a:endParaRPr/>
            </a:p>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Pedro Steven López Moreno</a:t>
              </a:r>
              <a:endParaRPr/>
            </a:p>
            <a:p>
              <a:pPr indent="0" lvl="0" marL="0" marR="0" rtl="0" algn="l">
                <a:lnSpc>
                  <a:spcPct val="161973"/>
                </a:lnSpc>
                <a:spcBef>
                  <a:spcPts val="0"/>
                </a:spcBef>
                <a:spcAft>
                  <a:spcPts val="0"/>
                </a:spcAft>
                <a:buNone/>
              </a:pPr>
              <a:r>
                <a:rPr b="0" i="0" lang="en-US" sz="1875" u="none" cap="none" strike="noStrike">
                  <a:solidFill>
                    <a:srgbClr val="CCCCCC"/>
                  </a:solidFill>
                  <a:latin typeface="Calibri"/>
                  <a:ea typeface="Calibri"/>
                  <a:cs typeface="Calibri"/>
                  <a:sym typeface="Calibri"/>
                </a:rPr>
                <a:t>Nicolás Antonio Salas Villarroel</a:t>
              </a:r>
              <a:endParaRPr/>
            </a:p>
          </p:txBody>
        </p:sp>
      </p:grpSp>
      <p:grpSp>
        <p:nvGrpSpPr>
          <p:cNvPr id="107" name="Google Shape;107;p1"/>
          <p:cNvGrpSpPr/>
          <p:nvPr/>
        </p:nvGrpSpPr>
        <p:grpSpPr>
          <a:xfrm>
            <a:off x="11041380" y="8645366"/>
            <a:ext cx="6789420" cy="1161574"/>
            <a:chOff x="0" y="-85725"/>
            <a:chExt cx="9052560" cy="1548765"/>
          </a:xfrm>
        </p:grpSpPr>
        <p:sp>
          <p:nvSpPr>
            <p:cNvPr id="108" name="Google Shape;108;p1"/>
            <p:cNvSpPr/>
            <p:nvPr/>
          </p:nvSpPr>
          <p:spPr>
            <a:xfrm>
              <a:off x="0" y="0"/>
              <a:ext cx="9052560" cy="1463040"/>
            </a:xfrm>
            <a:custGeom>
              <a:rect b="b" l="l" r="r" t="t"/>
              <a:pathLst>
                <a:path extrusionOk="0" h="1463040" w="9052560">
                  <a:moveTo>
                    <a:pt x="0" y="0"/>
                  </a:moveTo>
                  <a:lnTo>
                    <a:pt x="9052560" y="0"/>
                  </a:lnTo>
                  <a:lnTo>
                    <a:pt x="9052560" y="1463040"/>
                  </a:lnTo>
                  <a:lnTo>
                    <a:pt x="0" y="1463040"/>
                  </a:lnTo>
                  <a:close/>
                </a:path>
              </a:pathLst>
            </a:custGeom>
            <a:blipFill rotWithShape="1">
              <a:blip r:embed="rId4">
                <a:alphaModFix amt="0"/>
              </a:blip>
              <a:stretch>
                <a:fillRect b="-70563" l="0" r="0" t="-70563"/>
              </a:stretch>
            </a:blipFill>
            <a:ln>
              <a:noFill/>
            </a:ln>
          </p:spPr>
        </p:sp>
        <p:sp>
          <p:nvSpPr>
            <p:cNvPr id="109" name="Google Shape;109;p1"/>
            <p:cNvSpPr txBox="1"/>
            <p:nvPr/>
          </p:nvSpPr>
          <p:spPr>
            <a:xfrm>
              <a:off x="0" y="-85725"/>
              <a:ext cx="9052560" cy="1548765"/>
            </a:xfrm>
            <a:prstGeom prst="rect">
              <a:avLst/>
            </a:prstGeom>
            <a:noFill/>
            <a:ln>
              <a:noFill/>
            </a:ln>
          </p:spPr>
          <p:txBody>
            <a:bodyPr anchorCtr="0" anchor="ctr" bIns="0" lIns="0" spcFirstLastPara="1" rIns="0" wrap="square" tIns="0">
              <a:noAutofit/>
            </a:bodyPr>
            <a:lstStyle/>
            <a:p>
              <a:pPr indent="0" lvl="0" marL="0" marR="0" rtl="0" algn="l">
                <a:lnSpc>
                  <a:spcPct val="156000"/>
                </a:lnSpc>
                <a:spcBef>
                  <a:spcPts val="0"/>
                </a:spcBef>
                <a:spcAft>
                  <a:spcPts val="0"/>
                </a:spcAft>
                <a:buNone/>
              </a:pPr>
              <a:r>
                <a:rPr b="0" i="0" lang="en-US" sz="1650" u="none" cap="none" strike="noStrike">
                  <a:solidFill>
                    <a:srgbClr val="8A94B0"/>
                  </a:solidFill>
                  <a:latin typeface="Calibri"/>
                  <a:ea typeface="Calibri"/>
                  <a:cs typeface="Calibri"/>
                  <a:sym typeface="Calibri"/>
                </a:rPr>
                <a:t>Profesor: Paulo Luis Francisco Quinsacara Jofré</a:t>
              </a:r>
              <a:endParaRPr/>
            </a:p>
            <a:p>
              <a:pPr indent="0" lvl="0" marL="0" marR="0" rtl="0" algn="l">
                <a:lnSpc>
                  <a:spcPct val="156000"/>
                </a:lnSpc>
                <a:spcBef>
                  <a:spcPts val="0"/>
                </a:spcBef>
                <a:spcAft>
                  <a:spcPts val="0"/>
                </a:spcAft>
                <a:buNone/>
              </a:pPr>
              <a:r>
                <a:rPr b="0" i="0" lang="en-US" sz="1650" u="none" cap="none" strike="noStrike">
                  <a:solidFill>
                    <a:srgbClr val="8A94B0"/>
                  </a:solidFill>
                  <a:latin typeface="Calibri"/>
                  <a:ea typeface="Calibri"/>
                  <a:cs typeface="Calibri"/>
                  <a:sym typeface="Calibri"/>
                </a:rPr>
                <a:t>Fecha: 17 - 09 - 2026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117" name="Shape 117"/>
        <p:cNvGrpSpPr/>
        <p:nvPr/>
      </p:nvGrpSpPr>
      <p:grpSpPr>
        <a:xfrm>
          <a:off x="0" y="0"/>
          <a:ext cx="0" cy="0"/>
          <a:chOff x="0" y="0"/>
          <a:chExt cx="0" cy="0"/>
        </a:xfrm>
      </p:grpSpPr>
      <p:grpSp>
        <p:nvGrpSpPr>
          <p:cNvPr id="118" name="Google Shape;118;p2"/>
          <p:cNvGrpSpPr/>
          <p:nvPr/>
        </p:nvGrpSpPr>
        <p:grpSpPr>
          <a:xfrm>
            <a:off x="685800" y="387191"/>
            <a:ext cx="8229600" cy="1327309"/>
            <a:chOff x="0" y="-123825"/>
            <a:chExt cx="10972800" cy="1769745"/>
          </a:xfrm>
        </p:grpSpPr>
        <p:sp>
          <p:nvSpPr>
            <p:cNvPr id="119" name="Google Shape;119;p2"/>
            <p:cNvSpPr/>
            <p:nvPr/>
          </p:nvSpPr>
          <p:spPr>
            <a:xfrm>
              <a:off x="0" y="0"/>
              <a:ext cx="10972800" cy="1645920"/>
            </a:xfrm>
            <a:custGeom>
              <a:rect b="b" l="l" r="r" t="t"/>
              <a:pathLst>
                <a:path extrusionOk="0" h="1645920" w="10972800">
                  <a:moveTo>
                    <a:pt x="0" y="0"/>
                  </a:moveTo>
                  <a:lnTo>
                    <a:pt x="10972800" y="0"/>
                  </a:lnTo>
                  <a:lnTo>
                    <a:pt x="10972800" y="1645920"/>
                  </a:lnTo>
                  <a:lnTo>
                    <a:pt x="0" y="1645920"/>
                  </a:lnTo>
                  <a:close/>
                </a:path>
              </a:pathLst>
            </a:custGeom>
            <a:blipFill rotWithShape="1">
              <a:blip r:embed="rId3">
                <a:alphaModFix amt="0"/>
              </a:blip>
              <a:stretch>
                <a:fillRect b="-79897" l="0" r="0" t="-79897"/>
              </a:stretch>
            </a:blipFill>
            <a:ln>
              <a:noFill/>
            </a:ln>
          </p:spPr>
        </p:sp>
        <p:sp>
          <p:nvSpPr>
            <p:cNvPr id="120" name="Google Shape;120;p2"/>
            <p:cNvSpPr txBox="1"/>
            <p:nvPr/>
          </p:nvSpPr>
          <p:spPr>
            <a:xfrm>
              <a:off x="0" y="-123825"/>
              <a:ext cx="10972800" cy="17697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000" u="none" cap="none" strike="noStrike">
                  <a:solidFill>
                    <a:srgbClr val="FFFFFF"/>
                  </a:solidFill>
                  <a:latin typeface="Calibri"/>
                  <a:ea typeface="Calibri"/>
                  <a:cs typeface="Calibri"/>
                  <a:sym typeface="Calibri"/>
                </a:rPr>
                <a:t>ÍNDICE</a:t>
              </a:r>
              <a:endParaRPr/>
            </a:p>
          </p:txBody>
        </p:sp>
      </p:grpSp>
      <p:sp>
        <p:nvSpPr>
          <p:cNvPr id="121" name="Google Shape;121;p2"/>
          <p:cNvSpPr/>
          <p:nvPr/>
        </p:nvSpPr>
        <p:spPr>
          <a:xfrm>
            <a:off x="754380" y="2125980"/>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 name="Google Shape;122;p2"/>
          <p:cNvGrpSpPr/>
          <p:nvPr/>
        </p:nvGrpSpPr>
        <p:grpSpPr>
          <a:xfrm>
            <a:off x="754380" y="2090261"/>
            <a:ext cx="576072" cy="611791"/>
            <a:chOff x="0" y="-47625"/>
            <a:chExt cx="768096" cy="815721"/>
          </a:xfrm>
        </p:grpSpPr>
        <p:sp>
          <p:nvSpPr>
            <p:cNvPr id="123" name="Google Shape;123;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24" name="Google Shape;124;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3</a:t>
              </a:r>
              <a:endParaRPr/>
            </a:p>
          </p:txBody>
        </p:sp>
      </p:grpSp>
      <p:grpSp>
        <p:nvGrpSpPr>
          <p:cNvPr id="125" name="Google Shape;125;p2"/>
          <p:cNvGrpSpPr/>
          <p:nvPr/>
        </p:nvGrpSpPr>
        <p:grpSpPr>
          <a:xfrm>
            <a:off x="1549908" y="2041970"/>
            <a:ext cx="7680960" cy="701231"/>
            <a:chOff x="0" y="-57150"/>
            <a:chExt cx="10241280" cy="934974"/>
          </a:xfrm>
        </p:grpSpPr>
        <p:sp>
          <p:nvSpPr>
            <p:cNvPr id="126" name="Google Shape;126;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27" name="Google Shape;127;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Introducción</a:t>
              </a:r>
              <a:endParaRPr/>
            </a:p>
          </p:txBody>
        </p:sp>
      </p:grpSp>
      <p:sp>
        <p:nvSpPr>
          <p:cNvPr id="128" name="Google Shape;128;p2"/>
          <p:cNvSpPr/>
          <p:nvPr/>
        </p:nvSpPr>
        <p:spPr>
          <a:xfrm>
            <a:off x="754380" y="3031236"/>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2"/>
          <p:cNvGrpSpPr/>
          <p:nvPr/>
        </p:nvGrpSpPr>
        <p:grpSpPr>
          <a:xfrm>
            <a:off x="754380" y="2995517"/>
            <a:ext cx="576072" cy="611791"/>
            <a:chOff x="0" y="-47625"/>
            <a:chExt cx="768096" cy="815721"/>
          </a:xfrm>
        </p:grpSpPr>
        <p:sp>
          <p:nvSpPr>
            <p:cNvPr id="130" name="Google Shape;130;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31" name="Google Shape;131;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4</a:t>
              </a:r>
              <a:endParaRPr/>
            </a:p>
          </p:txBody>
        </p:sp>
      </p:grpSp>
      <p:grpSp>
        <p:nvGrpSpPr>
          <p:cNvPr id="132" name="Google Shape;132;p2"/>
          <p:cNvGrpSpPr/>
          <p:nvPr/>
        </p:nvGrpSpPr>
        <p:grpSpPr>
          <a:xfrm>
            <a:off x="1549908" y="2947226"/>
            <a:ext cx="7680960" cy="701230"/>
            <a:chOff x="0" y="-57150"/>
            <a:chExt cx="10241280" cy="934974"/>
          </a:xfrm>
        </p:grpSpPr>
        <p:sp>
          <p:nvSpPr>
            <p:cNvPr id="133" name="Google Shape;133;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34" name="Google Shape;134;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Resumen del Incremento</a:t>
              </a:r>
              <a:endParaRPr/>
            </a:p>
          </p:txBody>
        </p:sp>
      </p:grpSp>
      <p:sp>
        <p:nvSpPr>
          <p:cNvPr id="135" name="Google Shape;135;p2"/>
          <p:cNvSpPr/>
          <p:nvPr/>
        </p:nvSpPr>
        <p:spPr>
          <a:xfrm>
            <a:off x="754380" y="3936492"/>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2"/>
          <p:cNvGrpSpPr/>
          <p:nvPr/>
        </p:nvGrpSpPr>
        <p:grpSpPr>
          <a:xfrm>
            <a:off x="754380" y="3900773"/>
            <a:ext cx="576072" cy="611791"/>
            <a:chOff x="0" y="-47625"/>
            <a:chExt cx="768096" cy="815721"/>
          </a:xfrm>
        </p:grpSpPr>
        <p:sp>
          <p:nvSpPr>
            <p:cNvPr id="137" name="Google Shape;137;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38" name="Google Shape;138;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5</a:t>
              </a:r>
              <a:endParaRPr/>
            </a:p>
          </p:txBody>
        </p:sp>
      </p:grpSp>
      <p:grpSp>
        <p:nvGrpSpPr>
          <p:cNvPr id="139" name="Google Shape;139;p2"/>
          <p:cNvGrpSpPr/>
          <p:nvPr/>
        </p:nvGrpSpPr>
        <p:grpSpPr>
          <a:xfrm>
            <a:off x="1549908" y="3852482"/>
            <a:ext cx="7680960" cy="701231"/>
            <a:chOff x="0" y="-57150"/>
            <a:chExt cx="10241280" cy="934974"/>
          </a:xfrm>
        </p:grpSpPr>
        <p:sp>
          <p:nvSpPr>
            <p:cNvPr id="140" name="Google Shape;140;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41" name="Google Shape;141;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Valor Entregado al Negocio</a:t>
              </a:r>
              <a:endParaRPr/>
            </a:p>
          </p:txBody>
        </p:sp>
      </p:grpSp>
      <p:sp>
        <p:nvSpPr>
          <p:cNvPr id="142" name="Google Shape;142;p2"/>
          <p:cNvSpPr/>
          <p:nvPr/>
        </p:nvSpPr>
        <p:spPr>
          <a:xfrm>
            <a:off x="754380" y="4841748"/>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 name="Google Shape;143;p2"/>
          <p:cNvGrpSpPr/>
          <p:nvPr/>
        </p:nvGrpSpPr>
        <p:grpSpPr>
          <a:xfrm>
            <a:off x="754380" y="4806029"/>
            <a:ext cx="576072" cy="611791"/>
            <a:chOff x="0" y="-47625"/>
            <a:chExt cx="768096" cy="815721"/>
          </a:xfrm>
        </p:grpSpPr>
        <p:sp>
          <p:nvSpPr>
            <p:cNvPr id="144" name="Google Shape;144;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45" name="Google Shape;145;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6</a:t>
              </a:r>
              <a:endParaRPr/>
            </a:p>
          </p:txBody>
        </p:sp>
      </p:grpSp>
      <p:grpSp>
        <p:nvGrpSpPr>
          <p:cNvPr id="146" name="Google Shape;146;p2"/>
          <p:cNvGrpSpPr/>
          <p:nvPr/>
        </p:nvGrpSpPr>
        <p:grpSpPr>
          <a:xfrm>
            <a:off x="1549908" y="4757738"/>
            <a:ext cx="7680960" cy="701231"/>
            <a:chOff x="0" y="-57150"/>
            <a:chExt cx="10241280" cy="934974"/>
          </a:xfrm>
        </p:grpSpPr>
        <p:sp>
          <p:nvSpPr>
            <p:cNvPr id="147" name="Google Shape;147;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48" name="Google Shape;148;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Alcance Funcional del Incremento</a:t>
              </a:r>
              <a:endParaRPr/>
            </a:p>
          </p:txBody>
        </p:sp>
      </p:grpSp>
      <p:sp>
        <p:nvSpPr>
          <p:cNvPr id="149" name="Google Shape;149;p2"/>
          <p:cNvSpPr/>
          <p:nvPr/>
        </p:nvSpPr>
        <p:spPr>
          <a:xfrm>
            <a:off x="754380" y="5747004"/>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2"/>
          <p:cNvGrpSpPr/>
          <p:nvPr/>
        </p:nvGrpSpPr>
        <p:grpSpPr>
          <a:xfrm>
            <a:off x="754380" y="5711285"/>
            <a:ext cx="576072" cy="611791"/>
            <a:chOff x="0" y="-47625"/>
            <a:chExt cx="768096" cy="815721"/>
          </a:xfrm>
        </p:grpSpPr>
        <p:sp>
          <p:nvSpPr>
            <p:cNvPr id="151" name="Google Shape;151;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52" name="Google Shape;152;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7</a:t>
              </a:r>
              <a:endParaRPr/>
            </a:p>
          </p:txBody>
        </p:sp>
      </p:grpSp>
      <p:grpSp>
        <p:nvGrpSpPr>
          <p:cNvPr id="153" name="Google Shape;153;p2"/>
          <p:cNvGrpSpPr/>
          <p:nvPr/>
        </p:nvGrpSpPr>
        <p:grpSpPr>
          <a:xfrm>
            <a:off x="1549908" y="5662994"/>
            <a:ext cx="7680960" cy="701231"/>
            <a:chOff x="0" y="-57150"/>
            <a:chExt cx="10241280" cy="934974"/>
          </a:xfrm>
        </p:grpSpPr>
        <p:sp>
          <p:nvSpPr>
            <p:cNvPr id="154" name="Google Shape;154;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55" name="Google Shape;155;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Req. Funcionales (ESA)</a:t>
              </a:r>
              <a:endParaRPr/>
            </a:p>
          </p:txBody>
        </p:sp>
      </p:grpSp>
      <p:sp>
        <p:nvSpPr>
          <p:cNvPr id="156" name="Google Shape;156;p2"/>
          <p:cNvSpPr/>
          <p:nvPr/>
        </p:nvSpPr>
        <p:spPr>
          <a:xfrm>
            <a:off x="754380" y="6652260"/>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2"/>
          <p:cNvGrpSpPr/>
          <p:nvPr/>
        </p:nvGrpSpPr>
        <p:grpSpPr>
          <a:xfrm>
            <a:off x="754380" y="6616541"/>
            <a:ext cx="576072" cy="611791"/>
            <a:chOff x="0" y="-47625"/>
            <a:chExt cx="768096" cy="815721"/>
          </a:xfrm>
        </p:grpSpPr>
        <p:sp>
          <p:nvSpPr>
            <p:cNvPr id="158" name="Google Shape;158;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59" name="Google Shape;159;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8</a:t>
              </a:r>
              <a:endParaRPr/>
            </a:p>
          </p:txBody>
        </p:sp>
      </p:grpSp>
      <p:grpSp>
        <p:nvGrpSpPr>
          <p:cNvPr id="160" name="Google Shape;160;p2"/>
          <p:cNvGrpSpPr/>
          <p:nvPr/>
        </p:nvGrpSpPr>
        <p:grpSpPr>
          <a:xfrm>
            <a:off x="1549908" y="6568249"/>
            <a:ext cx="7680960" cy="701230"/>
            <a:chOff x="0" y="-57150"/>
            <a:chExt cx="10241280" cy="934974"/>
          </a:xfrm>
        </p:grpSpPr>
        <p:sp>
          <p:nvSpPr>
            <p:cNvPr id="161" name="Google Shape;161;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62" name="Google Shape;162;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CU-52</a:t>
              </a:r>
              <a:endParaRPr/>
            </a:p>
          </p:txBody>
        </p:sp>
      </p:grpSp>
      <p:sp>
        <p:nvSpPr>
          <p:cNvPr id="163" name="Google Shape;163;p2"/>
          <p:cNvSpPr/>
          <p:nvPr/>
        </p:nvSpPr>
        <p:spPr>
          <a:xfrm>
            <a:off x="754380" y="7557516"/>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2"/>
          <p:cNvGrpSpPr/>
          <p:nvPr/>
        </p:nvGrpSpPr>
        <p:grpSpPr>
          <a:xfrm>
            <a:off x="754380" y="7521797"/>
            <a:ext cx="576072" cy="611791"/>
            <a:chOff x="0" y="-47625"/>
            <a:chExt cx="768096" cy="815721"/>
          </a:xfrm>
        </p:grpSpPr>
        <p:sp>
          <p:nvSpPr>
            <p:cNvPr id="165" name="Google Shape;165;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66" name="Google Shape;166;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9</a:t>
              </a:r>
              <a:endParaRPr/>
            </a:p>
          </p:txBody>
        </p:sp>
      </p:grpSp>
      <p:grpSp>
        <p:nvGrpSpPr>
          <p:cNvPr id="167" name="Google Shape;167;p2"/>
          <p:cNvGrpSpPr/>
          <p:nvPr/>
        </p:nvGrpSpPr>
        <p:grpSpPr>
          <a:xfrm>
            <a:off x="1549908" y="7473505"/>
            <a:ext cx="7680960" cy="701230"/>
            <a:chOff x="0" y="-57150"/>
            <a:chExt cx="10241280" cy="934974"/>
          </a:xfrm>
        </p:grpSpPr>
        <p:sp>
          <p:nvSpPr>
            <p:cNvPr id="168" name="Google Shape;168;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69" name="Google Shape;169;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Diagrama de Secuencia CU-52</a:t>
              </a:r>
              <a:endParaRPr/>
            </a:p>
          </p:txBody>
        </p:sp>
      </p:grpSp>
      <p:sp>
        <p:nvSpPr>
          <p:cNvPr id="170" name="Google Shape;170;p2"/>
          <p:cNvSpPr/>
          <p:nvPr/>
        </p:nvSpPr>
        <p:spPr>
          <a:xfrm>
            <a:off x="754380" y="8462772"/>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 name="Google Shape;171;p2"/>
          <p:cNvGrpSpPr/>
          <p:nvPr/>
        </p:nvGrpSpPr>
        <p:grpSpPr>
          <a:xfrm>
            <a:off x="754380" y="8427053"/>
            <a:ext cx="576072" cy="611791"/>
            <a:chOff x="0" y="-47625"/>
            <a:chExt cx="768096" cy="815721"/>
          </a:xfrm>
        </p:grpSpPr>
        <p:sp>
          <p:nvSpPr>
            <p:cNvPr id="172" name="Google Shape;172;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73" name="Google Shape;173;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10</a:t>
              </a:r>
              <a:endParaRPr/>
            </a:p>
          </p:txBody>
        </p:sp>
      </p:grpSp>
      <p:grpSp>
        <p:nvGrpSpPr>
          <p:cNvPr id="174" name="Google Shape;174;p2"/>
          <p:cNvGrpSpPr/>
          <p:nvPr/>
        </p:nvGrpSpPr>
        <p:grpSpPr>
          <a:xfrm>
            <a:off x="1549908" y="8378761"/>
            <a:ext cx="7680960" cy="701231"/>
            <a:chOff x="0" y="-57150"/>
            <a:chExt cx="10241280" cy="934974"/>
          </a:xfrm>
        </p:grpSpPr>
        <p:sp>
          <p:nvSpPr>
            <p:cNvPr id="175" name="Google Shape;175;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76" name="Google Shape;176;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Vista en el sistema CU-52</a:t>
              </a:r>
              <a:endParaRPr/>
            </a:p>
          </p:txBody>
        </p:sp>
      </p:grpSp>
      <p:sp>
        <p:nvSpPr>
          <p:cNvPr id="177" name="Google Shape;177;p2"/>
          <p:cNvSpPr/>
          <p:nvPr/>
        </p:nvSpPr>
        <p:spPr>
          <a:xfrm>
            <a:off x="9669780" y="2125980"/>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 name="Google Shape;178;p2"/>
          <p:cNvGrpSpPr/>
          <p:nvPr/>
        </p:nvGrpSpPr>
        <p:grpSpPr>
          <a:xfrm>
            <a:off x="9669780" y="2090261"/>
            <a:ext cx="576072" cy="611791"/>
            <a:chOff x="0" y="-47625"/>
            <a:chExt cx="768096" cy="815721"/>
          </a:xfrm>
        </p:grpSpPr>
        <p:sp>
          <p:nvSpPr>
            <p:cNvPr id="179" name="Google Shape;179;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80" name="Google Shape;180;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11</a:t>
              </a:r>
              <a:endParaRPr/>
            </a:p>
          </p:txBody>
        </p:sp>
      </p:grpSp>
      <p:grpSp>
        <p:nvGrpSpPr>
          <p:cNvPr id="181" name="Google Shape;181;p2"/>
          <p:cNvGrpSpPr/>
          <p:nvPr/>
        </p:nvGrpSpPr>
        <p:grpSpPr>
          <a:xfrm>
            <a:off x="10465308" y="2041970"/>
            <a:ext cx="7680960" cy="701231"/>
            <a:chOff x="0" y="-57150"/>
            <a:chExt cx="10241280" cy="934974"/>
          </a:xfrm>
        </p:grpSpPr>
        <p:sp>
          <p:nvSpPr>
            <p:cNvPr id="182" name="Google Shape;182;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83" name="Google Shape;183;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CU-69</a:t>
              </a:r>
              <a:endParaRPr/>
            </a:p>
          </p:txBody>
        </p:sp>
      </p:grpSp>
      <p:sp>
        <p:nvSpPr>
          <p:cNvPr id="184" name="Google Shape;184;p2"/>
          <p:cNvSpPr/>
          <p:nvPr/>
        </p:nvSpPr>
        <p:spPr>
          <a:xfrm>
            <a:off x="9669780" y="3031236"/>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2"/>
          <p:cNvGrpSpPr/>
          <p:nvPr/>
        </p:nvGrpSpPr>
        <p:grpSpPr>
          <a:xfrm>
            <a:off x="9669780" y="2995517"/>
            <a:ext cx="576072" cy="611791"/>
            <a:chOff x="0" y="-47625"/>
            <a:chExt cx="768096" cy="815721"/>
          </a:xfrm>
        </p:grpSpPr>
        <p:sp>
          <p:nvSpPr>
            <p:cNvPr id="186" name="Google Shape;186;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87" name="Google Shape;187;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12</a:t>
              </a:r>
              <a:endParaRPr/>
            </a:p>
          </p:txBody>
        </p:sp>
      </p:grpSp>
      <p:grpSp>
        <p:nvGrpSpPr>
          <p:cNvPr id="188" name="Google Shape;188;p2"/>
          <p:cNvGrpSpPr/>
          <p:nvPr/>
        </p:nvGrpSpPr>
        <p:grpSpPr>
          <a:xfrm>
            <a:off x="10465308" y="2947226"/>
            <a:ext cx="7680960" cy="701230"/>
            <a:chOff x="0" y="-57150"/>
            <a:chExt cx="10241280" cy="934974"/>
          </a:xfrm>
        </p:grpSpPr>
        <p:sp>
          <p:nvSpPr>
            <p:cNvPr id="189" name="Google Shape;189;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90" name="Google Shape;190;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Diagrama de Secuencia CU-69</a:t>
              </a:r>
              <a:endParaRPr/>
            </a:p>
          </p:txBody>
        </p:sp>
      </p:grpSp>
      <p:sp>
        <p:nvSpPr>
          <p:cNvPr id="191" name="Google Shape;191;p2"/>
          <p:cNvSpPr/>
          <p:nvPr/>
        </p:nvSpPr>
        <p:spPr>
          <a:xfrm>
            <a:off x="9669780" y="3936492"/>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2"/>
          <p:cNvGrpSpPr/>
          <p:nvPr/>
        </p:nvGrpSpPr>
        <p:grpSpPr>
          <a:xfrm>
            <a:off x="9669780" y="3900773"/>
            <a:ext cx="576072" cy="611791"/>
            <a:chOff x="0" y="-47625"/>
            <a:chExt cx="768096" cy="815721"/>
          </a:xfrm>
        </p:grpSpPr>
        <p:sp>
          <p:nvSpPr>
            <p:cNvPr id="193" name="Google Shape;193;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194" name="Google Shape;194;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13</a:t>
              </a:r>
              <a:endParaRPr/>
            </a:p>
          </p:txBody>
        </p:sp>
      </p:grpSp>
      <p:grpSp>
        <p:nvGrpSpPr>
          <p:cNvPr id="195" name="Google Shape;195;p2"/>
          <p:cNvGrpSpPr/>
          <p:nvPr/>
        </p:nvGrpSpPr>
        <p:grpSpPr>
          <a:xfrm>
            <a:off x="10465308" y="3852482"/>
            <a:ext cx="7680960" cy="701231"/>
            <a:chOff x="0" y="-57150"/>
            <a:chExt cx="10241280" cy="934974"/>
          </a:xfrm>
        </p:grpSpPr>
        <p:sp>
          <p:nvSpPr>
            <p:cNvPr id="196" name="Google Shape;196;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197" name="Google Shape;197;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Vista en el sistema CU-69</a:t>
              </a:r>
              <a:endParaRPr/>
            </a:p>
          </p:txBody>
        </p:sp>
      </p:grpSp>
      <p:sp>
        <p:nvSpPr>
          <p:cNvPr id="198" name="Google Shape;198;p2"/>
          <p:cNvSpPr/>
          <p:nvPr/>
        </p:nvSpPr>
        <p:spPr>
          <a:xfrm>
            <a:off x="9669780" y="4841748"/>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2"/>
          <p:cNvGrpSpPr/>
          <p:nvPr/>
        </p:nvGrpSpPr>
        <p:grpSpPr>
          <a:xfrm>
            <a:off x="9669780" y="4806029"/>
            <a:ext cx="576072" cy="611791"/>
            <a:chOff x="0" y="-47625"/>
            <a:chExt cx="768096" cy="815721"/>
          </a:xfrm>
        </p:grpSpPr>
        <p:sp>
          <p:nvSpPr>
            <p:cNvPr id="200" name="Google Shape;200;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201" name="Google Shape;201;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14</a:t>
              </a:r>
              <a:endParaRPr/>
            </a:p>
          </p:txBody>
        </p:sp>
      </p:grpSp>
      <p:grpSp>
        <p:nvGrpSpPr>
          <p:cNvPr id="202" name="Google Shape;202;p2"/>
          <p:cNvGrpSpPr/>
          <p:nvPr/>
        </p:nvGrpSpPr>
        <p:grpSpPr>
          <a:xfrm>
            <a:off x="10465308" y="4757738"/>
            <a:ext cx="7680960" cy="701231"/>
            <a:chOff x="0" y="-57150"/>
            <a:chExt cx="10241280" cy="934974"/>
          </a:xfrm>
        </p:grpSpPr>
        <p:sp>
          <p:nvSpPr>
            <p:cNvPr id="203" name="Google Shape;203;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204" name="Google Shape;204;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Vista Desarrollo (Componentes)</a:t>
              </a:r>
              <a:endParaRPr/>
            </a:p>
          </p:txBody>
        </p:sp>
      </p:grpSp>
      <p:sp>
        <p:nvSpPr>
          <p:cNvPr id="205" name="Google Shape;205;p2"/>
          <p:cNvSpPr/>
          <p:nvPr/>
        </p:nvSpPr>
        <p:spPr>
          <a:xfrm>
            <a:off x="9669780" y="5747004"/>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 name="Google Shape;206;p2"/>
          <p:cNvGrpSpPr/>
          <p:nvPr/>
        </p:nvGrpSpPr>
        <p:grpSpPr>
          <a:xfrm>
            <a:off x="9669780" y="5711285"/>
            <a:ext cx="576072" cy="611791"/>
            <a:chOff x="0" y="-47625"/>
            <a:chExt cx="768096" cy="815721"/>
          </a:xfrm>
        </p:grpSpPr>
        <p:sp>
          <p:nvSpPr>
            <p:cNvPr id="207" name="Google Shape;207;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208" name="Google Shape;208;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15</a:t>
              </a:r>
              <a:endParaRPr/>
            </a:p>
          </p:txBody>
        </p:sp>
      </p:grpSp>
      <p:grpSp>
        <p:nvGrpSpPr>
          <p:cNvPr id="209" name="Google Shape;209;p2"/>
          <p:cNvGrpSpPr/>
          <p:nvPr/>
        </p:nvGrpSpPr>
        <p:grpSpPr>
          <a:xfrm>
            <a:off x="10465308" y="5662994"/>
            <a:ext cx="7680960" cy="701231"/>
            <a:chOff x="0" y="-57150"/>
            <a:chExt cx="10241280" cy="934974"/>
          </a:xfrm>
        </p:grpSpPr>
        <p:sp>
          <p:nvSpPr>
            <p:cNvPr id="210" name="Google Shape;210;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211" name="Google Shape;211;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Casos de uso implementados</a:t>
              </a:r>
              <a:endParaRPr/>
            </a:p>
          </p:txBody>
        </p:sp>
      </p:grpSp>
      <p:sp>
        <p:nvSpPr>
          <p:cNvPr id="212" name="Google Shape;212;p2"/>
          <p:cNvSpPr/>
          <p:nvPr/>
        </p:nvSpPr>
        <p:spPr>
          <a:xfrm>
            <a:off x="9669780" y="6652260"/>
            <a:ext cx="576072" cy="576072"/>
          </a:xfrm>
          <a:custGeom>
            <a:rect b="b" l="l" r="r" t="t"/>
            <a:pathLst>
              <a:path extrusionOk="0"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2"/>
          <p:cNvGrpSpPr/>
          <p:nvPr/>
        </p:nvGrpSpPr>
        <p:grpSpPr>
          <a:xfrm>
            <a:off x="9669780" y="6616541"/>
            <a:ext cx="576072" cy="611791"/>
            <a:chOff x="0" y="-47625"/>
            <a:chExt cx="768096" cy="815721"/>
          </a:xfrm>
        </p:grpSpPr>
        <p:sp>
          <p:nvSpPr>
            <p:cNvPr id="214" name="Google Shape;214;p2"/>
            <p:cNvSpPr/>
            <p:nvPr/>
          </p:nvSpPr>
          <p:spPr>
            <a:xfrm>
              <a:off x="0" y="0"/>
              <a:ext cx="768096" cy="768096"/>
            </a:xfrm>
            <a:custGeom>
              <a:rect b="b" l="l" r="r" t="t"/>
              <a:pathLst>
                <a:path extrusionOk="0" h="768096" w="768096">
                  <a:moveTo>
                    <a:pt x="0" y="0"/>
                  </a:moveTo>
                  <a:lnTo>
                    <a:pt x="768096" y="0"/>
                  </a:lnTo>
                  <a:lnTo>
                    <a:pt x="768096" y="768096"/>
                  </a:lnTo>
                  <a:lnTo>
                    <a:pt x="0" y="768096"/>
                  </a:lnTo>
                  <a:close/>
                </a:path>
              </a:pathLst>
            </a:custGeom>
            <a:blipFill rotWithShape="1">
              <a:blip r:embed="rId3">
                <a:alphaModFix amt="0"/>
              </a:blip>
              <a:stretch>
                <a:fillRect b="0" l="-78304" r="-78304" t="0"/>
              </a:stretch>
            </a:blipFill>
            <a:ln>
              <a:noFill/>
            </a:ln>
          </p:spPr>
        </p:sp>
        <p:sp>
          <p:nvSpPr>
            <p:cNvPr id="215" name="Google Shape;215;p2"/>
            <p:cNvSpPr txBox="1"/>
            <p:nvPr/>
          </p:nvSpPr>
          <p:spPr>
            <a:xfrm>
              <a:off x="0" y="-47625"/>
              <a:ext cx="768096" cy="81572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950" u="none" cap="none" strike="noStrike">
                  <a:solidFill>
                    <a:srgbClr val="151929"/>
                  </a:solidFill>
                  <a:latin typeface="Calibri"/>
                  <a:ea typeface="Calibri"/>
                  <a:cs typeface="Calibri"/>
                  <a:sym typeface="Calibri"/>
                </a:rPr>
                <a:t>16</a:t>
              </a:r>
              <a:endParaRPr/>
            </a:p>
          </p:txBody>
        </p:sp>
      </p:grpSp>
      <p:grpSp>
        <p:nvGrpSpPr>
          <p:cNvPr id="216" name="Google Shape;216;p2"/>
          <p:cNvGrpSpPr/>
          <p:nvPr/>
        </p:nvGrpSpPr>
        <p:grpSpPr>
          <a:xfrm>
            <a:off x="10465308" y="6568249"/>
            <a:ext cx="7680960" cy="701230"/>
            <a:chOff x="0" y="-57150"/>
            <a:chExt cx="10241280" cy="934974"/>
          </a:xfrm>
        </p:grpSpPr>
        <p:sp>
          <p:nvSpPr>
            <p:cNvPr id="217" name="Google Shape;217;p2"/>
            <p:cNvSpPr/>
            <p:nvPr/>
          </p:nvSpPr>
          <p:spPr>
            <a:xfrm>
              <a:off x="0" y="0"/>
              <a:ext cx="10241280" cy="877824"/>
            </a:xfrm>
            <a:custGeom>
              <a:rect b="b" l="l" r="r" t="t"/>
              <a:pathLst>
                <a:path extrusionOk="0" h="877824" w="10241280">
                  <a:moveTo>
                    <a:pt x="0" y="0"/>
                  </a:moveTo>
                  <a:lnTo>
                    <a:pt x="10241280" y="0"/>
                  </a:lnTo>
                  <a:lnTo>
                    <a:pt x="10241280" y="877824"/>
                  </a:lnTo>
                  <a:lnTo>
                    <a:pt x="0" y="877824"/>
                  </a:lnTo>
                  <a:close/>
                </a:path>
              </a:pathLst>
            </a:custGeom>
            <a:blipFill rotWithShape="1">
              <a:blip r:embed="rId3">
                <a:alphaModFix amt="0"/>
              </a:blip>
              <a:stretch>
                <a:fillRect b="-177335" l="0" r="0" t="-177335"/>
              </a:stretch>
            </a:blipFill>
            <a:ln>
              <a:noFill/>
            </a:ln>
          </p:spPr>
        </p:sp>
        <p:sp>
          <p:nvSpPr>
            <p:cNvPr id="218" name="Google Shape;218;p2"/>
            <p:cNvSpPr txBox="1"/>
            <p:nvPr/>
          </p:nvSpPr>
          <p:spPr>
            <a:xfrm>
              <a:off x="0" y="-57150"/>
              <a:ext cx="10241280" cy="93497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50" u="none" cap="none" strike="noStrike">
                  <a:solidFill>
                    <a:srgbClr val="FFFFFF"/>
                  </a:solidFill>
                  <a:latin typeface="Calibri"/>
                  <a:ea typeface="Calibri"/>
                  <a:cs typeface="Calibri"/>
                  <a:sym typeface="Calibri"/>
                </a:rPr>
                <a:t>Conclusión</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226" name="Shape 226"/>
        <p:cNvGrpSpPr/>
        <p:nvPr/>
      </p:nvGrpSpPr>
      <p:grpSpPr>
        <a:xfrm>
          <a:off x="0" y="0"/>
          <a:ext cx="0" cy="0"/>
          <a:chOff x="0" y="0"/>
          <a:chExt cx="0" cy="0"/>
        </a:xfrm>
      </p:grpSpPr>
      <p:grpSp>
        <p:nvGrpSpPr>
          <p:cNvPr id="227" name="Google Shape;227;p3"/>
          <p:cNvGrpSpPr/>
          <p:nvPr/>
        </p:nvGrpSpPr>
        <p:grpSpPr>
          <a:xfrm>
            <a:off x="685800" y="415766"/>
            <a:ext cx="16915944" cy="1298734"/>
            <a:chOff x="0" y="-85725"/>
            <a:chExt cx="22554591" cy="1731645"/>
          </a:xfrm>
        </p:grpSpPr>
        <p:sp>
          <p:nvSpPr>
            <p:cNvPr id="228" name="Google Shape;228;p3"/>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229" name="Google Shape;229;p3"/>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INTRODUCCIÓN</a:t>
              </a:r>
              <a:endParaRPr/>
            </a:p>
          </p:txBody>
        </p:sp>
      </p:grpSp>
      <p:sp>
        <p:nvSpPr>
          <p:cNvPr id="230" name="Google Shape;230;p3"/>
          <p:cNvSpPr/>
          <p:nvPr/>
        </p:nvSpPr>
        <p:spPr>
          <a:xfrm>
            <a:off x="754380" y="2125980"/>
            <a:ext cx="850392" cy="850392"/>
          </a:xfrm>
          <a:custGeom>
            <a:rect b="b" l="l" r="r" t="t"/>
            <a:pathLst>
              <a:path extrusionOk="0"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contexto.png" id="231" name="Google Shape;231;p3"/>
          <p:cNvSpPr/>
          <p:nvPr/>
        </p:nvSpPr>
        <p:spPr>
          <a:xfrm>
            <a:off x="864927" y="2236527"/>
            <a:ext cx="629316" cy="629316"/>
          </a:xfrm>
          <a:custGeom>
            <a:rect b="b" l="l" r="r" t="t"/>
            <a:pathLst>
              <a:path extrusionOk="0" h="839089" w="839089">
                <a:moveTo>
                  <a:pt x="0" y="0"/>
                </a:moveTo>
                <a:lnTo>
                  <a:pt x="839089" y="0"/>
                </a:lnTo>
                <a:lnTo>
                  <a:pt x="839089" y="839089"/>
                </a:lnTo>
                <a:lnTo>
                  <a:pt x="0" y="839089"/>
                </a:lnTo>
                <a:lnTo>
                  <a:pt x="0" y="0"/>
                </a:lnTo>
                <a:close/>
              </a:path>
            </a:pathLst>
          </a:custGeom>
          <a:blipFill rotWithShape="1">
            <a:blip r:embed="rId4">
              <a:alphaModFix/>
            </a:blip>
            <a:stretch>
              <a:fillRect b="4" l="0" r="4" t="0"/>
            </a:stretch>
          </a:blipFill>
          <a:ln>
            <a:noFill/>
          </a:ln>
        </p:spPr>
      </p:sp>
      <p:grpSp>
        <p:nvGrpSpPr>
          <p:cNvPr id="232" name="Google Shape;232;p3"/>
          <p:cNvGrpSpPr/>
          <p:nvPr/>
        </p:nvGrpSpPr>
        <p:grpSpPr>
          <a:xfrm>
            <a:off x="1988820" y="1951958"/>
            <a:ext cx="15544344" cy="1367314"/>
            <a:chOff x="0" y="-85725"/>
            <a:chExt cx="20725791" cy="1823085"/>
          </a:xfrm>
        </p:grpSpPr>
        <p:sp>
          <p:nvSpPr>
            <p:cNvPr id="233" name="Google Shape;233;p3"/>
            <p:cNvSpPr/>
            <p:nvPr/>
          </p:nvSpPr>
          <p:spPr>
            <a:xfrm>
              <a:off x="0" y="0"/>
              <a:ext cx="20725791" cy="1737360"/>
            </a:xfrm>
            <a:custGeom>
              <a:rect b="b" l="l" r="r" t="t"/>
              <a:pathLst>
                <a:path extrusionOk="0" h="1737360" w="20725791">
                  <a:moveTo>
                    <a:pt x="0" y="0"/>
                  </a:moveTo>
                  <a:lnTo>
                    <a:pt x="20725791" y="0"/>
                  </a:lnTo>
                  <a:lnTo>
                    <a:pt x="20725791" y="1737360"/>
                  </a:lnTo>
                  <a:lnTo>
                    <a:pt x="0" y="1737360"/>
                  </a:lnTo>
                  <a:close/>
                </a:path>
              </a:pathLst>
            </a:custGeom>
            <a:blipFill rotWithShape="1">
              <a:blip r:embed="rId3">
                <a:alphaModFix amt="0"/>
              </a:blip>
              <a:stretch>
                <a:fillRect b="-182450" l="0" r="0" t="-182450"/>
              </a:stretch>
            </a:blipFill>
            <a:ln>
              <a:noFill/>
            </a:ln>
          </p:spPr>
        </p:sp>
        <p:sp>
          <p:nvSpPr>
            <p:cNvPr id="234" name="Google Shape;234;p3"/>
            <p:cNvSpPr txBox="1"/>
            <p:nvPr/>
          </p:nvSpPr>
          <p:spPr>
            <a:xfrm>
              <a:off x="0" y="-85725"/>
              <a:ext cx="20725790" cy="1823085"/>
            </a:xfrm>
            <a:prstGeom prst="rect">
              <a:avLst/>
            </a:prstGeom>
            <a:noFill/>
            <a:ln>
              <a:noFill/>
            </a:ln>
          </p:spPr>
          <p:txBody>
            <a:bodyPr anchorCtr="0" anchor="ctr" bIns="0" lIns="0" spcFirstLastPara="1" rIns="0" wrap="square" tIns="0">
              <a:noAutofit/>
            </a:bodyPr>
            <a:lstStyle/>
            <a:p>
              <a:pPr indent="0" lvl="0" marL="0" marR="0" rtl="0" algn="l">
                <a:lnSpc>
                  <a:spcPct val="141563"/>
                </a:lnSpc>
                <a:spcBef>
                  <a:spcPts val="0"/>
                </a:spcBef>
                <a:spcAft>
                  <a:spcPts val="0"/>
                </a:spcAft>
                <a:buNone/>
              </a:pPr>
              <a:r>
                <a:rPr b="1" i="0" lang="en-US" sz="2175" u="none" cap="none" strike="noStrike">
                  <a:solidFill>
                    <a:srgbClr val="FFFFFF"/>
                  </a:solidFill>
                  <a:latin typeface="Calibri"/>
                  <a:ea typeface="Calibri"/>
                  <a:cs typeface="Calibri"/>
                  <a:sym typeface="Calibri"/>
                </a:rPr>
                <a:t>Contexto Incremento 2: </a:t>
              </a:r>
              <a:r>
                <a:rPr b="0" i="0" lang="en-US" sz="2175" u="none" cap="none" strike="noStrike">
                  <a:solidFill>
                    <a:srgbClr val="CCCCCC"/>
                  </a:solidFill>
                  <a:latin typeface="Calibri"/>
                  <a:ea typeface="Calibri"/>
                  <a:cs typeface="Calibri"/>
                  <a:sym typeface="Calibri"/>
                </a:rPr>
                <a:t>tras estabilizar el MVP (registro, ciclo de vida básico) en el Incremento 1, esta fase evoluciona el sistema hacia una plataforma de gestión de servicios de TI con control financiero, SLA avanzado e inteligencia de negocio.</a:t>
              </a:r>
              <a:endParaRPr/>
            </a:p>
          </p:txBody>
        </p:sp>
      </p:grpSp>
      <p:sp>
        <p:nvSpPr>
          <p:cNvPr id="235" name="Google Shape;235;p3"/>
          <p:cNvSpPr/>
          <p:nvPr/>
        </p:nvSpPr>
        <p:spPr>
          <a:xfrm>
            <a:off x="754380" y="3607308"/>
            <a:ext cx="850392" cy="850392"/>
          </a:xfrm>
          <a:custGeom>
            <a:rect b="b" l="l" r="r" t="t"/>
            <a:pathLst>
              <a:path extrusionOk="0"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metodologia.png" id="236" name="Google Shape;236;p3"/>
          <p:cNvSpPr/>
          <p:nvPr/>
        </p:nvSpPr>
        <p:spPr>
          <a:xfrm>
            <a:off x="864927" y="3717855"/>
            <a:ext cx="629316" cy="629316"/>
          </a:xfrm>
          <a:custGeom>
            <a:rect b="b" l="l" r="r" t="t"/>
            <a:pathLst>
              <a:path extrusionOk="0" h="839089" w="839089">
                <a:moveTo>
                  <a:pt x="0" y="0"/>
                </a:moveTo>
                <a:lnTo>
                  <a:pt x="839089" y="0"/>
                </a:lnTo>
                <a:lnTo>
                  <a:pt x="839089" y="839089"/>
                </a:lnTo>
                <a:lnTo>
                  <a:pt x="0" y="839089"/>
                </a:lnTo>
                <a:lnTo>
                  <a:pt x="0" y="0"/>
                </a:lnTo>
                <a:close/>
              </a:path>
            </a:pathLst>
          </a:custGeom>
          <a:blipFill rotWithShape="1">
            <a:blip r:embed="rId5">
              <a:alphaModFix/>
            </a:blip>
            <a:stretch>
              <a:fillRect b="4" l="0" r="4" t="0"/>
            </a:stretch>
          </a:blipFill>
          <a:ln>
            <a:noFill/>
          </a:ln>
        </p:spPr>
      </p:sp>
      <p:grpSp>
        <p:nvGrpSpPr>
          <p:cNvPr id="237" name="Google Shape;237;p3"/>
          <p:cNvGrpSpPr/>
          <p:nvPr/>
        </p:nvGrpSpPr>
        <p:grpSpPr>
          <a:xfrm>
            <a:off x="1988820" y="3433286"/>
            <a:ext cx="15544344" cy="1367314"/>
            <a:chOff x="0" y="-85725"/>
            <a:chExt cx="20725791" cy="1823085"/>
          </a:xfrm>
        </p:grpSpPr>
        <p:sp>
          <p:nvSpPr>
            <p:cNvPr id="238" name="Google Shape;238;p3"/>
            <p:cNvSpPr/>
            <p:nvPr/>
          </p:nvSpPr>
          <p:spPr>
            <a:xfrm>
              <a:off x="0" y="0"/>
              <a:ext cx="20725791" cy="1737360"/>
            </a:xfrm>
            <a:custGeom>
              <a:rect b="b" l="l" r="r" t="t"/>
              <a:pathLst>
                <a:path extrusionOk="0" h="1737360" w="20725791">
                  <a:moveTo>
                    <a:pt x="0" y="0"/>
                  </a:moveTo>
                  <a:lnTo>
                    <a:pt x="20725791" y="0"/>
                  </a:lnTo>
                  <a:lnTo>
                    <a:pt x="20725791" y="1737360"/>
                  </a:lnTo>
                  <a:lnTo>
                    <a:pt x="0" y="1737360"/>
                  </a:lnTo>
                  <a:close/>
                </a:path>
              </a:pathLst>
            </a:custGeom>
            <a:blipFill rotWithShape="1">
              <a:blip r:embed="rId3">
                <a:alphaModFix amt="0"/>
              </a:blip>
              <a:stretch>
                <a:fillRect b="-182450" l="0" r="0" t="-182450"/>
              </a:stretch>
            </a:blipFill>
            <a:ln>
              <a:noFill/>
            </a:ln>
          </p:spPr>
        </p:sp>
        <p:sp>
          <p:nvSpPr>
            <p:cNvPr id="239" name="Google Shape;239;p3"/>
            <p:cNvSpPr txBox="1"/>
            <p:nvPr/>
          </p:nvSpPr>
          <p:spPr>
            <a:xfrm>
              <a:off x="0" y="-85725"/>
              <a:ext cx="20725790" cy="1823085"/>
            </a:xfrm>
            <a:prstGeom prst="rect">
              <a:avLst/>
            </a:prstGeom>
            <a:noFill/>
            <a:ln>
              <a:noFill/>
            </a:ln>
          </p:spPr>
          <p:txBody>
            <a:bodyPr anchorCtr="0" anchor="ctr" bIns="0" lIns="0" spcFirstLastPara="1" rIns="0" wrap="square" tIns="0">
              <a:noAutofit/>
            </a:bodyPr>
            <a:lstStyle/>
            <a:p>
              <a:pPr indent="0" lvl="0" marL="0" marR="0" rtl="0" algn="l">
                <a:lnSpc>
                  <a:spcPct val="141563"/>
                </a:lnSpc>
                <a:spcBef>
                  <a:spcPts val="0"/>
                </a:spcBef>
                <a:spcAft>
                  <a:spcPts val="0"/>
                </a:spcAft>
                <a:buNone/>
              </a:pPr>
              <a:r>
                <a:rPr b="1" i="0" lang="en-US" sz="2175" u="none" cap="none" strike="noStrike">
                  <a:solidFill>
                    <a:srgbClr val="FFFFFF"/>
                  </a:solidFill>
                  <a:latin typeface="Calibri"/>
                  <a:ea typeface="Calibri"/>
                  <a:cs typeface="Calibri"/>
                  <a:sym typeface="Calibri"/>
                </a:rPr>
                <a:t>Metodología Scrum++: </a:t>
              </a:r>
              <a:r>
                <a:rPr b="0" i="0" lang="en-US" sz="2175" u="none" cap="none" strike="noStrike">
                  <a:solidFill>
                    <a:srgbClr val="CCCCCC"/>
                  </a:solidFill>
                  <a:latin typeface="Calibri"/>
                  <a:ea typeface="Calibri"/>
                  <a:cs typeface="Calibri"/>
                  <a:sym typeface="Calibri"/>
                </a:rPr>
                <a:t>Segundo Sprint de 4 semanas. Se incorporan 28 nuevos Casos de Uso, alcanzando un 71,4% acumulado de los requerimientos funcionales (50 de 70).</a:t>
              </a:r>
              <a:endParaRPr/>
            </a:p>
          </p:txBody>
        </p:sp>
      </p:grpSp>
      <p:sp>
        <p:nvSpPr>
          <p:cNvPr id="240" name="Google Shape;240;p3"/>
          <p:cNvSpPr/>
          <p:nvPr/>
        </p:nvSpPr>
        <p:spPr>
          <a:xfrm>
            <a:off x="754380" y="5088636"/>
            <a:ext cx="850392" cy="850392"/>
          </a:xfrm>
          <a:custGeom>
            <a:rect b="b" l="l" r="r" t="t"/>
            <a:pathLst>
              <a:path extrusionOk="0"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areas.png" id="241" name="Google Shape;241;p3"/>
          <p:cNvSpPr/>
          <p:nvPr/>
        </p:nvSpPr>
        <p:spPr>
          <a:xfrm>
            <a:off x="864927" y="5199183"/>
            <a:ext cx="629316" cy="629316"/>
          </a:xfrm>
          <a:custGeom>
            <a:rect b="b" l="l" r="r" t="t"/>
            <a:pathLst>
              <a:path extrusionOk="0" h="839089" w="839089">
                <a:moveTo>
                  <a:pt x="0" y="0"/>
                </a:moveTo>
                <a:lnTo>
                  <a:pt x="839089" y="0"/>
                </a:lnTo>
                <a:lnTo>
                  <a:pt x="839089" y="839089"/>
                </a:lnTo>
                <a:lnTo>
                  <a:pt x="0" y="839089"/>
                </a:lnTo>
                <a:lnTo>
                  <a:pt x="0" y="0"/>
                </a:lnTo>
                <a:close/>
              </a:path>
            </a:pathLst>
          </a:custGeom>
          <a:blipFill rotWithShape="1">
            <a:blip r:embed="rId6">
              <a:alphaModFix/>
            </a:blip>
            <a:stretch>
              <a:fillRect b="4" l="0" r="4" t="0"/>
            </a:stretch>
          </a:blipFill>
          <a:ln>
            <a:noFill/>
          </a:ln>
        </p:spPr>
      </p:sp>
      <p:grpSp>
        <p:nvGrpSpPr>
          <p:cNvPr id="242" name="Google Shape;242;p3"/>
          <p:cNvGrpSpPr/>
          <p:nvPr/>
        </p:nvGrpSpPr>
        <p:grpSpPr>
          <a:xfrm>
            <a:off x="1988820" y="4914614"/>
            <a:ext cx="15544344" cy="1367314"/>
            <a:chOff x="0" y="-85725"/>
            <a:chExt cx="20725791" cy="1823085"/>
          </a:xfrm>
        </p:grpSpPr>
        <p:sp>
          <p:nvSpPr>
            <p:cNvPr id="243" name="Google Shape;243;p3"/>
            <p:cNvSpPr/>
            <p:nvPr/>
          </p:nvSpPr>
          <p:spPr>
            <a:xfrm>
              <a:off x="0" y="0"/>
              <a:ext cx="20725791" cy="1737360"/>
            </a:xfrm>
            <a:custGeom>
              <a:rect b="b" l="l" r="r" t="t"/>
              <a:pathLst>
                <a:path extrusionOk="0" h="1737360" w="20725791">
                  <a:moveTo>
                    <a:pt x="0" y="0"/>
                  </a:moveTo>
                  <a:lnTo>
                    <a:pt x="20725791" y="0"/>
                  </a:lnTo>
                  <a:lnTo>
                    <a:pt x="20725791" y="1737360"/>
                  </a:lnTo>
                  <a:lnTo>
                    <a:pt x="0" y="1737360"/>
                  </a:lnTo>
                  <a:close/>
                </a:path>
              </a:pathLst>
            </a:custGeom>
            <a:blipFill rotWithShape="1">
              <a:blip r:embed="rId3">
                <a:alphaModFix amt="0"/>
              </a:blip>
              <a:stretch>
                <a:fillRect b="-182450" l="0" r="0" t="-182450"/>
              </a:stretch>
            </a:blipFill>
            <a:ln>
              <a:noFill/>
            </a:ln>
          </p:spPr>
        </p:sp>
        <p:sp>
          <p:nvSpPr>
            <p:cNvPr id="244" name="Google Shape;244;p3"/>
            <p:cNvSpPr txBox="1"/>
            <p:nvPr/>
          </p:nvSpPr>
          <p:spPr>
            <a:xfrm>
              <a:off x="0" y="-85725"/>
              <a:ext cx="20725790" cy="1823085"/>
            </a:xfrm>
            <a:prstGeom prst="rect">
              <a:avLst/>
            </a:prstGeom>
            <a:noFill/>
            <a:ln>
              <a:noFill/>
            </a:ln>
          </p:spPr>
          <p:txBody>
            <a:bodyPr anchorCtr="0" anchor="ctr" bIns="0" lIns="0" spcFirstLastPara="1" rIns="0" wrap="square" tIns="0">
              <a:noAutofit/>
            </a:bodyPr>
            <a:lstStyle/>
            <a:p>
              <a:pPr indent="0" lvl="0" marL="0" marR="0" rtl="0" algn="l">
                <a:lnSpc>
                  <a:spcPct val="141563"/>
                </a:lnSpc>
                <a:spcBef>
                  <a:spcPts val="0"/>
                </a:spcBef>
                <a:spcAft>
                  <a:spcPts val="0"/>
                </a:spcAft>
                <a:buNone/>
              </a:pPr>
              <a:r>
                <a:rPr b="1" i="0" lang="en-US" sz="2175" u="none" cap="none" strike="noStrike">
                  <a:solidFill>
                    <a:srgbClr val="FFFFFF"/>
                  </a:solidFill>
                  <a:latin typeface="Calibri"/>
                  <a:ea typeface="Calibri"/>
                  <a:cs typeface="Calibri"/>
                  <a:sym typeface="Calibri"/>
                </a:rPr>
                <a:t>Nuevas áreas cubiertas: </a:t>
              </a:r>
              <a:r>
                <a:rPr b="0" i="0" lang="en-US" sz="2175" u="none" cap="none" strike="noStrike">
                  <a:solidFill>
                    <a:srgbClr val="CCCCCC"/>
                  </a:solidFill>
                  <a:latin typeface="Calibri"/>
                  <a:ea typeface="Calibri"/>
                  <a:cs typeface="Calibri"/>
                  <a:sym typeface="Calibri"/>
                </a:rPr>
                <a:t>control financiero e inventario de repuestos (OPEX), motor avanzado de SLA, activos físicos vía código QR, BI y reportería gerencial, e integraciones externas (IMER).</a:t>
              </a:r>
              <a:endParaRPr/>
            </a:p>
          </p:txBody>
        </p:sp>
      </p:grpSp>
      <p:sp>
        <p:nvSpPr>
          <p:cNvPr id="245" name="Google Shape;245;p3"/>
          <p:cNvSpPr/>
          <p:nvPr/>
        </p:nvSpPr>
        <p:spPr>
          <a:xfrm>
            <a:off x="754380" y="6569964"/>
            <a:ext cx="850392" cy="850392"/>
          </a:xfrm>
          <a:custGeom>
            <a:rect b="b" l="l" r="r" t="t"/>
            <a:pathLst>
              <a:path extrusionOk="0"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objetivo.png" id="246" name="Google Shape;246;p3"/>
          <p:cNvSpPr/>
          <p:nvPr/>
        </p:nvSpPr>
        <p:spPr>
          <a:xfrm>
            <a:off x="864927" y="6680511"/>
            <a:ext cx="629316" cy="629316"/>
          </a:xfrm>
          <a:custGeom>
            <a:rect b="b" l="l" r="r" t="t"/>
            <a:pathLst>
              <a:path extrusionOk="0" h="839089" w="839089">
                <a:moveTo>
                  <a:pt x="0" y="0"/>
                </a:moveTo>
                <a:lnTo>
                  <a:pt x="839089" y="0"/>
                </a:lnTo>
                <a:lnTo>
                  <a:pt x="839089" y="839089"/>
                </a:lnTo>
                <a:lnTo>
                  <a:pt x="0" y="839089"/>
                </a:lnTo>
                <a:lnTo>
                  <a:pt x="0" y="0"/>
                </a:lnTo>
                <a:close/>
              </a:path>
            </a:pathLst>
          </a:custGeom>
          <a:blipFill rotWithShape="1">
            <a:blip r:embed="rId7">
              <a:alphaModFix/>
            </a:blip>
            <a:stretch>
              <a:fillRect b="4" l="0" r="4" t="0"/>
            </a:stretch>
          </a:blipFill>
          <a:ln>
            <a:noFill/>
          </a:ln>
        </p:spPr>
      </p:sp>
      <p:grpSp>
        <p:nvGrpSpPr>
          <p:cNvPr id="247" name="Google Shape;247;p3"/>
          <p:cNvGrpSpPr/>
          <p:nvPr/>
        </p:nvGrpSpPr>
        <p:grpSpPr>
          <a:xfrm>
            <a:off x="1988820" y="6395942"/>
            <a:ext cx="15544344" cy="1367314"/>
            <a:chOff x="0" y="-85725"/>
            <a:chExt cx="20725791" cy="1823085"/>
          </a:xfrm>
        </p:grpSpPr>
        <p:sp>
          <p:nvSpPr>
            <p:cNvPr id="248" name="Google Shape;248;p3"/>
            <p:cNvSpPr/>
            <p:nvPr/>
          </p:nvSpPr>
          <p:spPr>
            <a:xfrm>
              <a:off x="0" y="0"/>
              <a:ext cx="20725791" cy="1737360"/>
            </a:xfrm>
            <a:custGeom>
              <a:rect b="b" l="l" r="r" t="t"/>
              <a:pathLst>
                <a:path extrusionOk="0" h="1737360" w="20725791">
                  <a:moveTo>
                    <a:pt x="0" y="0"/>
                  </a:moveTo>
                  <a:lnTo>
                    <a:pt x="20725791" y="0"/>
                  </a:lnTo>
                  <a:lnTo>
                    <a:pt x="20725791" y="1737360"/>
                  </a:lnTo>
                  <a:lnTo>
                    <a:pt x="0" y="1737360"/>
                  </a:lnTo>
                  <a:close/>
                </a:path>
              </a:pathLst>
            </a:custGeom>
            <a:blipFill rotWithShape="1">
              <a:blip r:embed="rId3">
                <a:alphaModFix amt="0"/>
              </a:blip>
              <a:stretch>
                <a:fillRect b="-182450" l="0" r="0" t="-182450"/>
              </a:stretch>
            </a:blipFill>
            <a:ln>
              <a:noFill/>
            </a:ln>
          </p:spPr>
        </p:sp>
        <p:sp>
          <p:nvSpPr>
            <p:cNvPr id="249" name="Google Shape;249;p3"/>
            <p:cNvSpPr txBox="1"/>
            <p:nvPr/>
          </p:nvSpPr>
          <p:spPr>
            <a:xfrm>
              <a:off x="0" y="-85725"/>
              <a:ext cx="20725790" cy="1823085"/>
            </a:xfrm>
            <a:prstGeom prst="rect">
              <a:avLst/>
            </a:prstGeom>
            <a:noFill/>
            <a:ln>
              <a:noFill/>
            </a:ln>
          </p:spPr>
          <p:txBody>
            <a:bodyPr anchorCtr="0" anchor="ctr" bIns="0" lIns="0" spcFirstLastPara="1" rIns="0" wrap="square" tIns="0">
              <a:noAutofit/>
            </a:bodyPr>
            <a:lstStyle/>
            <a:p>
              <a:pPr indent="0" lvl="0" marL="0" marR="0" rtl="0" algn="l">
                <a:lnSpc>
                  <a:spcPct val="141563"/>
                </a:lnSpc>
                <a:spcBef>
                  <a:spcPts val="0"/>
                </a:spcBef>
                <a:spcAft>
                  <a:spcPts val="0"/>
                </a:spcAft>
                <a:buNone/>
              </a:pPr>
              <a:r>
                <a:rPr b="1" i="0" lang="en-US" sz="2175" u="none" cap="none" strike="noStrike">
                  <a:solidFill>
                    <a:srgbClr val="FFFFFF"/>
                  </a:solidFill>
                  <a:latin typeface="Calibri"/>
                  <a:ea typeface="Calibri"/>
                  <a:cs typeface="Calibri"/>
                  <a:sym typeface="Calibri"/>
                </a:rPr>
                <a:t>Objetivo del incremento: </a:t>
              </a:r>
              <a:r>
                <a:rPr b="0" i="0" lang="en-US" sz="2175" u="none" cap="none" strike="noStrike">
                  <a:solidFill>
                    <a:srgbClr val="CCCCCC"/>
                  </a:solidFill>
                  <a:latin typeface="Calibri"/>
                  <a:ea typeface="Calibri"/>
                  <a:cs typeface="Calibri"/>
                  <a:sym typeface="Calibri"/>
                </a:rPr>
                <a:t>anticipar incumplimientos de SLA mediante alertas automáticas y entregar a la Jefatura de TI visibilidad financiera y geográfica de las incidencias.</a:t>
              </a:r>
              <a:endParaRPr/>
            </a:p>
          </p:txBody>
        </p:sp>
      </p:grpSp>
      <p:sp>
        <p:nvSpPr>
          <p:cNvPr id="250" name="Google Shape;250;p3"/>
          <p:cNvSpPr/>
          <p:nvPr/>
        </p:nvSpPr>
        <p:spPr>
          <a:xfrm>
            <a:off x="754380" y="8051292"/>
            <a:ext cx="850392" cy="850392"/>
          </a:xfrm>
          <a:custGeom>
            <a:rect b="b" l="l" r="r" t="t"/>
            <a:pathLst>
              <a:path extrusionOk="0"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validacion.png" id="251" name="Google Shape;251;p3"/>
          <p:cNvSpPr/>
          <p:nvPr/>
        </p:nvSpPr>
        <p:spPr>
          <a:xfrm>
            <a:off x="864927" y="8161839"/>
            <a:ext cx="629316" cy="629316"/>
          </a:xfrm>
          <a:custGeom>
            <a:rect b="b" l="l" r="r" t="t"/>
            <a:pathLst>
              <a:path extrusionOk="0" h="839089" w="839089">
                <a:moveTo>
                  <a:pt x="0" y="0"/>
                </a:moveTo>
                <a:lnTo>
                  <a:pt x="839089" y="0"/>
                </a:lnTo>
                <a:lnTo>
                  <a:pt x="839089" y="839089"/>
                </a:lnTo>
                <a:lnTo>
                  <a:pt x="0" y="839089"/>
                </a:lnTo>
                <a:lnTo>
                  <a:pt x="0" y="0"/>
                </a:lnTo>
                <a:close/>
              </a:path>
            </a:pathLst>
          </a:custGeom>
          <a:blipFill rotWithShape="1">
            <a:blip r:embed="rId8">
              <a:alphaModFix/>
            </a:blip>
            <a:stretch>
              <a:fillRect b="4" l="0" r="4" t="0"/>
            </a:stretch>
          </a:blipFill>
          <a:ln>
            <a:noFill/>
          </a:ln>
        </p:spPr>
      </p:sp>
      <p:grpSp>
        <p:nvGrpSpPr>
          <p:cNvPr id="252" name="Google Shape;252;p3"/>
          <p:cNvGrpSpPr/>
          <p:nvPr/>
        </p:nvGrpSpPr>
        <p:grpSpPr>
          <a:xfrm>
            <a:off x="1988820" y="7877270"/>
            <a:ext cx="15544344" cy="1367314"/>
            <a:chOff x="0" y="-85725"/>
            <a:chExt cx="20725791" cy="1823085"/>
          </a:xfrm>
        </p:grpSpPr>
        <p:sp>
          <p:nvSpPr>
            <p:cNvPr id="253" name="Google Shape;253;p3"/>
            <p:cNvSpPr/>
            <p:nvPr/>
          </p:nvSpPr>
          <p:spPr>
            <a:xfrm>
              <a:off x="0" y="0"/>
              <a:ext cx="20725791" cy="1737360"/>
            </a:xfrm>
            <a:custGeom>
              <a:rect b="b" l="l" r="r" t="t"/>
              <a:pathLst>
                <a:path extrusionOk="0" h="1737360" w="20725791">
                  <a:moveTo>
                    <a:pt x="0" y="0"/>
                  </a:moveTo>
                  <a:lnTo>
                    <a:pt x="20725791" y="0"/>
                  </a:lnTo>
                  <a:lnTo>
                    <a:pt x="20725791" y="1737360"/>
                  </a:lnTo>
                  <a:lnTo>
                    <a:pt x="0" y="1737360"/>
                  </a:lnTo>
                  <a:close/>
                </a:path>
              </a:pathLst>
            </a:custGeom>
            <a:blipFill rotWithShape="1">
              <a:blip r:embed="rId3">
                <a:alphaModFix amt="0"/>
              </a:blip>
              <a:stretch>
                <a:fillRect b="-182450" l="0" r="0" t="-182450"/>
              </a:stretch>
            </a:blipFill>
            <a:ln>
              <a:noFill/>
            </a:ln>
          </p:spPr>
        </p:sp>
        <p:sp>
          <p:nvSpPr>
            <p:cNvPr id="254" name="Google Shape;254;p3"/>
            <p:cNvSpPr txBox="1"/>
            <p:nvPr/>
          </p:nvSpPr>
          <p:spPr>
            <a:xfrm>
              <a:off x="0" y="-85725"/>
              <a:ext cx="20725790" cy="1823085"/>
            </a:xfrm>
            <a:prstGeom prst="rect">
              <a:avLst/>
            </a:prstGeom>
            <a:noFill/>
            <a:ln>
              <a:noFill/>
            </a:ln>
          </p:spPr>
          <p:txBody>
            <a:bodyPr anchorCtr="0" anchor="ctr" bIns="0" lIns="0" spcFirstLastPara="1" rIns="0" wrap="square" tIns="0">
              <a:noAutofit/>
            </a:bodyPr>
            <a:lstStyle/>
            <a:p>
              <a:pPr indent="0" lvl="0" marL="0" marR="0" rtl="0" algn="l">
                <a:lnSpc>
                  <a:spcPct val="141563"/>
                </a:lnSpc>
                <a:spcBef>
                  <a:spcPts val="0"/>
                </a:spcBef>
                <a:spcAft>
                  <a:spcPts val="0"/>
                </a:spcAft>
                <a:buNone/>
              </a:pPr>
              <a:r>
                <a:rPr b="1" i="0" lang="en-US" sz="2175" u="none" cap="none" strike="noStrike">
                  <a:solidFill>
                    <a:srgbClr val="FFFFFF"/>
                  </a:solidFill>
                  <a:latin typeface="Calibri"/>
                  <a:ea typeface="Calibri"/>
                  <a:cs typeface="Calibri"/>
                  <a:sym typeface="Calibri"/>
                </a:rPr>
                <a:t>Validación: </a:t>
              </a:r>
              <a:r>
                <a:rPr b="0" i="0" lang="en-US" sz="2175" u="none" cap="none" strike="noStrike">
                  <a:solidFill>
                    <a:srgbClr val="CCCCCC"/>
                  </a:solidFill>
                  <a:latin typeface="Calibri"/>
                  <a:ea typeface="Calibri"/>
                  <a:cs typeface="Calibri"/>
                  <a:sym typeface="Calibri"/>
                </a:rPr>
                <a:t>revisado, probado y aprobado por Edgar Guerra (Jefe de TI) y el equipo de soporte técnico del Centro Clínico Aconcagua.</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262" name="Shape 262"/>
        <p:cNvGrpSpPr/>
        <p:nvPr/>
      </p:nvGrpSpPr>
      <p:grpSpPr>
        <a:xfrm>
          <a:off x="0" y="0"/>
          <a:ext cx="0" cy="0"/>
          <a:chOff x="0" y="0"/>
          <a:chExt cx="0" cy="0"/>
        </a:xfrm>
      </p:grpSpPr>
      <p:grpSp>
        <p:nvGrpSpPr>
          <p:cNvPr id="263" name="Google Shape;263;p4"/>
          <p:cNvGrpSpPr/>
          <p:nvPr/>
        </p:nvGrpSpPr>
        <p:grpSpPr>
          <a:xfrm>
            <a:off x="685800" y="415766"/>
            <a:ext cx="16915944" cy="1298734"/>
            <a:chOff x="0" y="-85725"/>
            <a:chExt cx="22554591" cy="1731645"/>
          </a:xfrm>
        </p:grpSpPr>
        <p:sp>
          <p:nvSpPr>
            <p:cNvPr id="264" name="Google Shape;264;p4"/>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265" name="Google Shape;265;p4"/>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RESUMEN DEL INCREMENTO</a:t>
              </a:r>
              <a:endParaRPr/>
            </a:p>
          </p:txBody>
        </p:sp>
      </p:grpSp>
      <p:sp>
        <p:nvSpPr>
          <p:cNvPr id="266" name="Google Shape;266;p4"/>
          <p:cNvSpPr/>
          <p:nvPr/>
        </p:nvSpPr>
        <p:spPr>
          <a:xfrm>
            <a:off x="1188491" y="1851660"/>
            <a:ext cx="4937760" cy="1851660"/>
          </a:xfrm>
          <a:custGeom>
            <a:rect b="b" l="l" r="r" t="t"/>
            <a:pathLst>
              <a:path extrusionOk="0" h="2468880" w="6583680">
                <a:moveTo>
                  <a:pt x="0" y="164592"/>
                </a:moveTo>
                <a:cubicBezTo>
                  <a:pt x="0" y="73660"/>
                  <a:pt x="73660" y="0"/>
                  <a:pt x="164592" y="0"/>
                </a:cubicBezTo>
                <a:lnTo>
                  <a:pt x="6419088" y="0"/>
                </a:lnTo>
                <a:cubicBezTo>
                  <a:pt x="6510020" y="0"/>
                  <a:pt x="6583680" y="73660"/>
                  <a:pt x="6583680" y="164592"/>
                </a:cubicBezTo>
                <a:lnTo>
                  <a:pt x="6583680" y="2304288"/>
                </a:lnTo>
                <a:cubicBezTo>
                  <a:pt x="6583680" y="2395220"/>
                  <a:pt x="6510020" y="2468880"/>
                  <a:pt x="6419088" y="2468880"/>
                </a:cubicBezTo>
                <a:lnTo>
                  <a:pt x="164592" y="2468880"/>
                </a:lnTo>
                <a:cubicBezTo>
                  <a:pt x="73660" y="2468880"/>
                  <a:pt x="0" y="2395220"/>
                  <a:pt x="0" y="2304288"/>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4"/>
          <p:cNvGrpSpPr/>
          <p:nvPr/>
        </p:nvGrpSpPr>
        <p:grpSpPr>
          <a:xfrm>
            <a:off x="1188491" y="1972247"/>
            <a:ext cx="4937760" cy="1034300"/>
            <a:chOff x="0" y="-95250"/>
            <a:chExt cx="6583680" cy="1379068"/>
          </a:xfrm>
        </p:grpSpPr>
        <p:sp>
          <p:nvSpPr>
            <p:cNvPr id="268" name="Google Shape;268;p4"/>
            <p:cNvSpPr/>
            <p:nvPr/>
          </p:nvSpPr>
          <p:spPr>
            <a:xfrm>
              <a:off x="0" y="0"/>
              <a:ext cx="6583680" cy="1283818"/>
            </a:xfrm>
            <a:custGeom>
              <a:rect b="b" l="l" r="r" t="t"/>
              <a:pathLst>
                <a:path extrusionOk="0" h="1283818" w="6583680">
                  <a:moveTo>
                    <a:pt x="0" y="0"/>
                  </a:moveTo>
                  <a:lnTo>
                    <a:pt x="6583680" y="0"/>
                  </a:lnTo>
                  <a:lnTo>
                    <a:pt x="6583680" y="1283818"/>
                  </a:lnTo>
                  <a:lnTo>
                    <a:pt x="0" y="1283818"/>
                  </a:lnTo>
                  <a:close/>
                </a:path>
              </a:pathLst>
            </a:custGeom>
            <a:blipFill rotWithShape="1">
              <a:blip r:embed="rId3">
                <a:alphaModFix amt="0"/>
              </a:blip>
              <a:stretch>
                <a:fillRect b="-49924" l="0" r="0" t="-49924"/>
              </a:stretch>
            </a:blipFill>
            <a:ln>
              <a:noFill/>
            </a:ln>
          </p:spPr>
        </p:sp>
        <p:sp>
          <p:nvSpPr>
            <p:cNvPr id="269" name="Google Shape;269;p4"/>
            <p:cNvSpPr txBox="1"/>
            <p:nvPr/>
          </p:nvSpPr>
          <p:spPr>
            <a:xfrm>
              <a:off x="0" y="-95250"/>
              <a:ext cx="6583680" cy="1379068"/>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4A9FD5"/>
                  </a:solidFill>
                  <a:latin typeface="Calibri"/>
                  <a:ea typeface="Calibri"/>
                  <a:cs typeface="Calibri"/>
                  <a:sym typeface="Calibri"/>
                </a:rPr>
                <a:t>28</a:t>
              </a:r>
              <a:endParaRPr/>
            </a:p>
          </p:txBody>
        </p:sp>
      </p:grpSp>
      <p:sp>
        <p:nvSpPr>
          <p:cNvPr id="270" name="Google Shape;270;p4"/>
          <p:cNvSpPr txBox="1"/>
          <p:nvPr/>
        </p:nvSpPr>
        <p:spPr>
          <a:xfrm>
            <a:off x="1485671" y="2877160"/>
            <a:ext cx="4343400" cy="706374"/>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Casos de Uso</a:t>
            </a:r>
            <a:endParaRPr/>
          </a:p>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Nuevos Implementados</a:t>
            </a:r>
            <a:endParaRPr/>
          </a:p>
        </p:txBody>
      </p:sp>
      <p:sp>
        <p:nvSpPr>
          <p:cNvPr id="271" name="Google Shape;271;p4"/>
          <p:cNvSpPr/>
          <p:nvPr/>
        </p:nvSpPr>
        <p:spPr>
          <a:xfrm>
            <a:off x="6674891" y="1851660"/>
            <a:ext cx="4937760" cy="1851660"/>
          </a:xfrm>
          <a:custGeom>
            <a:rect b="b" l="l" r="r" t="t"/>
            <a:pathLst>
              <a:path extrusionOk="0" h="2468880" w="6583680">
                <a:moveTo>
                  <a:pt x="0" y="164592"/>
                </a:moveTo>
                <a:cubicBezTo>
                  <a:pt x="0" y="73660"/>
                  <a:pt x="73660" y="0"/>
                  <a:pt x="164592" y="0"/>
                </a:cubicBezTo>
                <a:lnTo>
                  <a:pt x="6419088" y="0"/>
                </a:lnTo>
                <a:cubicBezTo>
                  <a:pt x="6510020" y="0"/>
                  <a:pt x="6583680" y="73660"/>
                  <a:pt x="6583680" y="164592"/>
                </a:cubicBezTo>
                <a:lnTo>
                  <a:pt x="6583680" y="2304288"/>
                </a:lnTo>
                <a:cubicBezTo>
                  <a:pt x="6583680" y="2395220"/>
                  <a:pt x="6510020" y="2468880"/>
                  <a:pt x="6419088" y="2468880"/>
                </a:cubicBezTo>
                <a:lnTo>
                  <a:pt x="164592" y="2468880"/>
                </a:lnTo>
                <a:cubicBezTo>
                  <a:pt x="73660" y="2468880"/>
                  <a:pt x="0" y="2395220"/>
                  <a:pt x="0" y="2304288"/>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4"/>
          <p:cNvGrpSpPr/>
          <p:nvPr/>
        </p:nvGrpSpPr>
        <p:grpSpPr>
          <a:xfrm>
            <a:off x="6674891" y="1972247"/>
            <a:ext cx="4937760" cy="1034300"/>
            <a:chOff x="0" y="-95250"/>
            <a:chExt cx="6583680" cy="1379068"/>
          </a:xfrm>
        </p:grpSpPr>
        <p:sp>
          <p:nvSpPr>
            <p:cNvPr id="273" name="Google Shape;273;p4"/>
            <p:cNvSpPr/>
            <p:nvPr/>
          </p:nvSpPr>
          <p:spPr>
            <a:xfrm>
              <a:off x="0" y="0"/>
              <a:ext cx="6583680" cy="1283818"/>
            </a:xfrm>
            <a:custGeom>
              <a:rect b="b" l="l" r="r" t="t"/>
              <a:pathLst>
                <a:path extrusionOk="0" h="1283818" w="6583680">
                  <a:moveTo>
                    <a:pt x="0" y="0"/>
                  </a:moveTo>
                  <a:lnTo>
                    <a:pt x="6583680" y="0"/>
                  </a:lnTo>
                  <a:lnTo>
                    <a:pt x="6583680" y="1283818"/>
                  </a:lnTo>
                  <a:lnTo>
                    <a:pt x="0" y="1283818"/>
                  </a:lnTo>
                  <a:close/>
                </a:path>
              </a:pathLst>
            </a:custGeom>
            <a:blipFill rotWithShape="1">
              <a:blip r:embed="rId3">
                <a:alphaModFix amt="0"/>
              </a:blip>
              <a:stretch>
                <a:fillRect b="-49924" l="0" r="0" t="-49924"/>
              </a:stretch>
            </a:blipFill>
            <a:ln>
              <a:noFill/>
            </a:ln>
          </p:spPr>
        </p:sp>
        <p:sp>
          <p:nvSpPr>
            <p:cNvPr id="274" name="Google Shape;274;p4"/>
            <p:cNvSpPr txBox="1"/>
            <p:nvPr/>
          </p:nvSpPr>
          <p:spPr>
            <a:xfrm>
              <a:off x="0" y="-95250"/>
              <a:ext cx="6583680" cy="1379068"/>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2ECC71"/>
                  </a:solidFill>
                  <a:latin typeface="Calibri"/>
                  <a:ea typeface="Calibri"/>
                  <a:cs typeface="Calibri"/>
                  <a:sym typeface="Calibri"/>
                </a:rPr>
                <a:t>71,4%</a:t>
              </a:r>
              <a:endParaRPr/>
            </a:p>
          </p:txBody>
        </p:sp>
      </p:grpSp>
      <p:sp>
        <p:nvSpPr>
          <p:cNvPr id="275" name="Google Shape;275;p4"/>
          <p:cNvSpPr txBox="1"/>
          <p:nvPr/>
        </p:nvSpPr>
        <p:spPr>
          <a:xfrm>
            <a:off x="6972071" y="2877160"/>
            <a:ext cx="4343400" cy="706374"/>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Avance Acumulado</a:t>
            </a:r>
            <a:endParaRPr/>
          </a:p>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(50 de 70 RF)</a:t>
            </a:r>
            <a:endParaRPr/>
          </a:p>
        </p:txBody>
      </p:sp>
      <p:sp>
        <p:nvSpPr>
          <p:cNvPr id="276" name="Google Shape;276;p4"/>
          <p:cNvSpPr/>
          <p:nvPr/>
        </p:nvSpPr>
        <p:spPr>
          <a:xfrm>
            <a:off x="12161291" y="1851660"/>
            <a:ext cx="4937760" cy="1851660"/>
          </a:xfrm>
          <a:custGeom>
            <a:rect b="b" l="l" r="r" t="t"/>
            <a:pathLst>
              <a:path extrusionOk="0" h="2468880" w="6583680">
                <a:moveTo>
                  <a:pt x="0" y="164592"/>
                </a:moveTo>
                <a:cubicBezTo>
                  <a:pt x="0" y="73660"/>
                  <a:pt x="73660" y="0"/>
                  <a:pt x="164592" y="0"/>
                </a:cubicBezTo>
                <a:lnTo>
                  <a:pt x="6419088" y="0"/>
                </a:lnTo>
                <a:cubicBezTo>
                  <a:pt x="6510020" y="0"/>
                  <a:pt x="6583680" y="73660"/>
                  <a:pt x="6583680" y="164592"/>
                </a:cubicBezTo>
                <a:lnTo>
                  <a:pt x="6583680" y="2304288"/>
                </a:lnTo>
                <a:cubicBezTo>
                  <a:pt x="6583680" y="2395220"/>
                  <a:pt x="6510020" y="2468880"/>
                  <a:pt x="6419088" y="2468880"/>
                </a:cubicBezTo>
                <a:lnTo>
                  <a:pt x="164592" y="2468880"/>
                </a:lnTo>
                <a:cubicBezTo>
                  <a:pt x="73660" y="2468880"/>
                  <a:pt x="0" y="2395220"/>
                  <a:pt x="0" y="2304288"/>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
          <p:cNvGrpSpPr/>
          <p:nvPr/>
        </p:nvGrpSpPr>
        <p:grpSpPr>
          <a:xfrm>
            <a:off x="12161291" y="1972247"/>
            <a:ext cx="4937760" cy="1034300"/>
            <a:chOff x="0" y="-95250"/>
            <a:chExt cx="6583680" cy="1379068"/>
          </a:xfrm>
        </p:grpSpPr>
        <p:sp>
          <p:nvSpPr>
            <p:cNvPr id="278" name="Google Shape;278;p4"/>
            <p:cNvSpPr/>
            <p:nvPr/>
          </p:nvSpPr>
          <p:spPr>
            <a:xfrm>
              <a:off x="0" y="0"/>
              <a:ext cx="6583680" cy="1283818"/>
            </a:xfrm>
            <a:custGeom>
              <a:rect b="b" l="l" r="r" t="t"/>
              <a:pathLst>
                <a:path extrusionOk="0" h="1283818" w="6583680">
                  <a:moveTo>
                    <a:pt x="0" y="0"/>
                  </a:moveTo>
                  <a:lnTo>
                    <a:pt x="6583680" y="0"/>
                  </a:lnTo>
                  <a:lnTo>
                    <a:pt x="6583680" y="1283818"/>
                  </a:lnTo>
                  <a:lnTo>
                    <a:pt x="0" y="1283818"/>
                  </a:lnTo>
                  <a:close/>
                </a:path>
              </a:pathLst>
            </a:custGeom>
            <a:blipFill rotWithShape="1">
              <a:blip r:embed="rId3">
                <a:alphaModFix amt="0"/>
              </a:blip>
              <a:stretch>
                <a:fillRect b="-49924" l="0" r="0" t="-49924"/>
              </a:stretch>
            </a:blipFill>
            <a:ln>
              <a:noFill/>
            </a:ln>
          </p:spPr>
        </p:sp>
        <p:sp>
          <p:nvSpPr>
            <p:cNvPr id="279" name="Google Shape;279;p4"/>
            <p:cNvSpPr txBox="1"/>
            <p:nvPr/>
          </p:nvSpPr>
          <p:spPr>
            <a:xfrm>
              <a:off x="0" y="-95250"/>
              <a:ext cx="6583680" cy="1379068"/>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9B59B6"/>
                  </a:solidFill>
                  <a:latin typeface="Calibri"/>
                  <a:ea typeface="Calibri"/>
                  <a:cs typeface="Calibri"/>
                  <a:sym typeface="Calibri"/>
                </a:rPr>
                <a:t>4 semanas</a:t>
              </a:r>
              <a:endParaRPr/>
            </a:p>
          </p:txBody>
        </p:sp>
      </p:grpSp>
      <p:sp>
        <p:nvSpPr>
          <p:cNvPr id="280" name="Google Shape;280;p4"/>
          <p:cNvSpPr txBox="1"/>
          <p:nvPr/>
        </p:nvSpPr>
        <p:spPr>
          <a:xfrm>
            <a:off x="12458471" y="2877160"/>
            <a:ext cx="4343400" cy="706374"/>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Duración</a:t>
            </a:r>
            <a:endParaRPr/>
          </a:p>
          <a:p>
            <a:pPr indent="0" lvl="0" marL="0" marR="0" rtl="0" algn="ctr">
              <a:lnSpc>
                <a:spcPct val="132000"/>
              </a:lnSpc>
              <a:spcBef>
                <a:spcPts val="0"/>
              </a:spcBef>
              <a:spcAft>
                <a:spcPts val="0"/>
              </a:spcAft>
              <a:buNone/>
            </a:pPr>
            <a:r>
              <a:rPr b="0" i="0" lang="en-US" sz="1800" u="none" cap="none" strike="noStrike">
                <a:solidFill>
                  <a:srgbClr val="CCCCCC"/>
                </a:solidFill>
                <a:latin typeface="Calibri"/>
                <a:ea typeface="Calibri"/>
                <a:cs typeface="Calibri"/>
                <a:sym typeface="Calibri"/>
              </a:rPr>
              <a:t>Sprint 2</a:t>
            </a:r>
            <a:endParaRPr/>
          </a:p>
        </p:txBody>
      </p:sp>
      <p:sp>
        <p:nvSpPr>
          <p:cNvPr id="281" name="Google Shape;281;p4"/>
          <p:cNvSpPr/>
          <p:nvPr/>
        </p:nvSpPr>
        <p:spPr>
          <a:xfrm>
            <a:off x="822960" y="4402836"/>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4"/>
          <p:cNvGrpSpPr/>
          <p:nvPr/>
        </p:nvGrpSpPr>
        <p:grpSpPr>
          <a:xfrm>
            <a:off x="1440180" y="4277678"/>
            <a:ext cx="16092983" cy="893254"/>
            <a:chOff x="0" y="-57150"/>
            <a:chExt cx="21457310" cy="1191006"/>
          </a:xfrm>
        </p:grpSpPr>
        <p:sp>
          <p:nvSpPr>
            <p:cNvPr id="283" name="Google Shape;283;p4"/>
            <p:cNvSpPr/>
            <p:nvPr/>
          </p:nvSpPr>
          <p:spPr>
            <a:xfrm>
              <a:off x="0" y="0"/>
              <a:ext cx="21457310" cy="1133856"/>
            </a:xfrm>
            <a:custGeom>
              <a:rect b="b" l="l" r="r" t="t"/>
              <a:pathLst>
                <a:path extrusionOk="0" h="1133856" w="21457310">
                  <a:moveTo>
                    <a:pt x="0" y="0"/>
                  </a:moveTo>
                  <a:lnTo>
                    <a:pt x="21457310" y="0"/>
                  </a:lnTo>
                  <a:lnTo>
                    <a:pt x="21457310" y="1133856"/>
                  </a:lnTo>
                  <a:lnTo>
                    <a:pt x="0" y="1133856"/>
                  </a:lnTo>
                  <a:close/>
                </a:path>
              </a:pathLst>
            </a:custGeom>
            <a:blipFill rotWithShape="1">
              <a:blip r:embed="rId3">
                <a:alphaModFix amt="0"/>
              </a:blip>
              <a:stretch>
                <a:fillRect b="-318732" l="0" r="0" t="-318732"/>
              </a:stretch>
            </a:blipFill>
            <a:ln>
              <a:noFill/>
            </a:ln>
          </p:spPr>
        </p:sp>
        <p:sp>
          <p:nvSpPr>
            <p:cNvPr id="284" name="Google Shape;284;p4"/>
            <p:cNvSpPr txBox="1"/>
            <p:nvPr/>
          </p:nvSpPr>
          <p:spPr>
            <a:xfrm>
              <a:off x="0" y="-57150"/>
              <a:ext cx="21457310" cy="1191006"/>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None/>
              </a:pPr>
              <a:r>
                <a:rPr b="1" i="0" lang="en-US" sz="2025" u="none" cap="none" strike="noStrike">
                  <a:solidFill>
                    <a:srgbClr val="FFFFFF"/>
                  </a:solidFill>
                  <a:latin typeface="Calibri"/>
                  <a:ea typeface="Calibri"/>
                  <a:cs typeface="Calibri"/>
                  <a:sym typeface="Calibri"/>
                </a:rPr>
                <a:t>Control Financiero (OPEX): </a:t>
              </a:r>
              <a:r>
                <a:rPr b="0" i="0" lang="en-US" sz="2025" u="none" cap="none" strike="noStrike">
                  <a:solidFill>
                    <a:srgbClr val="CCCCCC"/>
                  </a:solidFill>
                  <a:latin typeface="Calibri"/>
                  <a:ea typeface="Calibri"/>
                  <a:cs typeface="Calibri"/>
                  <a:sym typeface="Calibri"/>
                </a:rPr>
                <a:t>imputación de repuestos por ticket y consolidado de gasto por departamento clínico.</a:t>
              </a:r>
              <a:endParaRPr/>
            </a:p>
          </p:txBody>
        </p:sp>
      </p:grpSp>
      <p:sp>
        <p:nvSpPr>
          <p:cNvPr id="285" name="Google Shape;285;p4"/>
          <p:cNvSpPr/>
          <p:nvPr/>
        </p:nvSpPr>
        <p:spPr>
          <a:xfrm>
            <a:off x="822960" y="5390388"/>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 name="Google Shape;286;p4"/>
          <p:cNvGrpSpPr/>
          <p:nvPr/>
        </p:nvGrpSpPr>
        <p:grpSpPr>
          <a:xfrm>
            <a:off x="1440180" y="5265230"/>
            <a:ext cx="16092983" cy="893254"/>
            <a:chOff x="0" y="-57150"/>
            <a:chExt cx="21457310" cy="1191006"/>
          </a:xfrm>
        </p:grpSpPr>
        <p:sp>
          <p:nvSpPr>
            <p:cNvPr id="287" name="Google Shape;287;p4"/>
            <p:cNvSpPr/>
            <p:nvPr/>
          </p:nvSpPr>
          <p:spPr>
            <a:xfrm>
              <a:off x="0" y="0"/>
              <a:ext cx="21457310" cy="1133856"/>
            </a:xfrm>
            <a:custGeom>
              <a:rect b="b" l="l" r="r" t="t"/>
              <a:pathLst>
                <a:path extrusionOk="0" h="1133856" w="21457310">
                  <a:moveTo>
                    <a:pt x="0" y="0"/>
                  </a:moveTo>
                  <a:lnTo>
                    <a:pt x="21457310" y="0"/>
                  </a:lnTo>
                  <a:lnTo>
                    <a:pt x="21457310" y="1133856"/>
                  </a:lnTo>
                  <a:lnTo>
                    <a:pt x="0" y="1133856"/>
                  </a:lnTo>
                  <a:close/>
                </a:path>
              </a:pathLst>
            </a:custGeom>
            <a:blipFill rotWithShape="1">
              <a:blip r:embed="rId3">
                <a:alphaModFix amt="0"/>
              </a:blip>
              <a:stretch>
                <a:fillRect b="-318732" l="0" r="0" t="-318732"/>
              </a:stretch>
            </a:blipFill>
            <a:ln>
              <a:noFill/>
            </a:ln>
          </p:spPr>
        </p:sp>
        <p:sp>
          <p:nvSpPr>
            <p:cNvPr id="288" name="Google Shape;288;p4"/>
            <p:cNvSpPr txBox="1"/>
            <p:nvPr/>
          </p:nvSpPr>
          <p:spPr>
            <a:xfrm>
              <a:off x="0" y="-57150"/>
              <a:ext cx="21457310" cy="1191006"/>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None/>
              </a:pPr>
              <a:r>
                <a:rPr b="1" i="0" lang="en-US" sz="2025" u="none" cap="none" strike="noStrike">
                  <a:solidFill>
                    <a:srgbClr val="FFFFFF"/>
                  </a:solidFill>
                  <a:latin typeface="Calibri"/>
                  <a:ea typeface="Calibri"/>
                  <a:cs typeface="Calibri"/>
                  <a:sym typeface="Calibri"/>
                </a:rPr>
                <a:t>Motor Avanzado de SLA: </a:t>
              </a:r>
              <a:r>
                <a:rPr b="0" i="0" lang="en-US" sz="2025" u="none" cap="none" strike="noStrike">
                  <a:solidFill>
                    <a:srgbClr val="CCCCCC"/>
                  </a:solidFill>
                  <a:latin typeface="Calibri"/>
                  <a:ea typeface="Calibri"/>
                  <a:cs typeface="Calibri"/>
                  <a:sym typeface="Calibri"/>
                </a:rPr>
                <a:t>ventanas operativas, feriados, pausa justificada del cronómetro y aviso al 75% del plazo.</a:t>
              </a:r>
              <a:endParaRPr/>
            </a:p>
          </p:txBody>
        </p:sp>
      </p:grpSp>
      <p:sp>
        <p:nvSpPr>
          <p:cNvPr id="289" name="Google Shape;289;p4"/>
          <p:cNvSpPr/>
          <p:nvPr/>
        </p:nvSpPr>
        <p:spPr>
          <a:xfrm>
            <a:off x="822960" y="6377940"/>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4"/>
          <p:cNvGrpSpPr/>
          <p:nvPr/>
        </p:nvGrpSpPr>
        <p:grpSpPr>
          <a:xfrm>
            <a:off x="1440180" y="6252782"/>
            <a:ext cx="16092983" cy="893254"/>
            <a:chOff x="0" y="-57150"/>
            <a:chExt cx="21457310" cy="1191006"/>
          </a:xfrm>
        </p:grpSpPr>
        <p:sp>
          <p:nvSpPr>
            <p:cNvPr id="291" name="Google Shape;291;p4"/>
            <p:cNvSpPr/>
            <p:nvPr/>
          </p:nvSpPr>
          <p:spPr>
            <a:xfrm>
              <a:off x="0" y="0"/>
              <a:ext cx="21457310" cy="1133856"/>
            </a:xfrm>
            <a:custGeom>
              <a:rect b="b" l="l" r="r" t="t"/>
              <a:pathLst>
                <a:path extrusionOk="0" h="1133856" w="21457310">
                  <a:moveTo>
                    <a:pt x="0" y="0"/>
                  </a:moveTo>
                  <a:lnTo>
                    <a:pt x="21457310" y="0"/>
                  </a:lnTo>
                  <a:lnTo>
                    <a:pt x="21457310" y="1133856"/>
                  </a:lnTo>
                  <a:lnTo>
                    <a:pt x="0" y="1133856"/>
                  </a:lnTo>
                  <a:close/>
                </a:path>
              </a:pathLst>
            </a:custGeom>
            <a:blipFill rotWithShape="1">
              <a:blip r:embed="rId3">
                <a:alphaModFix amt="0"/>
              </a:blip>
              <a:stretch>
                <a:fillRect b="-318732" l="0" r="0" t="-318732"/>
              </a:stretch>
            </a:blipFill>
            <a:ln>
              <a:noFill/>
            </a:ln>
          </p:spPr>
        </p:sp>
        <p:sp>
          <p:nvSpPr>
            <p:cNvPr id="292" name="Google Shape;292;p4"/>
            <p:cNvSpPr txBox="1"/>
            <p:nvPr/>
          </p:nvSpPr>
          <p:spPr>
            <a:xfrm>
              <a:off x="0" y="-57150"/>
              <a:ext cx="21457310" cy="1191006"/>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None/>
              </a:pPr>
              <a:r>
                <a:rPr b="1" i="0" lang="en-US" sz="2025" u="none" cap="none" strike="noStrike">
                  <a:solidFill>
                    <a:srgbClr val="FFFFFF"/>
                  </a:solidFill>
                  <a:latin typeface="Calibri"/>
                  <a:ea typeface="Calibri"/>
                  <a:cs typeface="Calibri"/>
                  <a:sym typeface="Calibri"/>
                </a:rPr>
                <a:t>Activos físicos con QR: </a:t>
              </a:r>
              <a:r>
                <a:rPr b="0" i="0" lang="en-US" sz="2025" u="none" cap="none" strike="noStrike">
                  <a:solidFill>
                    <a:srgbClr val="CCCCCC"/>
                  </a:solidFill>
                  <a:latin typeface="Calibri"/>
                  <a:ea typeface="Calibri"/>
                  <a:cs typeface="Calibri"/>
                  <a:sym typeface="Calibri"/>
                </a:rPr>
                <a:t>etiquetas QR permiten reportar y precargar datos del equipo en menos de 30 segundos.</a:t>
              </a:r>
              <a:endParaRPr/>
            </a:p>
          </p:txBody>
        </p:sp>
      </p:grpSp>
      <p:sp>
        <p:nvSpPr>
          <p:cNvPr id="293" name="Google Shape;293;p4"/>
          <p:cNvSpPr/>
          <p:nvPr/>
        </p:nvSpPr>
        <p:spPr>
          <a:xfrm>
            <a:off x="822960" y="7365492"/>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4"/>
          <p:cNvGrpSpPr/>
          <p:nvPr/>
        </p:nvGrpSpPr>
        <p:grpSpPr>
          <a:xfrm>
            <a:off x="1440180" y="7240334"/>
            <a:ext cx="16092983" cy="893254"/>
            <a:chOff x="0" y="-57150"/>
            <a:chExt cx="21457310" cy="1191006"/>
          </a:xfrm>
        </p:grpSpPr>
        <p:sp>
          <p:nvSpPr>
            <p:cNvPr id="295" name="Google Shape;295;p4"/>
            <p:cNvSpPr/>
            <p:nvPr/>
          </p:nvSpPr>
          <p:spPr>
            <a:xfrm>
              <a:off x="0" y="0"/>
              <a:ext cx="21457310" cy="1133856"/>
            </a:xfrm>
            <a:custGeom>
              <a:rect b="b" l="l" r="r" t="t"/>
              <a:pathLst>
                <a:path extrusionOk="0" h="1133856" w="21457310">
                  <a:moveTo>
                    <a:pt x="0" y="0"/>
                  </a:moveTo>
                  <a:lnTo>
                    <a:pt x="21457310" y="0"/>
                  </a:lnTo>
                  <a:lnTo>
                    <a:pt x="21457310" y="1133856"/>
                  </a:lnTo>
                  <a:lnTo>
                    <a:pt x="0" y="1133856"/>
                  </a:lnTo>
                  <a:close/>
                </a:path>
              </a:pathLst>
            </a:custGeom>
            <a:blipFill rotWithShape="1">
              <a:blip r:embed="rId3">
                <a:alphaModFix amt="0"/>
              </a:blip>
              <a:stretch>
                <a:fillRect b="-318732" l="0" r="0" t="-318732"/>
              </a:stretch>
            </a:blipFill>
            <a:ln>
              <a:noFill/>
            </a:ln>
          </p:spPr>
        </p:sp>
        <p:sp>
          <p:nvSpPr>
            <p:cNvPr id="296" name="Google Shape;296;p4"/>
            <p:cNvSpPr txBox="1"/>
            <p:nvPr/>
          </p:nvSpPr>
          <p:spPr>
            <a:xfrm>
              <a:off x="0" y="-57150"/>
              <a:ext cx="21457310" cy="1191006"/>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None/>
              </a:pPr>
              <a:r>
                <a:rPr b="1" i="0" lang="en-US" sz="2025" u="none" cap="none" strike="noStrike">
                  <a:solidFill>
                    <a:srgbClr val="FFFFFF"/>
                  </a:solidFill>
                  <a:latin typeface="Calibri"/>
                  <a:ea typeface="Calibri"/>
                  <a:cs typeface="Calibri"/>
                  <a:sym typeface="Calibri"/>
                </a:rPr>
                <a:t>BI y Reportería: </a:t>
              </a:r>
              <a:r>
                <a:rPr b="0" i="0" lang="en-US" sz="2025" u="none" cap="none" strike="noStrike">
                  <a:solidFill>
                    <a:srgbClr val="CCCCCC"/>
                  </a:solidFill>
                  <a:latin typeface="Calibri"/>
                  <a:ea typeface="Calibri"/>
                  <a:cs typeface="Calibri"/>
                  <a:sym typeface="Calibri"/>
                </a:rPr>
                <a:t>mapa de calor de fallas por piso, informes de desempeño técnico y exportación a Excel/PDF.</a:t>
              </a:r>
              <a:endParaRPr/>
            </a:p>
          </p:txBody>
        </p:sp>
      </p:grpSp>
      <p:sp>
        <p:nvSpPr>
          <p:cNvPr id="297" name="Google Shape;297;p4"/>
          <p:cNvSpPr/>
          <p:nvPr/>
        </p:nvSpPr>
        <p:spPr>
          <a:xfrm>
            <a:off x="822960" y="8353044"/>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4"/>
          <p:cNvGrpSpPr/>
          <p:nvPr/>
        </p:nvGrpSpPr>
        <p:grpSpPr>
          <a:xfrm>
            <a:off x="1440180" y="8227886"/>
            <a:ext cx="16092983" cy="893254"/>
            <a:chOff x="0" y="-57150"/>
            <a:chExt cx="21457310" cy="1191006"/>
          </a:xfrm>
        </p:grpSpPr>
        <p:sp>
          <p:nvSpPr>
            <p:cNvPr id="299" name="Google Shape;299;p4"/>
            <p:cNvSpPr/>
            <p:nvPr/>
          </p:nvSpPr>
          <p:spPr>
            <a:xfrm>
              <a:off x="0" y="0"/>
              <a:ext cx="21457310" cy="1133856"/>
            </a:xfrm>
            <a:custGeom>
              <a:rect b="b" l="l" r="r" t="t"/>
              <a:pathLst>
                <a:path extrusionOk="0" h="1133856" w="21457310">
                  <a:moveTo>
                    <a:pt x="0" y="0"/>
                  </a:moveTo>
                  <a:lnTo>
                    <a:pt x="21457310" y="0"/>
                  </a:lnTo>
                  <a:lnTo>
                    <a:pt x="21457310" y="1133856"/>
                  </a:lnTo>
                  <a:lnTo>
                    <a:pt x="0" y="1133856"/>
                  </a:lnTo>
                  <a:close/>
                </a:path>
              </a:pathLst>
            </a:custGeom>
            <a:blipFill rotWithShape="1">
              <a:blip r:embed="rId3">
                <a:alphaModFix amt="0"/>
              </a:blip>
              <a:stretch>
                <a:fillRect b="-318732" l="0" r="0" t="-318732"/>
              </a:stretch>
            </a:blipFill>
            <a:ln>
              <a:noFill/>
            </a:ln>
          </p:spPr>
        </p:sp>
        <p:sp>
          <p:nvSpPr>
            <p:cNvPr id="300" name="Google Shape;300;p4"/>
            <p:cNvSpPr txBox="1"/>
            <p:nvPr/>
          </p:nvSpPr>
          <p:spPr>
            <a:xfrm>
              <a:off x="0" y="-57150"/>
              <a:ext cx="21457310" cy="1191006"/>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None/>
              </a:pPr>
              <a:r>
                <a:rPr b="1" i="0" lang="en-US" sz="2025" u="none" cap="none" strike="noStrike">
                  <a:solidFill>
                    <a:srgbClr val="FFFFFF"/>
                  </a:solidFill>
                  <a:latin typeface="Calibri"/>
                  <a:ea typeface="Calibri"/>
                  <a:cs typeface="Calibri"/>
                  <a:sym typeface="Calibri"/>
                </a:rPr>
                <a:t>Integraciones externas: </a:t>
              </a:r>
              <a:r>
                <a:rPr b="0" i="0" lang="en-US" sz="2025" u="none" cap="none" strike="noStrike">
                  <a:solidFill>
                    <a:srgbClr val="CCCCCC"/>
                  </a:solidFill>
                  <a:latin typeface="Calibri"/>
                  <a:ea typeface="Calibri"/>
                  <a:cs typeface="Calibri"/>
                  <a:sym typeface="Calibri"/>
                </a:rPr>
                <a:t>registro inmutable de trazas y latencias en la comunicación con sistemas como IMER.</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308" name="Shape 308"/>
        <p:cNvGrpSpPr/>
        <p:nvPr/>
      </p:nvGrpSpPr>
      <p:grpSpPr>
        <a:xfrm>
          <a:off x="0" y="0"/>
          <a:ext cx="0" cy="0"/>
          <a:chOff x="0" y="0"/>
          <a:chExt cx="0" cy="0"/>
        </a:xfrm>
      </p:grpSpPr>
      <p:grpSp>
        <p:nvGrpSpPr>
          <p:cNvPr id="309" name="Google Shape;309;p5"/>
          <p:cNvGrpSpPr/>
          <p:nvPr/>
        </p:nvGrpSpPr>
        <p:grpSpPr>
          <a:xfrm>
            <a:off x="685800" y="415766"/>
            <a:ext cx="16915944" cy="1298734"/>
            <a:chOff x="0" y="-85725"/>
            <a:chExt cx="22554591" cy="1731645"/>
          </a:xfrm>
        </p:grpSpPr>
        <p:sp>
          <p:nvSpPr>
            <p:cNvPr id="310" name="Google Shape;310;p5"/>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311" name="Google Shape;311;p5"/>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VALOR ENTREGADO AL NEGOCIO</a:t>
              </a:r>
              <a:endParaRPr/>
            </a:p>
          </p:txBody>
        </p:sp>
      </p:grpSp>
      <p:sp>
        <p:nvSpPr>
          <p:cNvPr id="312" name="Google Shape;312;p5"/>
          <p:cNvSpPr/>
          <p:nvPr/>
        </p:nvSpPr>
        <p:spPr>
          <a:xfrm>
            <a:off x="1234440" y="3031372"/>
            <a:ext cx="4505096" cy="1994018"/>
          </a:xfrm>
          <a:custGeom>
            <a:rect b="b" l="l" r="r" t="t"/>
            <a:pathLst>
              <a:path extrusionOk="0" h="2658690" w="6006795">
                <a:moveTo>
                  <a:pt x="0" y="177246"/>
                </a:moveTo>
                <a:cubicBezTo>
                  <a:pt x="0" y="79323"/>
                  <a:pt x="67206" y="0"/>
                  <a:pt x="150170" y="0"/>
                </a:cubicBezTo>
                <a:lnTo>
                  <a:pt x="5856625" y="0"/>
                </a:lnTo>
                <a:cubicBezTo>
                  <a:pt x="5939589" y="0"/>
                  <a:pt x="6006795" y="79323"/>
                  <a:pt x="6006795" y="177246"/>
                </a:cubicBezTo>
                <a:lnTo>
                  <a:pt x="6006795" y="2481444"/>
                </a:lnTo>
                <a:cubicBezTo>
                  <a:pt x="6006795" y="2579367"/>
                  <a:pt x="5939589" y="2658690"/>
                  <a:pt x="5856625" y="2658690"/>
                </a:cubicBezTo>
                <a:lnTo>
                  <a:pt x="150170" y="2658690"/>
                </a:lnTo>
                <a:cubicBezTo>
                  <a:pt x="67206" y="2658690"/>
                  <a:pt x="0" y="2579367"/>
                  <a:pt x="0" y="2481444"/>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 name="Google Shape;313;p5"/>
          <p:cNvGrpSpPr/>
          <p:nvPr/>
        </p:nvGrpSpPr>
        <p:grpSpPr>
          <a:xfrm>
            <a:off x="1639792" y="3041884"/>
            <a:ext cx="3895486" cy="1118636"/>
            <a:chOff x="0" y="-114300"/>
            <a:chExt cx="6766560" cy="1943100"/>
          </a:xfrm>
        </p:grpSpPr>
        <p:sp>
          <p:nvSpPr>
            <p:cNvPr id="314" name="Google Shape;314;p5"/>
            <p:cNvSpPr/>
            <p:nvPr/>
          </p:nvSpPr>
          <p:spPr>
            <a:xfrm>
              <a:off x="0" y="0"/>
              <a:ext cx="6766560" cy="1828800"/>
            </a:xfrm>
            <a:custGeom>
              <a:rect b="b" l="l" r="r" t="t"/>
              <a:pathLst>
                <a:path extrusionOk="0" h="1828800" w="6766560">
                  <a:moveTo>
                    <a:pt x="0" y="0"/>
                  </a:moveTo>
                  <a:lnTo>
                    <a:pt x="6766560" y="0"/>
                  </a:lnTo>
                  <a:lnTo>
                    <a:pt x="6766560" y="1828800"/>
                  </a:lnTo>
                  <a:lnTo>
                    <a:pt x="0" y="1828800"/>
                  </a:lnTo>
                  <a:close/>
                </a:path>
              </a:pathLst>
            </a:custGeom>
            <a:blipFill rotWithShape="1">
              <a:blip r:embed="rId3">
                <a:alphaModFix amt="0"/>
              </a:blip>
              <a:stretch>
                <a:fillRect b="-22094" l="0" r="0" t="-22094"/>
              </a:stretch>
            </a:blipFill>
            <a:ln>
              <a:noFill/>
            </a:ln>
          </p:spPr>
        </p:sp>
        <p:sp>
          <p:nvSpPr>
            <p:cNvPr id="315" name="Google Shape;315;p5"/>
            <p:cNvSpPr txBox="1"/>
            <p:nvPr/>
          </p:nvSpPr>
          <p:spPr>
            <a:xfrm>
              <a:off x="0" y="-114300"/>
              <a:ext cx="6766560" cy="19431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2ECC71"/>
                  </a:solidFill>
                  <a:latin typeface="Calibri"/>
                  <a:ea typeface="Calibri"/>
                  <a:cs typeface="Calibri"/>
                  <a:sym typeface="Calibri"/>
                </a:rPr>
                <a:t>71,4%</a:t>
              </a:r>
              <a:endParaRPr/>
            </a:p>
          </p:txBody>
        </p:sp>
      </p:grpSp>
      <p:sp>
        <p:nvSpPr>
          <p:cNvPr id="316" name="Google Shape;316;p5"/>
          <p:cNvSpPr txBox="1"/>
          <p:nvPr/>
        </p:nvSpPr>
        <p:spPr>
          <a:xfrm>
            <a:off x="937031" y="4093845"/>
            <a:ext cx="4892040" cy="1003935"/>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Avance acumulado</a:t>
            </a:r>
            <a:endParaRPr/>
          </a:p>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del proyecto (50/70 CU)</a:t>
            </a:r>
            <a:endParaRPr/>
          </a:p>
        </p:txBody>
      </p:sp>
      <p:sp>
        <p:nvSpPr>
          <p:cNvPr id="317" name="Google Shape;317;p5"/>
          <p:cNvSpPr/>
          <p:nvPr/>
        </p:nvSpPr>
        <p:spPr>
          <a:xfrm>
            <a:off x="6697751" y="3031372"/>
            <a:ext cx="4505096" cy="1994018"/>
          </a:xfrm>
          <a:custGeom>
            <a:rect b="b" l="l" r="r" t="t"/>
            <a:pathLst>
              <a:path extrusionOk="0" h="2658690" w="6006795">
                <a:moveTo>
                  <a:pt x="0" y="177246"/>
                </a:moveTo>
                <a:cubicBezTo>
                  <a:pt x="0" y="79323"/>
                  <a:pt x="67206" y="0"/>
                  <a:pt x="150170" y="0"/>
                </a:cubicBezTo>
                <a:lnTo>
                  <a:pt x="5856625" y="0"/>
                </a:lnTo>
                <a:cubicBezTo>
                  <a:pt x="5939589" y="0"/>
                  <a:pt x="6006795" y="79323"/>
                  <a:pt x="6006795" y="177246"/>
                </a:cubicBezTo>
                <a:lnTo>
                  <a:pt x="6006795" y="2481444"/>
                </a:lnTo>
                <a:cubicBezTo>
                  <a:pt x="6006795" y="2579367"/>
                  <a:pt x="5939589" y="2658690"/>
                  <a:pt x="5856625" y="2658690"/>
                </a:cubicBezTo>
                <a:lnTo>
                  <a:pt x="150170" y="2658690"/>
                </a:lnTo>
                <a:cubicBezTo>
                  <a:pt x="67206" y="2658690"/>
                  <a:pt x="0" y="2579367"/>
                  <a:pt x="0" y="2481444"/>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8" name="Google Shape;318;p5"/>
          <p:cNvGrpSpPr/>
          <p:nvPr/>
        </p:nvGrpSpPr>
        <p:grpSpPr>
          <a:xfrm>
            <a:off x="7044218" y="3065321"/>
            <a:ext cx="3813872" cy="1095200"/>
            <a:chOff x="0" y="-114300"/>
            <a:chExt cx="6766560" cy="1943100"/>
          </a:xfrm>
        </p:grpSpPr>
        <p:sp>
          <p:nvSpPr>
            <p:cNvPr id="319" name="Google Shape;319;p5"/>
            <p:cNvSpPr/>
            <p:nvPr/>
          </p:nvSpPr>
          <p:spPr>
            <a:xfrm>
              <a:off x="0" y="0"/>
              <a:ext cx="6766560" cy="1828800"/>
            </a:xfrm>
            <a:custGeom>
              <a:rect b="b" l="l" r="r" t="t"/>
              <a:pathLst>
                <a:path extrusionOk="0" h="1828800" w="6766560">
                  <a:moveTo>
                    <a:pt x="0" y="0"/>
                  </a:moveTo>
                  <a:lnTo>
                    <a:pt x="6766560" y="0"/>
                  </a:lnTo>
                  <a:lnTo>
                    <a:pt x="6766560" y="1828800"/>
                  </a:lnTo>
                  <a:lnTo>
                    <a:pt x="0" y="1828800"/>
                  </a:lnTo>
                  <a:close/>
                </a:path>
              </a:pathLst>
            </a:custGeom>
            <a:blipFill rotWithShape="1">
              <a:blip r:embed="rId3">
                <a:alphaModFix amt="0"/>
              </a:blip>
              <a:stretch>
                <a:fillRect b="-22094" l="0" r="0" t="-22094"/>
              </a:stretch>
            </a:blipFill>
            <a:ln>
              <a:noFill/>
            </a:ln>
          </p:spPr>
        </p:sp>
        <p:sp>
          <p:nvSpPr>
            <p:cNvPr id="320" name="Google Shape;320;p5"/>
            <p:cNvSpPr txBox="1"/>
            <p:nvPr/>
          </p:nvSpPr>
          <p:spPr>
            <a:xfrm>
              <a:off x="0" y="-114300"/>
              <a:ext cx="6766560" cy="19431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4A9FD5"/>
                  </a:solidFill>
                  <a:latin typeface="Calibri"/>
                  <a:ea typeface="Calibri"/>
                  <a:cs typeface="Calibri"/>
                  <a:sym typeface="Calibri"/>
                </a:rPr>
                <a:t>&lt; 30 seg</a:t>
              </a:r>
              <a:endParaRPr/>
            </a:p>
          </p:txBody>
        </p:sp>
      </p:grpSp>
      <p:sp>
        <p:nvSpPr>
          <p:cNvPr id="321" name="Google Shape;321;p5"/>
          <p:cNvSpPr txBox="1"/>
          <p:nvPr/>
        </p:nvSpPr>
        <p:spPr>
          <a:xfrm>
            <a:off x="6697751" y="4093845"/>
            <a:ext cx="4892040" cy="1003935"/>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Tiempo de reporte</a:t>
            </a:r>
            <a:endParaRPr/>
          </a:p>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vía código QR</a:t>
            </a:r>
            <a:endParaRPr/>
          </a:p>
        </p:txBody>
      </p:sp>
      <p:sp>
        <p:nvSpPr>
          <p:cNvPr id="322" name="Google Shape;322;p5"/>
          <p:cNvSpPr/>
          <p:nvPr/>
        </p:nvSpPr>
        <p:spPr>
          <a:xfrm>
            <a:off x="12367031" y="3031372"/>
            <a:ext cx="4505096" cy="1994018"/>
          </a:xfrm>
          <a:custGeom>
            <a:rect b="b" l="l" r="r" t="t"/>
            <a:pathLst>
              <a:path extrusionOk="0" h="2658690" w="6006795">
                <a:moveTo>
                  <a:pt x="0" y="177246"/>
                </a:moveTo>
                <a:cubicBezTo>
                  <a:pt x="0" y="79323"/>
                  <a:pt x="67206" y="0"/>
                  <a:pt x="150170" y="0"/>
                </a:cubicBezTo>
                <a:lnTo>
                  <a:pt x="5856625" y="0"/>
                </a:lnTo>
                <a:cubicBezTo>
                  <a:pt x="5939589" y="0"/>
                  <a:pt x="6006795" y="79323"/>
                  <a:pt x="6006795" y="177246"/>
                </a:cubicBezTo>
                <a:lnTo>
                  <a:pt x="6006795" y="2481444"/>
                </a:lnTo>
                <a:cubicBezTo>
                  <a:pt x="6006795" y="2579367"/>
                  <a:pt x="5939589" y="2658690"/>
                  <a:pt x="5856625" y="2658690"/>
                </a:cubicBezTo>
                <a:lnTo>
                  <a:pt x="150170" y="2658690"/>
                </a:lnTo>
                <a:cubicBezTo>
                  <a:pt x="67206" y="2658690"/>
                  <a:pt x="0" y="2579367"/>
                  <a:pt x="0" y="2481444"/>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5"/>
          <p:cNvGrpSpPr/>
          <p:nvPr/>
        </p:nvGrpSpPr>
        <p:grpSpPr>
          <a:xfrm>
            <a:off x="12902351" y="3043135"/>
            <a:ext cx="3821400" cy="1097362"/>
            <a:chOff x="0" y="-114300"/>
            <a:chExt cx="6766560" cy="1943100"/>
          </a:xfrm>
        </p:grpSpPr>
        <p:sp>
          <p:nvSpPr>
            <p:cNvPr id="324" name="Google Shape;324;p5"/>
            <p:cNvSpPr/>
            <p:nvPr/>
          </p:nvSpPr>
          <p:spPr>
            <a:xfrm>
              <a:off x="0" y="0"/>
              <a:ext cx="6766560" cy="1828800"/>
            </a:xfrm>
            <a:custGeom>
              <a:rect b="b" l="l" r="r" t="t"/>
              <a:pathLst>
                <a:path extrusionOk="0" h="1828800" w="6766560">
                  <a:moveTo>
                    <a:pt x="0" y="0"/>
                  </a:moveTo>
                  <a:lnTo>
                    <a:pt x="6766560" y="0"/>
                  </a:lnTo>
                  <a:lnTo>
                    <a:pt x="6766560" y="1828800"/>
                  </a:lnTo>
                  <a:lnTo>
                    <a:pt x="0" y="1828800"/>
                  </a:lnTo>
                  <a:close/>
                </a:path>
              </a:pathLst>
            </a:custGeom>
            <a:blipFill rotWithShape="1">
              <a:blip r:embed="rId3">
                <a:alphaModFix amt="0"/>
              </a:blip>
              <a:stretch>
                <a:fillRect b="-22094" l="0" r="0" t="-22094"/>
              </a:stretch>
            </a:blipFill>
            <a:ln>
              <a:noFill/>
            </a:ln>
          </p:spPr>
        </p:sp>
        <p:sp>
          <p:nvSpPr>
            <p:cNvPr id="325" name="Google Shape;325;p5"/>
            <p:cNvSpPr txBox="1"/>
            <p:nvPr/>
          </p:nvSpPr>
          <p:spPr>
            <a:xfrm>
              <a:off x="0" y="-114300"/>
              <a:ext cx="6766560" cy="19431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9B59B6"/>
                  </a:solidFill>
                  <a:latin typeface="Calibri"/>
                  <a:ea typeface="Calibri"/>
                  <a:cs typeface="Calibri"/>
                  <a:sym typeface="Calibri"/>
                </a:rPr>
                <a:t>99,5%</a:t>
              </a:r>
              <a:endParaRPr/>
            </a:p>
          </p:txBody>
        </p:sp>
      </p:grpSp>
      <p:sp>
        <p:nvSpPr>
          <p:cNvPr id="326" name="Google Shape;326;p5"/>
          <p:cNvSpPr txBox="1"/>
          <p:nvPr/>
        </p:nvSpPr>
        <p:spPr>
          <a:xfrm>
            <a:off x="12173560" y="4021455"/>
            <a:ext cx="4892040" cy="1003935"/>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Disponibilidad</a:t>
            </a:r>
            <a:endParaRPr/>
          </a:p>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On-Premise</a:t>
            </a:r>
            <a:endParaRPr/>
          </a:p>
        </p:txBody>
      </p:sp>
      <p:sp>
        <p:nvSpPr>
          <p:cNvPr id="327" name="Google Shape;327;p5"/>
          <p:cNvSpPr/>
          <p:nvPr/>
        </p:nvSpPr>
        <p:spPr>
          <a:xfrm>
            <a:off x="4204335" y="5906711"/>
            <a:ext cx="4505096" cy="1994018"/>
          </a:xfrm>
          <a:custGeom>
            <a:rect b="b" l="l" r="r" t="t"/>
            <a:pathLst>
              <a:path extrusionOk="0" h="2658690" w="6006795">
                <a:moveTo>
                  <a:pt x="0" y="177246"/>
                </a:moveTo>
                <a:cubicBezTo>
                  <a:pt x="0" y="79323"/>
                  <a:pt x="67206" y="0"/>
                  <a:pt x="150170" y="0"/>
                </a:cubicBezTo>
                <a:lnTo>
                  <a:pt x="5856625" y="0"/>
                </a:lnTo>
                <a:cubicBezTo>
                  <a:pt x="5939589" y="0"/>
                  <a:pt x="6006795" y="79323"/>
                  <a:pt x="6006795" y="177246"/>
                </a:cubicBezTo>
                <a:lnTo>
                  <a:pt x="6006795" y="2481444"/>
                </a:lnTo>
                <a:cubicBezTo>
                  <a:pt x="6006795" y="2579367"/>
                  <a:pt x="5939589" y="2658690"/>
                  <a:pt x="5856625" y="2658690"/>
                </a:cubicBezTo>
                <a:lnTo>
                  <a:pt x="150170" y="2658690"/>
                </a:lnTo>
                <a:cubicBezTo>
                  <a:pt x="67206" y="2658690"/>
                  <a:pt x="0" y="2579367"/>
                  <a:pt x="0" y="2481444"/>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 name="Google Shape;328;p5"/>
          <p:cNvGrpSpPr/>
          <p:nvPr/>
        </p:nvGrpSpPr>
        <p:grpSpPr>
          <a:xfrm>
            <a:off x="4560644" y="6020404"/>
            <a:ext cx="3792479" cy="1089056"/>
            <a:chOff x="0" y="-114300"/>
            <a:chExt cx="6766560" cy="1943100"/>
          </a:xfrm>
        </p:grpSpPr>
        <p:sp>
          <p:nvSpPr>
            <p:cNvPr id="329" name="Google Shape;329;p5"/>
            <p:cNvSpPr/>
            <p:nvPr/>
          </p:nvSpPr>
          <p:spPr>
            <a:xfrm>
              <a:off x="0" y="0"/>
              <a:ext cx="6766560" cy="1828800"/>
            </a:xfrm>
            <a:custGeom>
              <a:rect b="b" l="l" r="r" t="t"/>
              <a:pathLst>
                <a:path extrusionOk="0" h="1828800" w="6766560">
                  <a:moveTo>
                    <a:pt x="0" y="0"/>
                  </a:moveTo>
                  <a:lnTo>
                    <a:pt x="6766560" y="0"/>
                  </a:lnTo>
                  <a:lnTo>
                    <a:pt x="6766560" y="1828800"/>
                  </a:lnTo>
                  <a:lnTo>
                    <a:pt x="0" y="1828800"/>
                  </a:lnTo>
                  <a:close/>
                </a:path>
              </a:pathLst>
            </a:custGeom>
            <a:blipFill rotWithShape="1">
              <a:blip r:embed="rId3">
                <a:alphaModFix amt="0"/>
              </a:blip>
              <a:stretch>
                <a:fillRect b="-22094" l="0" r="0" t="-22094"/>
              </a:stretch>
            </a:blipFill>
            <a:ln>
              <a:noFill/>
            </a:ln>
          </p:spPr>
        </p:sp>
        <p:sp>
          <p:nvSpPr>
            <p:cNvPr id="330" name="Google Shape;330;p5"/>
            <p:cNvSpPr txBox="1"/>
            <p:nvPr/>
          </p:nvSpPr>
          <p:spPr>
            <a:xfrm>
              <a:off x="0" y="-114300"/>
              <a:ext cx="6766560" cy="19431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F5C542"/>
                  </a:solidFill>
                  <a:latin typeface="Calibri"/>
                  <a:ea typeface="Calibri"/>
                  <a:cs typeface="Calibri"/>
                  <a:sym typeface="Calibri"/>
                </a:rPr>
                <a:t>&lt; 1,4 seg</a:t>
              </a:r>
              <a:endParaRPr/>
            </a:p>
          </p:txBody>
        </p:sp>
      </p:grpSp>
      <p:sp>
        <p:nvSpPr>
          <p:cNvPr id="331" name="Google Shape;331;p5"/>
          <p:cNvSpPr txBox="1"/>
          <p:nvPr/>
        </p:nvSpPr>
        <p:spPr>
          <a:xfrm>
            <a:off x="4010863" y="7042785"/>
            <a:ext cx="4892040" cy="1003935"/>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Generación de reportes</a:t>
            </a:r>
            <a:endParaRPr/>
          </a:p>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gerenciales complejos</a:t>
            </a:r>
            <a:endParaRPr/>
          </a:p>
        </p:txBody>
      </p:sp>
      <p:sp>
        <p:nvSpPr>
          <p:cNvPr id="332" name="Google Shape;332;p5"/>
          <p:cNvSpPr/>
          <p:nvPr/>
        </p:nvSpPr>
        <p:spPr>
          <a:xfrm>
            <a:off x="9578111" y="5906711"/>
            <a:ext cx="4505096" cy="1994018"/>
          </a:xfrm>
          <a:custGeom>
            <a:rect b="b" l="l" r="r" t="t"/>
            <a:pathLst>
              <a:path extrusionOk="0" h="2658690" w="6006795">
                <a:moveTo>
                  <a:pt x="0" y="177246"/>
                </a:moveTo>
                <a:cubicBezTo>
                  <a:pt x="0" y="79323"/>
                  <a:pt x="67206" y="0"/>
                  <a:pt x="150170" y="0"/>
                </a:cubicBezTo>
                <a:lnTo>
                  <a:pt x="5856625" y="0"/>
                </a:lnTo>
                <a:cubicBezTo>
                  <a:pt x="5939589" y="0"/>
                  <a:pt x="6006795" y="79323"/>
                  <a:pt x="6006795" y="177246"/>
                </a:cubicBezTo>
                <a:lnTo>
                  <a:pt x="6006795" y="2481444"/>
                </a:lnTo>
                <a:cubicBezTo>
                  <a:pt x="6006795" y="2579367"/>
                  <a:pt x="5939589" y="2658690"/>
                  <a:pt x="5856625" y="2658690"/>
                </a:cubicBezTo>
                <a:lnTo>
                  <a:pt x="150170" y="2658690"/>
                </a:lnTo>
                <a:cubicBezTo>
                  <a:pt x="67206" y="2658690"/>
                  <a:pt x="0" y="2579367"/>
                  <a:pt x="0" y="2481444"/>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5"/>
          <p:cNvGrpSpPr/>
          <p:nvPr/>
        </p:nvGrpSpPr>
        <p:grpSpPr>
          <a:xfrm>
            <a:off x="9833592" y="5962495"/>
            <a:ext cx="3994135" cy="1146965"/>
            <a:chOff x="0" y="-114300"/>
            <a:chExt cx="6766560" cy="1943100"/>
          </a:xfrm>
        </p:grpSpPr>
        <p:sp>
          <p:nvSpPr>
            <p:cNvPr id="334" name="Google Shape;334;p5"/>
            <p:cNvSpPr/>
            <p:nvPr/>
          </p:nvSpPr>
          <p:spPr>
            <a:xfrm>
              <a:off x="0" y="0"/>
              <a:ext cx="6766560" cy="1828800"/>
            </a:xfrm>
            <a:custGeom>
              <a:rect b="b" l="l" r="r" t="t"/>
              <a:pathLst>
                <a:path extrusionOk="0" h="1828800" w="6766560">
                  <a:moveTo>
                    <a:pt x="0" y="0"/>
                  </a:moveTo>
                  <a:lnTo>
                    <a:pt x="6766560" y="0"/>
                  </a:lnTo>
                  <a:lnTo>
                    <a:pt x="6766560" y="1828800"/>
                  </a:lnTo>
                  <a:lnTo>
                    <a:pt x="0" y="1828800"/>
                  </a:lnTo>
                  <a:close/>
                </a:path>
              </a:pathLst>
            </a:custGeom>
            <a:blipFill rotWithShape="1">
              <a:blip r:embed="rId3">
                <a:alphaModFix amt="0"/>
              </a:blip>
              <a:stretch>
                <a:fillRect b="-22094" l="0" r="0" t="-22094"/>
              </a:stretch>
            </a:blipFill>
            <a:ln>
              <a:noFill/>
            </a:ln>
          </p:spPr>
        </p:sp>
        <p:sp>
          <p:nvSpPr>
            <p:cNvPr id="335" name="Google Shape;335;p5"/>
            <p:cNvSpPr txBox="1"/>
            <p:nvPr/>
          </p:nvSpPr>
          <p:spPr>
            <a:xfrm>
              <a:off x="0" y="-114300"/>
              <a:ext cx="6766560" cy="19431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E74C3C"/>
                  </a:solidFill>
                  <a:latin typeface="Calibri"/>
                  <a:ea typeface="Calibri"/>
                  <a:cs typeface="Calibri"/>
                  <a:sym typeface="Calibri"/>
                </a:rPr>
                <a:t>75%</a:t>
              </a:r>
              <a:endParaRPr/>
            </a:p>
          </p:txBody>
        </p:sp>
      </p:grpSp>
      <p:sp>
        <p:nvSpPr>
          <p:cNvPr id="336" name="Google Shape;336;p5"/>
          <p:cNvSpPr txBox="1"/>
          <p:nvPr/>
        </p:nvSpPr>
        <p:spPr>
          <a:xfrm>
            <a:off x="9384640" y="6896794"/>
            <a:ext cx="4892040" cy="1003935"/>
          </a:xfrm>
          <a:prstGeom prst="rect">
            <a:avLst/>
          </a:prstGeom>
          <a:noFill/>
          <a:ln>
            <a:noFill/>
          </a:ln>
        </p:spPr>
        <p:txBody>
          <a:bodyPr anchorCtr="0" anchor="t" bIns="0" lIns="0" spcFirstLastPara="1" rIns="0" wrap="square" tIns="0">
            <a:spAutoFit/>
          </a:bodyPr>
          <a:lstStyle/>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Umbral de aviso preventivo</a:t>
            </a:r>
            <a:endParaRPr/>
          </a:p>
          <a:p>
            <a:pPr indent="0" lvl="0" marL="0" marR="0" rtl="0" algn="ctr">
              <a:lnSpc>
                <a:spcPct val="132000"/>
              </a:lnSpc>
              <a:spcBef>
                <a:spcPts val="0"/>
              </a:spcBef>
              <a:spcAft>
                <a:spcPts val="0"/>
              </a:spcAft>
              <a:buNone/>
            </a:pPr>
            <a:r>
              <a:rPr b="0" i="0" lang="en-US" sz="1950" u="none" cap="none" strike="noStrike">
                <a:solidFill>
                  <a:srgbClr val="CCCCCC"/>
                </a:solidFill>
                <a:latin typeface="Calibri"/>
                <a:ea typeface="Calibri"/>
                <a:cs typeface="Calibri"/>
                <a:sym typeface="Calibri"/>
              </a:rPr>
              <a:t>de vencimiento SLA</a:t>
            </a:r>
            <a:endParaRPr/>
          </a:p>
        </p:txBody>
      </p:sp>
      <p:sp>
        <p:nvSpPr>
          <p:cNvPr id="337" name="Google Shape;337;p5"/>
          <p:cNvSpPr/>
          <p:nvPr/>
        </p:nvSpPr>
        <p:spPr>
          <a:xfrm>
            <a:off x="1234440" y="8435340"/>
            <a:ext cx="15818644" cy="13716"/>
          </a:xfrm>
          <a:custGeom>
            <a:rect b="b" l="l" r="r" t="t"/>
            <a:pathLst>
              <a:path extrusionOk="0" h="18288" w="21091525">
                <a:moveTo>
                  <a:pt x="0" y="0"/>
                </a:moveTo>
                <a:lnTo>
                  <a:pt x="21091525" y="0"/>
                </a:lnTo>
                <a:lnTo>
                  <a:pt x="21091525" y="18288"/>
                </a:lnTo>
                <a:lnTo>
                  <a:pt x="0" y="18288"/>
                </a:lnTo>
                <a:close/>
              </a:path>
            </a:pathLst>
          </a:custGeom>
          <a:solidFill>
            <a:srgbClr val="333B5C"/>
          </a:solidFill>
          <a:ln>
            <a:noFill/>
          </a:ln>
        </p:spPr>
      </p:sp>
      <p:grpSp>
        <p:nvGrpSpPr>
          <p:cNvPr id="338" name="Google Shape;338;p5"/>
          <p:cNvGrpSpPr/>
          <p:nvPr/>
        </p:nvGrpSpPr>
        <p:grpSpPr>
          <a:xfrm>
            <a:off x="1234440" y="8681085"/>
            <a:ext cx="15818663" cy="714375"/>
            <a:chOff x="0" y="-38100"/>
            <a:chExt cx="21091550" cy="952500"/>
          </a:xfrm>
        </p:grpSpPr>
        <p:sp>
          <p:nvSpPr>
            <p:cNvPr id="339" name="Google Shape;339;p5"/>
            <p:cNvSpPr/>
            <p:nvPr/>
          </p:nvSpPr>
          <p:spPr>
            <a:xfrm>
              <a:off x="0" y="0"/>
              <a:ext cx="21091550" cy="914400"/>
            </a:xfrm>
            <a:custGeom>
              <a:rect b="b" l="l" r="r" t="t"/>
              <a:pathLst>
                <a:path extrusionOk="0" h="914400" w="21091550">
                  <a:moveTo>
                    <a:pt x="0" y="0"/>
                  </a:moveTo>
                  <a:lnTo>
                    <a:pt x="21091550" y="0"/>
                  </a:lnTo>
                  <a:lnTo>
                    <a:pt x="21091550" y="914400"/>
                  </a:lnTo>
                  <a:lnTo>
                    <a:pt x="0" y="914400"/>
                  </a:lnTo>
                  <a:close/>
                </a:path>
              </a:pathLst>
            </a:custGeom>
            <a:blipFill rotWithShape="1">
              <a:blip r:embed="rId3">
                <a:alphaModFix amt="0"/>
              </a:blip>
              <a:stretch>
                <a:fillRect b="-399478" l="0" r="0" t="-399478"/>
              </a:stretch>
            </a:blipFill>
            <a:ln>
              <a:noFill/>
            </a:ln>
          </p:spPr>
        </p:sp>
        <p:sp>
          <p:nvSpPr>
            <p:cNvPr id="340" name="Google Shape;340;p5"/>
            <p:cNvSpPr txBox="1"/>
            <p:nvPr/>
          </p:nvSpPr>
          <p:spPr>
            <a:xfrm>
              <a:off x="0" y="-38100"/>
              <a:ext cx="21091550" cy="952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1" lang="en-US" sz="1875" u="none" cap="none" strike="noStrike">
                  <a:solidFill>
                    <a:srgbClr val="8A94B0"/>
                  </a:solidFill>
                  <a:latin typeface="Calibri"/>
                  <a:ea typeface="Calibri"/>
                  <a:cs typeface="Calibri"/>
                  <a:sym typeface="Calibri"/>
                </a:rPr>
                <a:t>Control de costos de hardware · Transparencia en SLA · Reducción de puntos ciegos · Agilidad en terreno</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348" name="Shape 348"/>
        <p:cNvGrpSpPr/>
        <p:nvPr/>
      </p:nvGrpSpPr>
      <p:grpSpPr>
        <a:xfrm>
          <a:off x="0" y="0"/>
          <a:ext cx="0" cy="0"/>
          <a:chOff x="0" y="0"/>
          <a:chExt cx="0" cy="0"/>
        </a:xfrm>
      </p:grpSpPr>
      <p:grpSp>
        <p:nvGrpSpPr>
          <p:cNvPr id="349" name="Google Shape;349;p6"/>
          <p:cNvGrpSpPr/>
          <p:nvPr/>
        </p:nvGrpSpPr>
        <p:grpSpPr>
          <a:xfrm>
            <a:off x="685800" y="415766"/>
            <a:ext cx="16915944" cy="1298734"/>
            <a:chOff x="0" y="-85725"/>
            <a:chExt cx="22554591" cy="1731645"/>
          </a:xfrm>
        </p:grpSpPr>
        <p:sp>
          <p:nvSpPr>
            <p:cNvPr id="350" name="Google Shape;350;p6"/>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351" name="Google Shape;351;p6"/>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ALCANCE FUNCIONAL DEL INCREMENTO</a:t>
              </a:r>
              <a:endParaRPr/>
            </a:p>
          </p:txBody>
        </p:sp>
      </p:grpSp>
      <p:sp>
        <p:nvSpPr>
          <p:cNvPr id="352" name="Google Shape;352;p6"/>
          <p:cNvSpPr/>
          <p:nvPr/>
        </p:nvSpPr>
        <p:spPr>
          <a:xfrm>
            <a:off x="685800" y="1947672"/>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
          <p:cNvSpPr/>
          <p:nvPr/>
        </p:nvSpPr>
        <p:spPr>
          <a:xfrm>
            <a:off x="987552" y="2276856"/>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opex.png" id="354" name="Google Shape;354;p6"/>
          <p:cNvSpPr/>
          <p:nvPr/>
        </p:nvSpPr>
        <p:spPr>
          <a:xfrm>
            <a:off x="1087403" y="2376707"/>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4">
              <a:alphaModFix/>
            </a:blip>
            <a:stretch>
              <a:fillRect b="-6" l="0" r="-6" t="0"/>
            </a:stretch>
          </a:blipFill>
          <a:ln>
            <a:noFill/>
          </a:ln>
        </p:spPr>
      </p:sp>
      <p:sp>
        <p:nvSpPr>
          <p:cNvPr id="355" name="Google Shape;355;p6"/>
          <p:cNvSpPr txBox="1"/>
          <p:nvPr/>
        </p:nvSpPr>
        <p:spPr>
          <a:xfrm>
            <a:off x="2080260" y="2165223"/>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Control Financiero e Inventario (OPEX)</a:t>
            </a:r>
            <a:endParaRPr/>
          </a:p>
        </p:txBody>
      </p:sp>
      <p:sp>
        <p:nvSpPr>
          <p:cNvPr id="356" name="Google Shape;356;p6"/>
          <p:cNvSpPr txBox="1"/>
          <p:nvPr/>
        </p:nvSpPr>
        <p:spPr>
          <a:xfrm>
            <a:off x="2080260" y="2804541"/>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Catálogo de repuestos, descuento automático de stock e imputación de costos por ticket.</a:t>
            </a:r>
            <a:endParaRPr/>
          </a:p>
        </p:txBody>
      </p:sp>
      <p:sp>
        <p:nvSpPr>
          <p:cNvPr id="357" name="Google Shape;357;p6"/>
          <p:cNvSpPr/>
          <p:nvPr/>
        </p:nvSpPr>
        <p:spPr>
          <a:xfrm>
            <a:off x="9418091" y="1947672"/>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
          <p:cNvSpPr/>
          <p:nvPr/>
        </p:nvSpPr>
        <p:spPr>
          <a:xfrm>
            <a:off x="9719843" y="2276856"/>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sla.png" id="359" name="Google Shape;359;p6"/>
          <p:cNvSpPr/>
          <p:nvPr/>
        </p:nvSpPr>
        <p:spPr>
          <a:xfrm>
            <a:off x="9819694" y="2376707"/>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5">
              <a:alphaModFix/>
            </a:blip>
            <a:stretch>
              <a:fillRect b="-6" l="0" r="-6" t="0"/>
            </a:stretch>
          </a:blipFill>
          <a:ln>
            <a:noFill/>
          </a:ln>
        </p:spPr>
      </p:sp>
      <p:sp>
        <p:nvSpPr>
          <p:cNvPr id="360" name="Google Shape;360;p6"/>
          <p:cNvSpPr txBox="1"/>
          <p:nvPr/>
        </p:nvSpPr>
        <p:spPr>
          <a:xfrm>
            <a:off x="10812551" y="2165223"/>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Motor Avanzado de SLA y Tiempos</a:t>
            </a:r>
            <a:endParaRPr/>
          </a:p>
        </p:txBody>
      </p:sp>
      <p:sp>
        <p:nvSpPr>
          <p:cNvPr id="361" name="Google Shape;361;p6"/>
          <p:cNvSpPr txBox="1"/>
          <p:nvPr/>
        </p:nvSpPr>
        <p:spPr>
          <a:xfrm>
            <a:off x="10812551" y="2804541"/>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Ventanas operativas, calendario de feriados, pausa justificada y aviso preventivo al 75%.</a:t>
            </a:r>
            <a:endParaRPr/>
          </a:p>
        </p:txBody>
      </p:sp>
      <p:sp>
        <p:nvSpPr>
          <p:cNvPr id="362" name="Google Shape;362;p6"/>
          <p:cNvSpPr/>
          <p:nvPr/>
        </p:nvSpPr>
        <p:spPr>
          <a:xfrm>
            <a:off x="685800" y="4608576"/>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
          <p:cNvSpPr/>
          <p:nvPr/>
        </p:nvSpPr>
        <p:spPr>
          <a:xfrm>
            <a:off x="987552" y="4937760"/>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qr.png" id="364" name="Google Shape;364;p6"/>
          <p:cNvSpPr/>
          <p:nvPr/>
        </p:nvSpPr>
        <p:spPr>
          <a:xfrm>
            <a:off x="1087403" y="5037611"/>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6">
              <a:alphaModFix/>
            </a:blip>
            <a:stretch>
              <a:fillRect b="-6" l="0" r="-6" t="0"/>
            </a:stretch>
          </a:blipFill>
          <a:ln>
            <a:noFill/>
          </a:ln>
        </p:spPr>
      </p:sp>
      <p:sp>
        <p:nvSpPr>
          <p:cNvPr id="365" name="Google Shape;365;p6"/>
          <p:cNvSpPr txBox="1"/>
          <p:nvPr/>
        </p:nvSpPr>
        <p:spPr>
          <a:xfrm>
            <a:off x="2080260" y="4826127"/>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Gestión Física de Activos vía QR</a:t>
            </a:r>
            <a:endParaRPr/>
          </a:p>
        </p:txBody>
      </p:sp>
      <p:sp>
        <p:nvSpPr>
          <p:cNvPr id="366" name="Google Shape;366;p6"/>
          <p:cNvSpPr txBox="1"/>
          <p:nvPr/>
        </p:nvSpPr>
        <p:spPr>
          <a:xfrm>
            <a:off x="2080260" y="5465445"/>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Etiquetas QR en equipos para reporte y precarga automática de datos del formulario.</a:t>
            </a:r>
            <a:endParaRPr/>
          </a:p>
        </p:txBody>
      </p:sp>
      <p:sp>
        <p:nvSpPr>
          <p:cNvPr id="367" name="Google Shape;367;p6"/>
          <p:cNvSpPr/>
          <p:nvPr/>
        </p:nvSpPr>
        <p:spPr>
          <a:xfrm>
            <a:off x="9418091" y="4608576"/>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
          <p:cNvSpPr/>
          <p:nvPr/>
        </p:nvSpPr>
        <p:spPr>
          <a:xfrm>
            <a:off x="9719843" y="4937760"/>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bi.png" id="369" name="Google Shape;369;p6"/>
          <p:cNvSpPr/>
          <p:nvPr/>
        </p:nvSpPr>
        <p:spPr>
          <a:xfrm>
            <a:off x="9819694" y="5037611"/>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7">
              <a:alphaModFix/>
            </a:blip>
            <a:stretch>
              <a:fillRect b="-6" l="0" r="-6" t="0"/>
            </a:stretch>
          </a:blipFill>
          <a:ln>
            <a:noFill/>
          </a:ln>
        </p:spPr>
      </p:sp>
      <p:sp>
        <p:nvSpPr>
          <p:cNvPr id="370" name="Google Shape;370;p6"/>
          <p:cNvSpPr txBox="1"/>
          <p:nvPr/>
        </p:nvSpPr>
        <p:spPr>
          <a:xfrm>
            <a:off x="10812551" y="4826127"/>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Inteligencia de Negocios y Reportería</a:t>
            </a:r>
            <a:endParaRPr/>
          </a:p>
        </p:txBody>
      </p:sp>
      <p:sp>
        <p:nvSpPr>
          <p:cNvPr id="371" name="Google Shape;371;p6"/>
          <p:cNvSpPr txBox="1"/>
          <p:nvPr/>
        </p:nvSpPr>
        <p:spPr>
          <a:xfrm>
            <a:off x="10812551" y="5465445"/>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Mapa de calor por piso/área, informes de desempeño técnico y exportación Excel/PDF.</a:t>
            </a:r>
            <a:endParaRPr/>
          </a:p>
        </p:txBody>
      </p:sp>
      <p:sp>
        <p:nvSpPr>
          <p:cNvPr id="372" name="Google Shape;372;p6"/>
          <p:cNvSpPr/>
          <p:nvPr/>
        </p:nvSpPr>
        <p:spPr>
          <a:xfrm>
            <a:off x="685800" y="7269480"/>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
          <p:cNvSpPr/>
          <p:nvPr/>
        </p:nvSpPr>
        <p:spPr>
          <a:xfrm>
            <a:off x="987552" y="7598664"/>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integra.png" id="374" name="Google Shape;374;p6"/>
          <p:cNvSpPr/>
          <p:nvPr/>
        </p:nvSpPr>
        <p:spPr>
          <a:xfrm>
            <a:off x="1087403" y="7698515"/>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8">
              <a:alphaModFix/>
            </a:blip>
            <a:stretch>
              <a:fillRect b="-6" l="0" r="-6" t="0"/>
            </a:stretch>
          </a:blipFill>
          <a:ln>
            <a:noFill/>
          </a:ln>
        </p:spPr>
      </p:sp>
      <p:sp>
        <p:nvSpPr>
          <p:cNvPr id="375" name="Google Shape;375;p6"/>
          <p:cNvSpPr txBox="1"/>
          <p:nvPr/>
        </p:nvSpPr>
        <p:spPr>
          <a:xfrm>
            <a:off x="2080260" y="7487031"/>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Integraciones Externas y Evidencias</a:t>
            </a:r>
            <a:endParaRPr/>
          </a:p>
        </p:txBody>
      </p:sp>
      <p:sp>
        <p:nvSpPr>
          <p:cNvPr id="376" name="Google Shape;376;p6"/>
          <p:cNvSpPr txBox="1"/>
          <p:nvPr/>
        </p:nvSpPr>
        <p:spPr>
          <a:xfrm>
            <a:off x="2080260" y="8126349"/>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Trazabilidad de fallas con proveedores como IMER y descarga masiva de adjuntos en .ZIP.</a:t>
            </a:r>
            <a:endParaRPr/>
          </a:p>
        </p:txBody>
      </p:sp>
      <p:sp>
        <p:nvSpPr>
          <p:cNvPr id="377" name="Google Shape;377;p6"/>
          <p:cNvSpPr/>
          <p:nvPr/>
        </p:nvSpPr>
        <p:spPr>
          <a:xfrm>
            <a:off x="9418091" y="7269480"/>
            <a:ext cx="8183689" cy="2221992"/>
          </a:xfrm>
          <a:custGeom>
            <a:rect b="b" l="l" r="r" t="t"/>
            <a:pathLst>
              <a:path extrusionOk="0" h="2962656" w="10911586">
                <a:moveTo>
                  <a:pt x="0" y="146304"/>
                </a:moveTo>
                <a:cubicBezTo>
                  <a:pt x="0" y="65532"/>
                  <a:pt x="65532" y="0"/>
                  <a:pt x="146304" y="0"/>
                </a:cubicBezTo>
                <a:lnTo>
                  <a:pt x="10765282" y="0"/>
                </a:lnTo>
                <a:cubicBezTo>
                  <a:pt x="10846053" y="0"/>
                  <a:pt x="10911586" y="65532"/>
                  <a:pt x="10911586" y="146304"/>
                </a:cubicBezTo>
                <a:lnTo>
                  <a:pt x="10911586" y="2816352"/>
                </a:lnTo>
                <a:cubicBezTo>
                  <a:pt x="10911586" y="2897124"/>
                  <a:pt x="10846053" y="2962656"/>
                  <a:pt x="10765282" y="2962656"/>
                </a:cubicBezTo>
                <a:lnTo>
                  <a:pt x="146304" y="2962656"/>
                </a:lnTo>
                <a:cubicBezTo>
                  <a:pt x="65532" y="2962656"/>
                  <a:pt x="0" y="2897124"/>
                  <a:pt x="0" y="2816352"/>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6"/>
          <p:cNvSpPr/>
          <p:nvPr/>
        </p:nvSpPr>
        <p:spPr>
          <a:xfrm>
            <a:off x="9719843" y="7598664"/>
            <a:ext cx="768096" cy="768096"/>
          </a:xfrm>
          <a:custGeom>
            <a:rect b="b" l="l" r="r" t="t"/>
            <a:pathLst>
              <a:path extrusionOk="0"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notas.png" id="379" name="Google Shape;379;p6"/>
          <p:cNvSpPr/>
          <p:nvPr/>
        </p:nvSpPr>
        <p:spPr>
          <a:xfrm>
            <a:off x="9819694" y="7698515"/>
            <a:ext cx="568357" cy="568357"/>
          </a:xfrm>
          <a:custGeom>
            <a:rect b="b" l="l" r="r" t="t"/>
            <a:pathLst>
              <a:path extrusionOk="0" h="757809" w="757809">
                <a:moveTo>
                  <a:pt x="0" y="0"/>
                </a:moveTo>
                <a:lnTo>
                  <a:pt x="757809" y="0"/>
                </a:lnTo>
                <a:lnTo>
                  <a:pt x="757809" y="757809"/>
                </a:lnTo>
                <a:lnTo>
                  <a:pt x="0" y="757809"/>
                </a:lnTo>
                <a:lnTo>
                  <a:pt x="0" y="0"/>
                </a:lnTo>
                <a:close/>
              </a:path>
            </a:pathLst>
          </a:custGeom>
          <a:blipFill rotWithShape="1">
            <a:blip r:embed="rId9">
              <a:alphaModFix/>
            </a:blip>
            <a:stretch>
              <a:fillRect b="-6" l="0" r="-6" t="0"/>
            </a:stretch>
          </a:blipFill>
          <a:ln>
            <a:noFill/>
          </a:ln>
        </p:spPr>
      </p:sp>
      <p:sp>
        <p:nvSpPr>
          <p:cNvPr id="380" name="Google Shape;380;p6"/>
          <p:cNvSpPr txBox="1"/>
          <p:nvPr/>
        </p:nvSpPr>
        <p:spPr>
          <a:xfrm>
            <a:off x="10812551" y="7487031"/>
            <a:ext cx="6423431" cy="6419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Notas Técnicas y Reapertura</a:t>
            </a:r>
            <a:endParaRPr/>
          </a:p>
        </p:txBody>
      </p:sp>
      <p:sp>
        <p:nvSpPr>
          <p:cNvPr id="381" name="Google Shape;381;p6"/>
          <p:cNvSpPr txBox="1"/>
          <p:nvPr/>
        </p:nvSpPr>
        <p:spPr>
          <a:xfrm>
            <a:off x="10812551" y="8126349"/>
            <a:ext cx="6423431" cy="1141095"/>
          </a:xfrm>
          <a:prstGeom prst="rect">
            <a:avLst/>
          </a:prstGeom>
          <a:noFill/>
          <a:ln>
            <a:noFill/>
          </a:ln>
        </p:spPr>
        <p:txBody>
          <a:bodyPr anchorCtr="0" anchor="t" bIns="0" lIns="0" spcFirstLastPara="1" rIns="0" wrap="square" tIns="0">
            <a:spAutoFit/>
          </a:bodyPr>
          <a:lstStyle/>
          <a:p>
            <a:pPr indent="0" lvl="0" marL="0" marR="0" rtl="0" algn="l">
              <a:lnSpc>
                <a:spcPct val="134376"/>
              </a:lnSpc>
              <a:spcBef>
                <a:spcPts val="0"/>
              </a:spcBef>
              <a:spcAft>
                <a:spcPts val="0"/>
              </a:spcAft>
              <a:buNone/>
            </a:pPr>
            <a:r>
              <a:rPr b="0" i="0" lang="en-US" sz="1725" u="none" cap="none" strike="noStrike">
                <a:solidFill>
                  <a:srgbClr val="CCCCCC"/>
                </a:solidFill>
                <a:latin typeface="Calibri"/>
                <a:ea typeface="Calibri"/>
                <a:cs typeface="Calibri"/>
                <a:sym typeface="Calibri"/>
              </a:rPr>
              <a:t>Comentarios internos restringidos a TI y reapertura justificada de tickets resueltos.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389" name="Shape 389"/>
        <p:cNvGrpSpPr/>
        <p:nvPr/>
      </p:nvGrpSpPr>
      <p:grpSpPr>
        <a:xfrm>
          <a:off x="0" y="0"/>
          <a:ext cx="0" cy="0"/>
          <a:chOff x="0" y="0"/>
          <a:chExt cx="0" cy="0"/>
        </a:xfrm>
      </p:grpSpPr>
      <p:grpSp>
        <p:nvGrpSpPr>
          <p:cNvPr id="390" name="Google Shape;390;p7"/>
          <p:cNvGrpSpPr/>
          <p:nvPr/>
        </p:nvGrpSpPr>
        <p:grpSpPr>
          <a:xfrm>
            <a:off x="685800" y="415766"/>
            <a:ext cx="16915944" cy="1298734"/>
            <a:chOff x="0" y="-85725"/>
            <a:chExt cx="22554591" cy="1731645"/>
          </a:xfrm>
        </p:grpSpPr>
        <p:sp>
          <p:nvSpPr>
            <p:cNvPr id="391" name="Google Shape;391;p7"/>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392" name="Google Shape;392;p7"/>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REQUERIMIENTOS FUNCIONALES — FORMATO ESA</a:t>
              </a:r>
              <a:endParaRPr/>
            </a:p>
          </p:txBody>
        </p:sp>
      </p:grpSp>
      <p:grpSp>
        <p:nvGrpSpPr>
          <p:cNvPr id="393" name="Google Shape;393;p7"/>
          <p:cNvGrpSpPr/>
          <p:nvPr/>
        </p:nvGrpSpPr>
        <p:grpSpPr>
          <a:xfrm>
            <a:off x="822960" y="1705642"/>
            <a:ext cx="16641623" cy="900398"/>
            <a:chOff x="0" y="-66675"/>
            <a:chExt cx="22188830" cy="1200531"/>
          </a:xfrm>
        </p:grpSpPr>
        <p:sp>
          <p:nvSpPr>
            <p:cNvPr id="394" name="Google Shape;394;p7"/>
            <p:cNvSpPr/>
            <p:nvPr/>
          </p:nvSpPr>
          <p:spPr>
            <a:xfrm>
              <a:off x="0" y="0"/>
              <a:ext cx="22188830" cy="1133856"/>
            </a:xfrm>
            <a:custGeom>
              <a:rect b="b" l="l" r="r" t="t"/>
              <a:pathLst>
                <a:path extrusionOk="0" h="1133856" w="22188830">
                  <a:moveTo>
                    <a:pt x="0" y="0"/>
                  </a:moveTo>
                  <a:lnTo>
                    <a:pt x="22188830" y="0"/>
                  </a:lnTo>
                  <a:lnTo>
                    <a:pt x="22188830" y="1133856"/>
                  </a:lnTo>
                  <a:lnTo>
                    <a:pt x="0" y="1133856"/>
                  </a:lnTo>
                  <a:close/>
                </a:path>
              </a:pathLst>
            </a:custGeom>
            <a:blipFill rotWithShape="1">
              <a:blip r:embed="rId3">
                <a:alphaModFix amt="0"/>
              </a:blip>
              <a:stretch>
                <a:fillRect b="-331330" l="0" r="0" t="-331330"/>
              </a:stretch>
            </a:blipFill>
            <a:ln>
              <a:noFill/>
            </a:ln>
          </p:spPr>
        </p:sp>
        <p:sp>
          <p:nvSpPr>
            <p:cNvPr id="395" name="Google Shape;395;p7"/>
            <p:cNvSpPr txBox="1"/>
            <p:nvPr/>
          </p:nvSpPr>
          <p:spPr>
            <a:xfrm>
              <a:off x="0" y="-66675"/>
              <a:ext cx="22188830" cy="1200531"/>
            </a:xfrm>
            <a:prstGeom prst="rect">
              <a:avLst/>
            </a:prstGeom>
            <a:noFill/>
            <a:ln>
              <a:noFill/>
            </a:ln>
          </p:spPr>
          <p:txBody>
            <a:bodyPr anchorCtr="0" anchor="ctr" bIns="0" lIns="0" spcFirstLastPara="1" rIns="0" wrap="square" tIns="0">
              <a:noAutofit/>
            </a:bodyPr>
            <a:lstStyle/>
            <a:p>
              <a:pPr indent="0" lvl="0" marL="0" marR="0" rtl="0" algn="l">
                <a:lnSpc>
                  <a:spcPct val="137975"/>
                </a:lnSpc>
                <a:spcBef>
                  <a:spcPts val="0"/>
                </a:spcBef>
                <a:spcAft>
                  <a:spcPts val="0"/>
                </a:spcAft>
                <a:buNone/>
              </a:pPr>
              <a:r>
                <a:rPr b="0" i="0" lang="en-US" sz="2025" u="none" cap="none" strike="noStrike">
                  <a:solidFill>
                    <a:srgbClr val="CCCCCC"/>
                  </a:solidFill>
                  <a:latin typeface="Calibri"/>
                  <a:ea typeface="Calibri"/>
                  <a:cs typeface="Calibri"/>
                  <a:sym typeface="Calibri"/>
                </a:rPr>
                <a:t>El Formato ESA evalúa cada requerimiento nuevo según cinco dimensiones: necesidad, prioridad, estabilidad, claridad y verificabilidad, garantizando trazabilidad desde el levantamiento hasta las pruebas.</a:t>
              </a:r>
              <a:endParaRPr/>
            </a:p>
          </p:txBody>
        </p:sp>
      </p:grpSp>
      <p:sp>
        <p:nvSpPr>
          <p:cNvPr id="396" name="Google Shape;396;p7"/>
          <p:cNvSpPr/>
          <p:nvPr/>
        </p:nvSpPr>
        <p:spPr>
          <a:xfrm>
            <a:off x="822960" y="2715768"/>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 name="Google Shape;397;p7"/>
          <p:cNvGrpSpPr/>
          <p:nvPr/>
        </p:nvGrpSpPr>
        <p:grpSpPr>
          <a:xfrm>
            <a:off x="1234440" y="2597753"/>
            <a:ext cx="2194560" cy="515779"/>
            <a:chOff x="0" y="-47625"/>
            <a:chExt cx="2926080" cy="687705"/>
          </a:xfrm>
        </p:grpSpPr>
        <p:sp>
          <p:nvSpPr>
            <p:cNvPr id="398" name="Google Shape;398;p7"/>
            <p:cNvSpPr/>
            <p:nvPr/>
          </p:nvSpPr>
          <p:spPr>
            <a:xfrm>
              <a:off x="0" y="0"/>
              <a:ext cx="2926080" cy="640080"/>
            </a:xfrm>
            <a:custGeom>
              <a:rect b="b" l="l" r="r" t="t"/>
              <a:pathLst>
                <a:path extrusionOk="0" h="640080" w="2926080">
                  <a:moveTo>
                    <a:pt x="0" y="0"/>
                  </a:moveTo>
                  <a:lnTo>
                    <a:pt x="2926080" y="0"/>
                  </a:lnTo>
                  <a:lnTo>
                    <a:pt x="2926080" y="640080"/>
                  </a:lnTo>
                  <a:lnTo>
                    <a:pt x="0" y="640080"/>
                  </a:lnTo>
                  <a:close/>
                </a:path>
              </a:pathLst>
            </a:custGeom>
            <a:blipFill rotWithShape="1">
              <a:blip r:embed="rId3">
                <a:alphaModFix amt="0"/>
              </a:blip>
              <a:stretch>
                <a:fillRect b="-39073" l="0" r="0" t="-39073"/>
              </a:stretch>
            </a:blipFill>
            <a:ln>
              <a:noFill/>
            </a:ln>
          </p:spPr>
        </p:sp>
        <p:sp>
          <p:nvSpPr>
            <p:cNvPr id="399" name="Google Shape;399;p7"/>
            <p:cNvSpPr txBox="1"/>
            <p:nvPr/>
          </p:nvSpPr>
          <p:spPr>
            <a:xfrm>
              <a:off x="0" y="-47625"/>
              <a:ext cx="2926080" cy="6877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FFFFFF"/>
                  </a:solidFill>
                  <a:latin typeface="Calibri"/>
                  <a:ea typeface="Calibri"/>
                  <a:cs typeface="Calibri"/>
                  <a:sym typeface="Calibri"/>
                </a:rPr>
                <a:t>1 = Alta</a:t>
              </a:r>
              <a:endParaRPr/>
            </a:p>
          </p:txBody>
        </p:sp>
      </p:grpSp>
      <p:sp>
        <p:nvSpPr>
          <p:cNvPr id="400" name="Google Shape;400;p7"/>
          <p:cNvSpPr/>
          <p:nvPr/>
        </p:nvSpPr>
        <p:spPr>
          <a:xfrm>
            <a:off x="3429000" y="2715768"/>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 name="Google Shape;401;p7"/>
          <p:cNvGrpSpPr/>
          <p:nvPr/>
        </p:nvGrpSpPr>
        <p:grpSpPr>
          <a:xfrm>
            <a:off x="3840480" y="2597753"/>
            <a:ext cx="2194560" cy="515779"/>
            <a:chOff x="0" y="-47625"/>
            <a:chExt cx="2926080" cy="687705"/>
          </a:xfrm>
        </p:grpSpPr>
        <p:sp>
          <p:nvSpPr>
            <p:cNvPr id="402" name="Google Shape;402;p7"/>
            <p:cNvSpPr/>
            <p:nvPr/>
          </p:nvSpPr>
          <p:spPr>
            <a:xfrm>
              <a:off x="0" y="0"/>
              <a:ext cx="2926080" cy="640080"/>
            </a:xfrm>
            <a:custGeom>
              <a:rect b="b" l="l" r="r" t="t"/>
              <a:pathLst>
                <a:path extrusionOk="0" h="640080" w="2926080">
                  <a:moveTo>
                    <a:pt x="0" y="0"/>
                  </a:moveTo>
                  <a:lnTo>
                    <a:pt x="2926080" y="0"/>
                  </a:lnTo>
                  <a:lnTo>
                    <a:pt x="2926080" y="640080"/>
                  </a:lnTo>
                  <a:lnTo>
                    <a:pt x="0" y="640080"/>
                  </a:lnTo>
                  <a:close/>
                </a:path>
              </a:pathLst>
            </a:custGeom>
            <a:blipFill rotWithShape="1">
              <a:blip r:embed="rId3">
                <a:alphaModFix amt="0"/>
              </a:blip>
              <a:stretch>
                <a:fillRect b="-39073" l="0" r="0" t="-39073"/>
              </a:stretch>
            </a:blipFill>
            <a:ln>
              <a:noFill/>
            </a:ln>
          </p:spPr>
        </p:sp>
        <p:sp>
          <p:nvSpPr>
            <p:cNvPr id="403" name="Google Shape;403;p7"/>
            <p:cNvSpPr txBox="1"/>
            <p:nvPr/>
          </p:nvSpPr>
          <p:spPr>
            <a:xfrm>
              <a:off x="0" y="-47625"/>
              <a:ext cx="2926080" cy="6877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FFFFFF"/>
                  </a:solidFill>
                  <a:latin typeface="Calibri"/>
                  <a:ea typeface="Calibri"/>
                  <a:cs typeface="Calibri"/>
                  <a:sym typeface="Calibri"/>
                </a:rPr>
                <a:t>2 = Media</a:t>
              </a:r>
              <a:endParaRPr/>
            </a:p>
          </p:txBody>
        </p:sp>
      </p:grpSp>
      <p:sp>
        <p:nvSpPr>
          <p:cNvPr id="404" name="Google Shape;404;p7"/>
          <p:cNvSpPr/>
          <p:nvPr/>
        </p:nvSpPr>
        <p:spPr>
          <a:xfrm>
            <a:off x="6035040" y="2715768"/>
            <a:ext cx="301752" cy="301752"/>
          </a:xfrm>
          <a:custGeom>
            <a:rect b="b" l="l" r="r" t="t"/>
            <a:pathLst>
              <a:path extrusionOk="0"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7"/>
          <p:cNvGrpSpPr/>
          <p:nvPr/>
        </p:nvGrpSpPr>
        <p:grpSpPr>
          <a:xfrm>
            <a:off x="6446520" y="2597753"/>
            <a:ext cx="2194560" cy="515779"/>
            <a:chOff x="0" y="-47625"/>
            <a:chExt cx="2926080" cy="687705"/>
          </a:xfrm>
        </p:grpSpPr>
        <p:sp>
          <p:nvSpPr>
            <p:cNvPr id="406" name="Google Shape;406;p7"/>
            <p:cNvSpPr/>
            <p:nvPr/>
          </p:nvSpPr>
          <p:spPr>
            <a:xfrm>
              <a:off x="0" y="0"/>
              <a:ext cx="2926080" cy="640080"/>
            </a:xfrm>
            <a:custGeom>
              <a:rect b="b" l="l" r="r" t="t"/>
              <a:pathLst>
                <a:path extrusionOk="0" h="640080" w="2926080">
                  <a:moveTo>
                    <a:pt x="0" y="0"/>
                  </a:moveTo>
                  <a:lnTo>
                    <a:pt x="2926080" y="0"/>
                  </a:lnTo>
                  <a:lnTo>
                    <a:pt x="2926080" y="640080"/>
                  </a:lnTo>
                  <a:lnTo>
                    <a:pt x="0" y="640080"/>
                  </a:lnTo>
                  <a:close/>
                </a:path>
              </a:pathLst>
            </a:custGeom>
            <a:blipFill rotWithShape="1">
              <a:blip r:embed="rId3">
                <a:alphaModFix amt="0"/>
              </a:blip>
              <a:stretch>
                <a:fillRect b="-39073" l="0" r="0" t="-39073"/>
              </a:stretch>
            </a:blipFill>
            <a:ln>
              <a:noFill/>
            </a:ln>
          </p:spPr>
        </p:sp>
        <p:sp>
          <p:nvSpPr>
            <p:cNvPr id="407" name="Google Shape;407;p7"/>
            <p:cNvSpPr txBox="1"/>
            <p:nvPr/>
          </p:nvSpPr>
          <p:spPr>
            <a:xfrm>
              <a:off x="0" y="-47625"/>
              <a:ext cx="2926080" cy="6877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FFFFFF"/>
                  </a:solidFill>
                  <a:latin typeface="Calibri"/>
                  <a:ea typeface="Calibri"/>
                  <a:cs typeface="Calibri"/>
                  <a:sym typeface="Calibri"/>
                </a:rPr>
                <a:t>3 = Baja</a:t>
              </a:r>
              <a:endParaRPr/>
            </a:p>
          </p:txBody>
        </p:sp>
      </p:grpSp>
      <p:graphicFrame>
        <p:nvGraphicFramePr>
          <p:cNvPr id="408" name="Google Shape;408;p7"/>
          <p:cNvGraphicFramePr/>
          <p:nvPr/>
        </p:nvGraphicFramePr>
        <p:xfrm>
          <a:off x="822960" y="3429000"/>
          <a:ext cx="3000000" cy="3000000"/>
        </p:xfrm>
        <a:graphic>
          <a:graphicData uri="http://schemas.openxmlformats.org/drawingml/2006/table">
            <a:tbl>
              <a:tblPr>
                <a:noFill/>
                <a:tableStyleId>{930A2E4C-0797-4C70-88C3-9BE22FBBC304}</a:tableStyleId>
              </a:tblPr>
              <a:tblGrid>
                <a:gridCol w="1166175"/>
                <a:gridCol w="6903250"/>
                <a:gridCol w="855700"/>
                <a:gridCol w="855700"/>
                <a:gridCol w="855700"/>
                <a:gridCol w="990675"/>
                <a:gridCol w="990675"/>
                <a:gridCol w="1841125"/>
              </a:tblGrid>
              <a:tr h="685750">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ID</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l">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Descripción</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Nec.</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Prio.</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Est.</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Clarid.</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Verif.</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c>
                  <a:txBody>
                    <a:bodyPr/>
                    <a:lstStyle/>
                    <a:p>
                      <a:pPr indent="0" lvl="0" marL="0" marR="0" rtl="0" algn="ctr">
                        <a:lnSpc>
                          <a:spcPct val="120000"/>
                        </a:lnSpc>
                        <a:spcBef>
                          <a:spcPts val="0"/>
                        </a:spcBef>
                        <a:spcAft>
                          <a:spcPts val="0"/>
                        </a:spcAft>
                        <a:buNone/>
                      </a:pPr>
                      <a:r>
                        <a:rPr b="1" lang="en-US" sz="1725" u="none" cap="none" strike="noStrike">
                          <a:solidFill>
                            <a:srgbClr val="FFFFFF"/>
                          </a:solidFill>
                          <a:latin typeface="Calibri"/>
                          <a:ea typeface="Calibri"/>
                          <a:cs typeface="Calibri"/>
                          <a:sym typeface="Calibri"/>
                        </a:rPr>
                        <a:t>Fuente</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A3150"/>
                    </a:solidFill>
                  </a:tcPr>
                </a:tc>
              </a:tr>
              <a:tr h="77250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RF-05</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Parametriza niveles de prioridad y límites de SLA.</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Cliente Edgar Guerra</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r>
              <a:tr h="77250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RF-06</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Motor de asignación automática por especialidad y carga.</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Cliente Edgar Guerra</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r>
              <a:tr h="77250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RF-22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Exige la ubicación física exacta (piso y área) del incidente.</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Cliente Edgar Guerra</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r>
              <a:tr h="68575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RF-48</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Monitorea el vencimiento con semáforo Verde/Amarillo/Rojo.</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Grupo 11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r>
              <a:tr h="68575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RF-57</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Permite comprimir y descargar archivos en un único ZIP.</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Grupo 11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52B45"/>
                    </a:solidFill>
                  </a:tcPr>
                </a:tc>
              </a:tr>
              <a:tr h="685750">
                <a:tc>
                  <a:txBody>
                    <a:bodyPr/>
                    <a:lstStyle/>
                    <a:p>
                      <a:pPr indent="0" lvl="0" marL="0" marR="0" rtl="0" algn="ctr">
                        <a:lnSpc>
                          <a:spcPct val="120000"/>
                        </a:lnSpc>
                        <a:spcBef>
                          <a:spcPts val="0"/>
                        </a:spcBef>
                        <a:spcAft>
                          <a:spcPts val="0"/>
                        </a:spcAft>
                        <a:buNone/>
                      </a:pPr>
                      <a:r>
                        <a:rPr b="1" lang="en-US" sz="1650" u="none" cap="none" strike="noStrike">
                          <a:solidFill>
                            <a:srgbClr val="FFFFFF"/>
                          </a:solidFill>
                          <a:latin typeface="Calibri"/>
                          <a:ea typeface="Calibri"/>
                          <a:cs typeface="Calibri"/>
                          <a:sym typeface="Calibri"/>
                        </a:rPr>
                        <a:t>RF-64</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l">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Permite iniciar tickets escaneando el código QR del equipo.</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2</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c>
                  <a:txBody>
                    <a:bodyPr/>
                    <a:lstStyle/>
                    <a:p>
                      <a:pPr indent="0" lvl="0" marL="0" marR="0" rtl="0" algn="ctr">
                        <a:lnSpc>
                          <a:spcPct val="120000"/>
                        </a:lnSpc>
                        <a:spcBef>
                          <a:spcPts val="0"/>
                        </a:spcBef>
                        <a:spcAft>
                          <a:spcPts val="0"/>
                        </a:spcAft>
                        <a:buNone/>
                      </a:pPr>
                      <a:r>
                        <a:rPr lang="en-US" sz="1650" u="none" cap="none" strike="noStrike">
                          <a:solidFill>
                            <a:srgbClr val="CCCCCC"/>
                          </a:solidFill>
                          <a:latin typeface="Calibri"/>
                          <a:ea typeface="Calibri"/>
                          <a:cs typeface="Calibri"/>
                          <a:sym typeface="Calibri"/>
                        </a:rPr>
                        <a:t>Grupo 11</a:t>
                      </a:r>
                      <a:endParaRPr sz="1100" u="none" cap="none" strike="noStrike"/>
                    </a:p>
                  </a:txBody>
                  <a:tcPr marT="91450" marB="91450" marR="91450" marL="91450" anchor="ctr">
                    <a:lnL cap="flat" cmpd="sng" w="9525">
                      <a:solidFill>
                        <a:srgbClr val="333B5C"/>
                      </a:solidFill>
                      <a:prstDash val="solid"/>
                      <a:round/>
                      <a:headEnd len="sm" w="sm" type="none"/>
                      <a:tailEnd len="sm" w="sm" type="none"/>
                    </a:lnL>
                    <a:lnR cap="flat" cmpd="sng" w="9525">
                      <a:solidFill>
                        <a:srgbClr val="333B5C"/>
                      </a:solidFill>
                      <a:prstDash val="solid"/>
                      <a:round/>
                      <a:headEnd len="sm" w="sm" type="none"/>
                      <a:tailEnd len="sm" w="sm" type="none"/>
                    </a:lnR>
                    <a:lnT cap="flat" cmpd="sng" w="9525">
                      <a:solidFill>
                        <a:srgbClr val="333B5C"/>
                      </a:solidFill>
                      <a:prstDash val="solid"/>
                      <a:round/>
                      <a:headEnd len="sm" w="sm" type="none"/>
                      <a:tailEnd len="sm" w="sm" type="none"/>
                    </a:lnT>
                    <a:lnB cap="flat" cmpd="sng" w="9525">
                      <a:solidFill>
                        <a:srgbClr val="333B5C"/>
                      </a:solidFill>
                      <a:prstDash val="solid"/>
                      <a:round/>
                      <a:headEnd len="sm" w="sm" type="none"/>
                      <a:tailEnd len="sm" w="sm" type="none"/>
                    </a:lnB>
                    <a:solidFill>
                      <a:srgbClr val="20263D"/>
                    </a:solidFill>
                  </a:tcPr>
                </a:tc>
              </a:tr>
            </a:tbl>
          </a:graphicData>
        </a:graphic>
      </p:graphicFrame>
      <p:grpSp>
        <p:nvGrpSpPr>
          <p:cNvPr id="409" name="Google Shape;409;p7"/>
          <p:cNvGrpSpPr/>
          <p:nvPr/>
        </p:nvGrpSpPr>
        <p:grpSpPr>
          <a:xfrm>
            <a:off x="822960" y="9038273"/>
            <a:ext cx="16641623" cy="494348"/>
            <a:chOff x="0" y="-19050"/>
            <a:chExt cx="22188830" cy="659130"/>
          </a:xfrm>
        </p:grpSpPr>
        <p:sp>
          <p:nvSpPr>
            <p:cNvPr id="410" name="Google Shape;410;p7"/>
            <p:cNvSpPr/>
            <p:nvPr/>
          </p:nvSpPr>
          <p:spPr>
            <a:xfrm>
              <a:off x="0" y="0"/>
              <a:ext cx="22188830" cy="640080"/>
            </a:xfrm>
            <a:custGeom>
              <a:rect b="b" l="l" r="r" t="t"/>
              <a:pathLst>
                <a:path extrusionOk="0" h="640080" w="22188830">
                  <a:moveTo>
                    <a:pt x="0" y="0"/>
                  </a:moveTo>
                  <a:lnTo>
                    <a:pt x="22188830" y="0"/>
                  </a:lnTo>
                  <a:lnTo>
                    <a:pt x="22188830" y="640080"/>
                  </a:lnTo>
                  <a:lnTo>
                    <a:pt x="0" y="640080"/>
                  </a:lnTo>
                  <a:close/>
                </a:path>
              </a:pathLst>
            </a:custGeom>
            <a:blipFill rotWithShape="1">
              <a:blip r:embed="rId3">
                <a:alphaModFix amt="0"/>
              </a:blip>
              <a:stretch>
                <a:fillRect b="-625493" l="0" r="0" t="-625493"/>
              </a:stretch>
            </a:blipFill>
            <a:ln>
              <a:noFill/>
            </a:ln>
          </p:spPr>
        </p:sp>
        <p:sp>
          <p:nvSpPr>
            <p:cNvPr id="411" name="Google Shape;411;p7"/>
            <p:cNvSpPr txBox="1"/>
            <p:nvPr/>
          </p:nvSpPr>
          <p:spPr>
            <a:xfrm>
              <a:off x="0" y="-19050"/>
              <a:ext cx="22188830" cy="659130"/>
            </a:xfrm>
            <a:prstGeom prst="rect">
              <a:avLst/>
            </a:prstGeom>
            <a:noFill/>
            <a:ln>
              <a:noFill/>
            </a:ln>
          </p:spPr>
          <p:txBody>
            <a:bodyPr anchorCtr="0" anchor="ctr" bIns="0" lIns="0" spcFirstLastPara="1" rIns="0" wrap="square" tIns="0">
              <a:noAutofit/>
            </a:bodyPr>
            <a:lstStyle/>
            <a:p>
              <a:pPr indent="0" lvl="0" marL="0" marR="0" rtl="0" algn="l">
                <a:lnSpc>
                  <a:spcPct val="119936"/>
                </a:lnSpc>
                <a:spcBef>
                  <a:spcPts val="0"/>
                </a:spcBef>
                <a:spcAft>
                  <a:spcPts val="0"/>
                </a:spcAft>
                <a:buNone/>
              </a:pPr>
              <a:r>
                <a:rPr b="0" i="1" lang="en-US" sz="1575" u="none" cap="none" strike="noStrike">
                  <a:solidFill>
                    <a:srgbClr val="8A94B0"/>
                  </a:solidFill>
                  <a:latin typeface="Calibri"/>
                  <a:ea typeface="Calibri"/>
                  <a:cs typeface="Calibri"/>
                  <a:sym typeface="Calibri"/>
                </a:rPr>
                <a:t>Fuente: Elaborado por el estudiante de acuerdo con el proyecto (extracto representativo de la Tabla 5.1)</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19" name="Shape 419"/>
        <p:cNvGrpSpPr/>
        <p:nvPr/>
      </p:nvGrpSpPr>
      <p:grpSpPr>
        <a:xfrm>
          <a:off x="0" y="0"/>
          <a:ext cx="0" cy="0"/>
          <a:chOff x="0" y="0"/>
          <a:chExt cx="0" cy="0"/>
        </a:xfrm>
      </p:grpSpPr>
      <p:grpSp>
        <p:nvGrpSpPr>
          <p:cNvPr id="420" name="Google Shape;420;p8"/>
          <p:cNvGrpSpPr/>
          <p:nvPr/>
        </p:nvGrpSpPr>
        <p:grpSpPr>
          <a:xfrm>
            <a:off x="686029" y="325755"/>
            <a:ext cx="16915944" cy="1320165"/>
            <a:chOff x="0" y="-114300"/>
            <a:chExt cx="22554591" cy="1760220"/>
          </a:xfrm>
        </p:grpSpPr>
        <p:sp>
          <p:nvSpPr>
            <p:cNvPr id="421" name="Google Shape;421;p8"/>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22" name="Google Shape;422;p8"/>
            <p:cNvSpPr txBox="1"/>
            <p:nvPr/>
          </p:nvSpPr>
          <p:spPr>
            <a:xfrm>
              <a:off x="0" y="-114300"/>
              <a:ext cx="22554590" cy="17602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FFFFFF"/>
                  </a:solidFill>
                  <a:latin typeface="Calibri"/>
                  <a:ea typeface="Calibri"/>
                  <a:cs typeface="Calibri"/>
                  <a:sym typeface="Calibri"/>
                </a:rPr>
                <a:t>CU-52</a:t>
              </a:r>
              <a:endParaRPr/>
            </a:p>
          </p:txBody>
        </p:sp>
      </p:grpSp>
      <p:sp>
        <p:nvSpPr>
          <p:cNvPr id="423" name="Google Shape;423;p8"/>
          <p:cNvSpPr/>
          <p:nvPr/>
        </p:nvSpPr>
        <p:spPr>
          <a:xfrm>
            <a:off x="4995633" y="1790039"/>
            <a:ext cx="8296734" cy="7468261"/>
          </a:xfrm>
          <a:custGeom>
            <a:rect b="b" l="l" r="r" t="t"/>
            <a:pathLst>
              <a:path extrusionOk="0" h="7468261" w="8296734">
                <a:moveTo>
                  <a:pt x="0" y="0"/>
                </a:moveTo>
                <a:lnTo>
                  <a:pt x="8296734" y="0"/>
                </a:lnTo>
                <a:lnTo>
                  <a:pt x="8296734" y="7468261"/>
                </a:lnTo>
                <a:lnTo>
                  <a:pt x="0" y="746826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31" name="Shape 431"/>
        <p:cNvGrpSpPr/>
        <p:nvPr/>
      </p:nvGrpSpPr>
      <p:grpSpPr>
        <a:xfrm>
          <a:off x="0" y="0"/>
          <a:ext cx="0" cy="0"/>
          <a:chOff x="0" y="0"/>
          <a:chExt cx="0" cy="0"/>
        </a:xfrm>
      </p:grpSpPr>
      <p:grpSp>
        <p:nvGrpSpPr>
          <p:cNvPr id="432" name="Google Shape;432;p9"/>
          <p:cNvGrpSpPr/>
          <p:nvPr/>
        </p:nvGrpSpPr>
        <p:grpSpPr>
          <a:xfrm>
            <a:off x="685800" y="415766"/>
            <a:ext cx="16915944" cy="1298734"/>
            <a:chOff x="0" y="-85725"/>
            <a:chExt cx="22554591" cy="1731645"/>
          </a:xfrm>
        </p:grpSpPr>
        <p:sp>
          <p:nvSpPr>
            <p:cNvPr id="433" name="Google Shape;433;p9"/>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34" name="Google Shape;434;p9"/>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DIAGRAMA DE SECUENCIA CU-52</a:t>
              </a:r>
              <a:endParaRPr/>
            </a:p>
          </p:txBody>
        </p:sp>
      </p:grpSp>
      <p:sp>
        <p:nvSpPr>
          <p:cNvPr id="435" name="Google Shape;435;p9"/>
          <p:cNvSpPr/>
          <p:nvPr/>
        </p:nvSpPr>
        <p:spPr>
          <a:xfrm>
            <a:off x="1643614" y="3437214"/>
            <a:ext cx="15000315" cy="3412572"/>
          </a:xfrm>
          <a:custGeom>
            <a:rect b="b" l="l" r="r" t="t"/>
            <a:pathLst>
              <a:path extrusionOk="0" h="3412572" w="15000315">
                <a:moveTo>
                  <a:pt x="0" y="0"/>
                </a:moveTo>
                <a:lnTo>
                  <a:pt x="15000315" y="0"/>
                </a:lnTo>
                <a:lnTo>
                  <a:pt x="15000315" y="3412572"/>
                </a:lnTo>
                <a:lnTo>
                  <a:pt x="0" y="341257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43" name="Shape 443"/>
        <p:cNvGrpSpPr/>
        <p:nvPr/>
      </p:nvGrpSpPr>
      <p:grpSpPr>
        <a:xfrm>
          <a:off x="0" y="0"/>
          <a:ext cx="0" cy="0"/>
          <a:chOff x="0" y="0"/>
          <a:chExt cx="0" cy="0"/>
        </a:xfrm>
      </p:grpSpPr>
      <p:grpSp>
        <p:nvGrpSpPr>
          <p:cNvPr id="444" name="Google Shape;444;p10"/>
          <p:cNvGrpSpPr/>
          <p:nvPr/>
        </p:nvGrpSpPr>
        <p:grpSpPr>
          <a:xfrm>
            <a:off x="685800" y="415766"/>
            <a:ext cx="16915944" cy="1298734"/>
            <a:chOff x="0" y="-85725"/>
            <a:chExt cx="22554591" cy="1731645"/>
          </a:xfrm>
        </p:grpSpPr>
        <p:sp>
          <p:nvSpPr>
            <p:cNvPr id="445" name="Google Shape;445;p10"/>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46" name="Google Shape;446;p10"/>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VISTA EN EL SISTEMA CU-52</a:t>
              </a:r>
              <a:endParaRPr/>
            </a:p>
          </p:txBody>
        </p:sp>
      </p:grpSp>
      <p:sp>
        <p:nvSpPr>
          <p:cNvPr id="447" name="Google Shape;447;p10"/>
          <p:cNvSpPr/>
          <p:nvPr/>
        </p:nvSpPr>
        <p:spPr>
          <a:xfrm>
            <a:off x="5247477" y="2471755"/>
            <a:ext cx="7792590" cy="5343490"/>
          </a:xfrm>
          <a:custGeom>
            <a:rect b="b" l="l" r="r" t="t"/>
            <a:pathLst>
              <a:path extrusionOk="0" h="5343490" w="7792590">
                <a:moveTo>
                  <a:pt x="0" y="0"/>
                </a:moveTo>
                <a:lnTo>
                  <a:pt x="7792589" y="0"/>
                </a:lnTo>
                <a:lnTo>
                  <a:pt x="7792589" y="5343490"/>
                </a:lnTo>
                <a:lnTo>
                  <a:pt x="0" y="534349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55" name="Shape 455"/>
        <p:cNvGrpSpPr/>
        <p:nvPr/>
      </p:nvGrpSpPr>
      <p:grpSpPr>
        <a:xfrm>
          <a:off x="0" y="0"/>
          <a:ext cx="0" cy="0"/>
          <a:chOff x="0" y="0"/>
          <a:chExt cx="0" cy="0"/>
        </a:xfrm>
      </p:grpSpPr>
      <p:grpSp>
        <p:nvGrpSpPr>
          <p:cNvPr id="456" name="Google Shape;456;p11"/>
          <p:cNvGrpSpPr/>
          <p:nvPr/>
        </p:nvGrpSpPr>
        <p:grpSpPr>
          <a:xfrm>
            <a:off x="685800" y="325755"/>
            <a:ext cx="16915944" cy="1320165"/>
            <a:chOff x="0" y="-114300"/>
            <a:chExt cx="22554591" cy="1760220"/>
          </a:xfrm>
        </p:grpSpPr>
        <p:sp>
          <p:nvSpPr>
            <p:cNvPr id="457" name="Google Shape;457;p11"/>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58" name="Google Shape;458;p11"/>
            <p:cNvSpPr txBox="1"/>
            <p:nvPr/>
          </p:nvSpPr>
          <p:spPr>
            <a:xfrm>
              <a:off x="0" y="-114300"/>
              <a:ext cx="22554590" cy="17602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5100" u="none" cap="none" strike="noStrike">
                  <a:solidFill>
                    <a:srgbClr val="FFFFFF"/>
                  </a:solidFill>
                  <a:latin typeface="Calibri"/>
                  <a:ea typeface="Calibri"/>
                  <a:cs typeface="Calibri"/>
                  <a:sym typeface="Calibri"/>
                </a:rPr>
                <a:t>CU-69</a:t>
              </a:r>
              <a:endParaRPr/>
            </a:p>
          </p:txBody>
        </p:sp>
      </p:grpSp>
      <p:sp>
        <p:nvSpPr>
          <p:cNvPr id="459" name="Google Shape;459;p11"/>
          <p:cNvSpPr/>
          <p:nvPr/>
        </p:nvSpPr>
        <p:spPr>
          <a:xfrm>
            <a:off x="5151021" y="1859334"/>
            <a:ext cx="7985501" cy="7859112"/>
          </a:xfrm>
          <a:custGeom>
            <a:rect b="b" l="l" r="r" t="t"/>
            <a:pathLst>
              <a:path extrusionOk="0" h="7859112" w="7985501">
                <a:moveTo>
                  <a:pt x="0" y="0"/>
                </a:moveTo>
                <a:lnTo>
                  <a:pt x="7985501" y="0"/>
                </a:lnTo>
                <a:lnTo>
                  <a:pt x="7985501" y="7859112"/>
                </a:lnTo>
                <a:lnTo>
                  <a:pt x="0" y="785911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67" name="Shape 467"/>
        <p:cNvGrpSpPr/>
        <p:nvPr/>
      </p:nvGrpSpPr>
      <p:grpSpPr>
        <a:xfrm>
          <a:off x="0" y="0"/>
          <a:ext cx="0" cy="0"/>
          <a:chOff x="0" y="0"/>
          <a:chExt cx="0" cy="0"/>
        </a:xfrm>
      </p:grpSpPr>
      <p:grpSp>
        <p:nvGrpSpPr>
          <p:cNvPr id="468" name="Google Shape;468;p12"/>
          <p:cNvGrpSpPr/>
          <p:nvPr/>
        </p:nvGrpSpPr>
        <p:grpSpPr>
          <a:xfrm>
            <a:off x="685800" y="415766"/>
            <a:ext cx="16915944" cy="1298734"/>
            <a:chOff x="0" y="-85725"/>
            <a:chExt cx="22554591" cy="1731645"/>
          </a:xfrm>
        </p:grpSpPr>
        <p:sp>
          <p:nvSpPr>
            <p:cNvPr id="469" name="Google Shape;469;p12"/>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70" name="Google Shape;470;p12"/>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DIAGRAMA DE SECUENCIA CU-69</a:t>
              </a:r>
              <a:endParaRPr/>
            </a:p>
          </p:txBody>
        </p:sp>
      </p:grpSp>
      <p:sp>
        <p:nvSpPr>
          <p:cNvPr id="471" name="Google Shape;471;p12"/>
          <p:cNvSpPr/>
          <p:nvPr/>
        </p:nvSpPr>
        <p:spPr>
          <a:xfrm>
            <a:off x="636867" y="3887537"/>
            <a:ext cx="17014266" cy="3424121"/>
          </a:xfrm>
          <a:custGeom>
            <a:rect b="b" l="l" r="r" t="t"/>
            <a:pathLst>
              <a:path extrusionOk="0" h="3424121" w="17014266">
                <a:moveTo>
                  <a:pt x="0" y="0"/>
                </a:moveTo>
                <a:lnTo>
                  <a:pt x="17014266" y="0"/>
                </a:lnTo>
                <a:lnTo>
                  <a:pt x="17014266" y="3424121"/>
                </a:lnTo>
                <a:lnTo>
                  <a:pt x="0" y="342412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79" name="Shape 479"/>
        <p:cNvGrpSpPr/>
        <p:nvPr/>
      </p:nvGrpSpPr>
      <p:grpSpPr>
        <a:xfrm>
          <a:off x="0" y="0"/>
          <a:ext cx="0" cy="0"/>
          <a:chOff x="0" y="0"/>
          <a:chExt cx="0" cy="0"/>
        </a:xfrm>
      </p:grpSpPr>
      <p:grpSp>
        <p:nvGrpSpPr>
          <p:cNvPr id="480" name="Google Shape;480;p13"/>
          <p:cNvGrpSpPr/>
          <p:nvPr/>
        </p:nvGrpSpPr>
        <p:grpSpPr>
          <a:xfrm>
            <a:off x="685800" y="415766"/>
            <a:ext cx="16915944" cy="1298734"/>
            <a:chOff x="0" y="-85725"/>
            <a:chExt cx="22554591" cy="1731645"/>
          </a:xfrm>
        </p:grpSpPr>
        <p:sp>
          <p:nvSpPr>
            <p:cNvPr id="481" name="Google Shape;481;p13"/>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82" name="Google Shape;482;p13"/>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VISTA EN EL SISTEMA CU-69</a:t>
              </a:r>
              <a:endParaRPr/>
            </a:p>
          </p:txBody>
        </p:sp>
      </p:grpSp>
      <p:sp>
        <p:nvSpPr>
          <p:cNvPr id="483" name="Google Shape;483;p13"/>
          <p:cNvSpPr/>
          <p:nvPr/>
        </p:nvSpPr>
        <p:spPr>
          <a:xfrm>
            <a:off x="6742150" y="1714500"/>
            <a:ext cx="4803243" cy="7987615"/>
          </a:xfrm>
          <a:custGeom>
            <a:rect b="b" l="l" r="r" t="t"/>
            <a:pathLst>
              <a:path extrusionOk="0" h="7987615" w="4803243">
                <a:moveTo>
                  <a:pt x="0" y="0"/>
                </a:moveTo>
                <a:lnTo>
                  <a:pt x="4803243" y="0"/>
                </a:lnTo>
                <a:lnTo>
                  <a:pt x="4803243" y="7987615"/>
                </a:lnTo>
                <a:lnTo>
                  <a:pt x="0" y="798761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491" name="Shape 491"/>
        <p:cNvGrpSpPr/>
        <p:nvPr/>
      </p:nvGrpSpPr>
      <p:grpSpPr>
        <a:xfrm>
          <a:off x="0" y="0"/>
          <a:ext cx="0" cy="0"/>
          <a:chOff x="0" y="0"/>
          <a:chExt cx="0" cy="0"/>
        </a:xfrm>
      </p:grpSpPr>
      <p:grpSp>
        <p:nvGrpSpPr>
          <p:cNvPr id="492" name="Google Shape;492;p14"/>
          <p:cNvGrpSpPr/>
          <p:nvPr/>
        </p:nvGrpSpPr>
        <p:grpSpPr>
          <a:xfrm>
            <a:off x="685800" y="422910"/>
            <a:ext cx="16915944" cy="1291590"/>
            <a:chOff x="0" y="-76200"/>
            <a:chExt cx="22554591" cy="1722120"/>
          </a:xfrm>
        </p:grpSpPr>
        <p:sp>
          <p:nvSpPr>
            <p:cNvPr id="493" name="Google Shape;493;p14"/>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494" name="Google Shape;494;p14"/>
            <p:cNvSpPr txBox="1"/>
            <p:nvPr/>
          </p:nvSpPr>
          <p:spPr>
            <a:xfrm>
              <a:off x="0" y="-76200"/>
              <a:ext cx="22554590" cy="17221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050" u="none" cap="none" strike="noStrike">
                  <a:solidFill>
                    <a:srgbClr val="FFFFFF"/>
                  </a:solidFill>
                  <a:latin typeface="Calibri"/>
                  <a:ea typeface="Calibri"/>
                  <a:cs typeface="Calibri"/>
                  <a:sym typeface="Calibri"/>
                </a:rPr>
                <a:t>VISTA DE DESARROLLO — DIAGRAMA DE COMPONENTES</a:t>
              </a:r>
              <a:endParaRPr/>
            </a:p>
          </p:txBody>
        </p:sp>
      </p:grpSp>
      <p:sp>
        <p:nvSpPr>
          <p:cNvPr id="495" name="Google Shape;495;p14"/>
          <p:cNvSpPr/>
          <p:nvPr/>
        </p:nvSpPr>
        <p:spPr>
          <a:xfrm>
            <a:off x="811054" y="1743742"/>
            <a:ext cx="16665416" cy="1285684"/>
          </a:xfrm>
          <a:custGeom>
            <a:rect b="b" l="l" r="r" t="t"/>
            <a:pathLst>
              <a:path extrusionOk="0" h="1714246" w="22220555">
                <a:moveTo>
                  <a:pt x="0" y="149098"/>
                </a:moveTo>
                <a:cubicBezTo>
                  <a:pt x="0" y="66802"/>
                  <a:pt x="66802" y="0"/>
                  <a:pt x="149098" y="0"/>
                </a:cubicBezTo>
                <a:lnTo>
                  <a:pt x="22071457" y="0"/>
                </a:lnTo>
                <a:cubicBezTo>
                  <a:pt x="22153753" y="0"/>
                  <a:pt x="22220555" y="66802"/>
                  <a:pt x="22220555" y="149098"/>
                </a:cubicBezTo>
                <a:lnTo>
                  <a:pt x="22220555" y="1565148"/>
                </a:lnTo>
                <a:cubicBezTo>
                  <a:pt x="22220555" y="1647444"/>
                  <a:pt x="22153753" y="1714246"/>
                  <a:pt x="22071457" y="1714246"/>
                </a:cubicBezTo>
                <a:lnTo>
                  <a:pt x="149098" y="1714246"/>
                </a:lnTo>
                <a:cubicBezTo>
                  <a:pt x="66802" y="1714246"/>
                  <a:pt x="0" y="1647444"/>
                  <a:pt x="0" y="1565148"/>
                </a:cubicBezTo>
                <a:close/>
              </a:path>
            </a:pathLst>
          </a:custGeom>
          <a:solidFill>
            <a:srgbClr val="252B45"/>
          </a:solidFill>
          <a:ln cap="sq" cmpd="sng" w="23800">
            <a:solidFill>
              <a:srgbClr val="4A9FD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1124712" y="2029968"/>
            <a:ext cx="713232" cy="713232"/>
          </a:xfrm>
          <a:custGeom>
            <a:rect b="b" l="l" r="r" t="t"/>
            <a:pathLst>
              <a:path extrusionOk="0" h="950976" w="950976">
                <a:moveTo>
                  <a:pt x="0" y="475488"/>
                </a:moveTo>
                <a:cubicBezTo>
                  <a:pt x="0" y="212852"/>
                  <a:pt x="212852" y="0"/>
                  <a:pt x="475488" y="0"/>
                </a:cubicBezTo>
                <a:cubicBezTo>
                  <a:pt x="738124" y="0"/>
                  <a:pt x="950976" y="212852"/>
                  <a:pt x="950976" y="475488"/>
                </a:cubicBezTo>
                <a:cubicBezTo>
                  <a:pt x="950976" y="738124"/>
                  <a:pt x="738124" y="950976"/>
                  <a:pt x="475488" y="950976"/>
                </a:cubicBezTo>
                <a:cubicBezTo>
                  <a:pt x="212852" y="950976"/>
                  <a:pt x="0" y="738124"/>
                  <a:pt x="0" y="475488"/>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frontend.png" id="497" name="Google Shape;497;p14"/>
          <p:cNvSpPr/>
          <p:nvPr/>
        </p:nvSpPr>
        <p:spPr>
          <a:xfrm>
            <a:off x="1303020" y="2180844"/>
            <a:ext cx="356616" cy="356616"/>
          </a:xfrm>
          <a:custGeom>
            <a:rect b="b" l="l" r="r" t="t"/>
            <a:pathLst>
              <a:path extrusionOk="0" h="475488" w="475488">
                <a:moveTo>
                  <a:pt x="0" y="0"/>
                </a:moveTo>
                <a:lnTo>
                  <a:pt x="475488" y="0"/>
                </a:lnTo>
                <a:lnTo>
                  <a:pt x="475488" y="475488"/>
                </a:lnTo>
                <a:lnTo>
                  <a:pt x="0" y="475488"/>
                </a:lnTo>
                <a:lnTo>
                  <a:pt x="0" y="0"/>
                </a:lnTo>
                <a:close/>
              </a:path>
            </a:pathLst>
          </a:custGeom>
          <a:blipFill rotWithShape="1">
            <a:blip r:embed="rId4">
              <a:alphaModFix/>
            </a:blip>
            <a:stretch>
              <a:fillRect b="0" l="0" r="0" t="0"/>
            </a:stretch>
          </a:blipFill>
          <a:ln>
            <a:noFill/>
          </a:ln>
        </p:spPr>
      </p:sp>
      <p:grpSp>
        <p:nvGrpSpPr>
          <p:cNvPr id="498" name="Google Shape;498;p14"/>
          <p:cNvGrpSpPr/>
          <p:nvPr/>
        </p:nvGrpSpPr>
        <p:grpSpPr>
          <a:xfrm>
            <a:off x="2125980" y="1864233"/>
            <a:ext cx="15270023" cy="508635"/>
            <a:chOff x="0" y="-38100"/>
            <a:chExt cx="20360030" cy="678180"/>
          </a:xfrm>
        </p:grpSpPr>
        <p:sp>
          <p:nvSpPr>
            <p:cNvPr id="499" name="Google Shape;499;p14"/>
            <p:cNvSpPr/>
            <p:nvPr/>
          </p:nvSpPr>
          <p:spPr>
            <a:xfrm>
              <a:off x="0" y="0"/>
              <a:ext cx="20360030" cy="640080"/>
            </a:xfrm>
            <a:custGeom>
              <a:rect b="b" l="l" r="r" t="t"/>
              <a:pathLst>
                <a:path extrusionOk="0" h="640080" w="20360030">
                  <a:moveTo>
                    <a:pt x="0" y="0"/>
                  </a:moveTo>
                  <a:lnTo>
                    <a:pt x="20360030" y="0"/>
                  </a:lnTo>
                  <a:lnTo>
                    <a:pt x="20360030" y="640080"/>
                  </a:lnTo>
                  <a:lnTo>
                    <a:pt x="0" y="640080"/>
                  </a:lnTo>
                  <a:close/>
                </a:path>
              </a:pathLst>
            </a:custGeom>
            <a:blipFill rotWithShape="1">
              <a:blip r:embed="rId3">
                <a:alphaModFix amt="0"/>
              </a:blip>
              <a:stretch>
                <a:fillRect b="-569732" l="0" r="0" t="-569732"/>
              </a:stretch>
            </a:blipFill>
            <a:ln>
              <a:noFill/>
            </a:ln>
          </p:spPr>
        </p:sp>
        <p:sp>
          <p:nvSpPr>
            <p:cNvPr id="500" name="Google Shape;500;p14"/>
            <p:cNvSpPr txBox="1"/>
            <p:nvPr/>
          </p:nvSpPr>
          <p:spPr>
            <a:xfrm>
              <a:off x="0" y="-38100"/>
              <a:ext cx="20360030" cy="678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25" u="none" cap="none" strike="noStrike">
                  <a:solidFill>
                    <a:srgbClr val="FFFFFF"/>
                  </a:solidFill>
                  <a:latin typeface="Calibri"/>
                  <a:ea typeface="Calibri"/>
                  <a:cs typeface="Calibri"/>
                  <a:sym typeface="Calibri"/>
                </a:rPr>
                <a:t>CAPA DE PRESENTACIÓN</a:t>
              </a:r>
              <a:endParaRPr/>
            </a:p>
          </p:txBody>
        </p:sp>
      </p:grpSp>
      <p:sp>
        <p:nvSpPr>
          <p:cNvPr id="501" name="Google Shape;501;p14"/>
          <p:cNvSpPr txBox="1"/>
          <p:nvPr/>
        </p:nvSpPr>
        <p:spPr>
          <a:xfrm>
            <a:off x="2217420" y="2380488"/>
            <a:ext cx="15087143" cy="5227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25" u="none" cap="none" strike="noStrike">
                <a:solidFill>
                  <a:srgbClr val="CCCCCC"/>
                </a:solidFill>
                <a:latin typeface="Calibri"/>
                <a:ea typeface="Calibri"/>
                <a:cs typeface="Calibri"/>
                <a:sym typeface="Calibri"/>
              </a:rPr>
              <a:t>Cliente Web (Alpine.js + HTML5)  ·  Escáner QR desde dispositivo móvil</a:t>
            </a:r>
            <a:endParaRPr/>
          </a:p>
        </p:txBody>
      </p:sp>
      <p:sp>
        <p:nvSpPr>
          <p:cNvPr id="502" name="Google Shape;502;p14"/>
          <p:cNvSpPr/>
          <p:nvPr/>
        </p:nvSpPr>
        <p:spPr>
          <a:xfrm>
            <a:off x="811054" y="3197638"/>
            <a:ext cx="16665416" cy="1285684"/>
          </a:xfrm>
          <a:custGeom>
            <a:rect b="b" l="l" r="r" t="t"/>
            <a:pathLst>
              <a:path extrusionOk="0" h="1714246" w="22220555">
                <a:moveTo>
                  <a:pt x="0" y="149098"/>
                </a:moveTo>
                <a:cubicBezTo>
                  <a:pt x="0" y="66802"/>
                  <a:pt x="66802" y="0"/>
                  <a:pt x="149098" y="0"/>
                </a:cubicBezTo>
                <a:lnTo>
                  <a:pt x="22071457" y="0"/>
                </a:lnTo>
                <a:cubicBezTo>
                  <a:pt x="22153753" y="0"/>
                  <a:pt x="22220555" y="66802"/>
                  <a:pt x="22220555" y="149098"/>
                </a:cubicBezTo>
                <a:lnTo>
                  <a:pt x="22220555" y="1565148"/>
                </a:lnTo>
                <a:cubicBezTo>
                  <a:pt x="22220555" y="1647444"/>
                  <a:pt x="22153753" y="1714246"/>
                  <a:pt x="22071457" y="1714246"/>
                </a:cubicBezTo>
                <a:lnTo>
                  <a:pt x="149098" y="1714246"/>
                </a:lnTo>
                <a:cubicBezTo>
                  <a:pt x="66802" y="1714246"/>
                  <a:pt x="0" y="1647444"/>
                  <a:pt x="0" y="1565148"/>
                </a:cubicBezTo>
                <a:close/>
              </a:path>
            </a:pathLst>
          </a:custGeom>
          <a:solidFill>
            <a:srgbClr val="252B45"/>
          </a:solidFill>
          <a:ln cap="sq" cmpd="sng" w="23800">
            <a:solidFill>
              <a:srgbClr val="F5C54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1124712" y="3483864"/>
            <a:ext cx="713232" cy="713232"/>
          </a:xfrm>
          <a:custGeom>
            <a:rect b="b" l="l" r="r" t="t"/>
            <a:pathLst>
              <a:path extrusionOk="0" h="950976" w="950976">
                <a:moveTo>
                  <a:pt x="0" y="475488"/>
                </a:moveTo>
                <a:cubicBezTo>
                  <a:pt x="0" y="212852"/>
                  <a:pt x="212852" y="0"/>
                  <a:pt x="475488" y="0"/>
                </a:cubicBezTo>
                <a:cubicBezTo>
                  <a:pt x="738124" y="0"/>
                  <a:pt x="950976" y="212852"/>
                  <a:pt x="950976" y="475488"/>
                </a:cubicBezTo>
                <a:cubicBezTo>
                  <a:pt x="950976" y="738124"/>
                  <a:pt x="738124" y="950976"/>
                  <a:pt x="475488" y="950976"/>
                </a:cubicBezTo>
                <a:cubicBezTo>
                  <a:pt x="212852" y="950976"/>
                  <a:pt x="0" y="738124"/>
                  <a:pt x="0" y="475488"/>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gateway.png" id="504" name="Google Shape;504;p14"/>
          <p:cNvSpPr/>
          <p:nvPr/>
        </p:nvSpPr>
        <p:spPr>
          <a:xfrm>
            <a:off x="1303020" y="3634740"/>
            <a:ext cx="356616" cy="356616"/>
          </a:xfrm>
          <a:custGeom>
            <a:rect b="b" l="l" r="r" t="t"/>
            <a:pathLst>
              <a:path extrusionOk="0" h="475488" w="475488">
                <a:moveTo>
                  <a:pt x="0" y="0"/>
                </a:moveTo>
                <a:lnTo>
                  <a:pt x="475488" y="0"/>
                </a:lnTo>
                <a:lnTo>
                  <a:pt x="475488" y="475488"/>
                </a:lnTo>
                <a:lnTo>
                  <a:pt x="0" y="475488"/>
                </a:lnTo>
                <a:lnTo>
                  <a:pt x="0" y="0"/>
                </a:lnTo>
                <a:close/>
              </a:path>
            </a:pathLst>
          </a:custGeom>
          <a:blipFill rotWithShape="1">
            <a:blip r:embed="rId5">
              <a:alphaModFix/>
            </a:blip>
            <a:stretch>
              <a:fillRect b="0" l="0" r="0" t="0"/>
            </a:stretch>
          </a:blipFill>
          <a:ln>
            <a:noFill/>
          </a:ln>
        </p:spPr>
      </p:sp>
      <p:grpSp>
        <p:nvGrpSpPr>
          <p:cNvPr id="505" name="Google Shape;505;p14"/>
          <p:cNvGrpSpPr/>
          <p:nvPr/>
        </p:nvGrpSpPr>
        <p:grpSpPr>
          <a:xfrm>
            <a:off x="2125980" y="3318129"/>
            <a:ext cx="15270023" cy="508635"/>
            <a:chOff x="0" y="-38100"/>
            <a:chExt cx="20360030" cy="678180"/>
          </a:xfrm>
        </p:grpSpPr>
        <p:sp>
          <p:nvSpPr>
            <p:cNvPr id="506" name="Google Shape;506;p14"/>
            <p:cNvSpPr/>
            <p:nvPr/>
          </p:nvSpPr>
          <p:spPr>
            <a:xfrm>
              <a:off x="0" y="0"/>
              <a:ext cx="20360030" cy="640080"/>
            </a:xfrm>
            <a:custGeom>
              <a:rect b="b" l="l" r="r" t="t"/>
              <a:pathLst>
                <a:path extrusionOk="0" h="640080" w="20360030">
                  <a:moveTo>
                    <a:pt x="0" y="0"/>
                  </a:moveTo>
                  <a:lnTo>
                    <a:pt x="20360030" y="0"/>
                  </a:lnTo>
                  <a:lnTo>
                    <a:pt x="20360030" y="640080"/>
                  </a:lnTo>
                  <a:lnTo>
                    <a:pt x="0" y="640080"/>
                  </a:lnTo>
                  <a:close/>
                </a:path>
              </a:pathLst>
            </a:custGeom>
            <a:blipFill rotWithShape="1">
              <a:blip r:embed="rId3">
                <a:alphaModFix amt="0"/>
              </a:blip>
              <a:stretch>
                <a:fillRect b="-569732" l="0" r="0" t="-569732"/>
              </a:stretch>
            </a:blipFill>
            <a:ln>
              <a:noFill/>
            </a:ln>
          </p:spPr>
        </p:sp>
        <p:sp>
          <p:nvSpPr>
            <p:cNvPr id="507" name="Google Shape;507;p14"/>
            <p:cNvSpPr txBox="1"/>
            <p:nvPr/>
          </p:nvSpPr>
          <p:spPr>
            <a:xfrm>
              <a:off x="0" y="-38100"/>
              <a:ext cx="20360030" cy="678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25" u="none" cap="none" strike="noStrike">
                  <a:solidFill>
                    <a:srgbClr val="FFFFFF"/>
                  </a:solidFill>
                  <a:latin typeface="Calibri"/>
                  <a:ea typeface="Calibri"/>
                  <a:cs typeface="Calibri"/>
                  <a:sym typeface="Calibri"/>
                </a:rPr>
                <a:t>API GATEWAY</a:t>
              </a:r>
              <a:endParaRPr/>
            </a:p>
          </p:txBody>
        </p:sp>
      </p:grpSp>
      <p:sp>
        <p:nvSpPr>
          <p:cNvPr id="508" name="Google Shape;508;p14"/>
          <p:cNvSpPr txBox="1"/>
          <p:nvPr/>
        </p:nvSpPr>
        <p:spPr>
          <a:xfrm>
            <a:off x="2217420" y="3834384"/>
            <a:ext cx="15087143" cy="5227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25" u="none" cap="none" strike="noStrike">
                <a:solidFill>
                  <a:srgbClr val="CCCCCC"/>
                </a:solidFill>
                <a:latin typeface="Calibri"/>
                <a:ea typeface="Calibri"/>
                <a:cs typeface="Calibri"/>
                <a:sym typeface="Calibri"/>
              </a:rPr>
              <a:t>Nginx — Reverse Proxy + TLS</a:t>
            </a:r>
            <a:endParaRPr/>
          </a:p>
        </p:txBody>
      </p:sp>
      <p:sp>
        <p:nvSpPr>
          <p:cNvPr id="509" name="Google Shape;509;p14"/>
          <p:cNvSpPr/>
          <p:nvPr/>
        </p:nvSpPr>
        <p:spPr>
          <a:xfrm>
            <a:off x="811054" y="4651534"/>
            <a:ext cx="16665416" cy="1285684"/>
          </a:xfrm>
          <a:custGeom>
            <a:rect b="b" l="l" r="r" t="t"/>
            <a:pathLst>
              <a:path extrusionOk="0" h="1714246" w="22220555">
                <a:moveTo>
                  <a:pt x="0" y="149098"/>
                </a:moveTo>
                <a:cubicBezTo>
                  <a:pt x="0" y="66802"/>
                  <a:pt x="66802" y="0"/>
                  <a:pt x="149098" y="0"/>
                </a:cubicBezTo>
                <a:lnTo>
                  <a:pt x="22071457" y="0"/>
                </a:lnTo>
                <a:cubicBezTo>
                  <a:pt x="22153753" y="0"/>
                  <a:pt x="22220555" y="66802"/>
                  <a:pt x="22220555" y="149098"/>
                </a:cubicBezTo>
                <a:lnTo>
                  <a:pt x="22220555" y="1565148"/>
                </a:lnTo>
                <a:cubicBezTo>
                  <a:pt x="22220555" y="1647444"/>
                  <a:pt x="22153753" y="1714246"/>
                  <a:pt x="22071457" y="1714246"/>
                </a:cubicBezTo>
                <a:lnTo>
                  <a:pt x="149098" y="1714246"/>
                </a:lnTo>
                <a:cubicBezTo>
                  <a:pt x="66802" y="1714246"/>
                  <a:pt x="0" y="1647444"/>
                  <a:pt x="0" y="1565148"/>
                </a:cubicBezTo>
                <a:close/>
              </a:path>
            </a:pathLst>
          </a:custGeom>
          <a:solidFill>
            <a:srgbClr val="252B45"/>
          </a:solidFill>
          <a:ln cap="sq" cmpd="sng" w="23800">
            <a:solidFill>
              <a:srgbClr val="9B59B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1124712" y="4937760"/>
            <a:ext cx="713232" cy="713232"/>
          </a:xfrm>
          <a:custGeom>
            <a:rect b="b" l="l" r="r" t="t"/>
            <a:pathLst>
              <a:path extrusionOk="0" h="950976" w="950976">
                <a:moveTo>
                  <a:pt x="0" y="475488"/>
                </a:moveTo>
                <a:cubicBezTo>
                  <a:pt x="0" y="212852"/>
                  <a:pt x="212852" y="0"/>
                  <a:pt x="475488" y="0"/>
                </a:cubicBezTo>
                <a:cubicBezTo>
                  <a:pt x="738124" y="0"/>
                  <a:pt x="950976" y="212852"/>
                  <a:pt x="950976" y="475488"/>
                </a:cubicBezTo>
                <a:cubicBezTo>
                  <a:pt x="950976" y="738124"/>
                  <a:pt x="738124" y="950976"/>
                  <a:pt x="475488" y="950976"/>
                </a:cubicBezTo>
                <a:cubicBezTo>
                  <a:pt x="212852" y="950976"/>
                  <a:pt x="0" y="738124"/>
                  <a:pt x="0" y="475488"/>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arch.png" id="511" name="Google Shape;511;p14"/>
          <p:cNvSpPr/>
          <p:nvPr/>
        </p:nvSpPr>
        <p:spPr>
          <a:xfrm>
            <a:off x="1303020" y="5088636"/>
            <a:ext cx="356616" cy="356616"/>
          </a:xfrm>
          <a:custGeom>
            <a:rect b="b" l="l" r="r" t="t"/>
            <a:pathLst>
              <a:path extrusionOk="0" h="475488" w="475488">
                <a:moveTo>
                  <a:pt x="0" y="0"/>
                </a:moveTo>
                <a:lnTo>
                  <a:pt x="475488" y="0"/>
                </a:lnTo>
                <a:lnTo>
                  <a:pt x="475488" y="475488"/>
                </a:lnTo>
                <a:lnTo>
                  <a:pt x="0" y="475488"/>
                </a:lnTo>
                <a:lnTo>
                  <a:pt x="0" y="0"/>
                </a:lnTo>
                <a:close/>
              </a:path>
            </a:pathLst>
          </a:custGeom>
          <a:blipFill rotWithShape="1">
            <a:blip r:embed="rId6">
              <a:alphaModFix/>
            </a:blip>
            <a:stretch>
              <a:fillRect b="0" l="0" r="0" t="0"/>
            </a:stretch>
          </a:blipFill>
          <a:ln>
            <a:noFill/>
          </a:ln>
        </p:spPr>
      </p:sp>
      <p:grpSp>
        <p:nvGrpSpPr>
          <p:cNvPr id="512" name="Google Shape;512;p14"/>
          <p:cNvGrpSpPr/>
          <p:nvPr/>
        </p:nvGrpSpPr>
        <p:grpSpPr>
          <a:xfrm>
            <a:off x="2125980" y="4772025"/>
            <a:ext cx="15270023" cy="508635"/>
            <a:chOff x="0" y="-38100"/>
            <a:chExt cx="20360030" cy="678180"/>
          </a:xfrm>
        </p:grpSpPr>
        <p:sp>
          <p:nvSpPr>
            <p:cNvPr id="513" name="Google Shape;513;p14"/>
            <p:cNvSpPr/>
            <p:nvPr/>
          </p:nvSpPr>
          <p:spPr>
            <a:xfrm>
              <a:off x="0" y="0"/>
              <a:ext cx="20360030" cy="640080"/>
            </a:xfrm>
            <a:custGeom>
              <a:rect b="b" l="l" r="r" t="t"/>
              <a:pathLst>
                <a:path extrusionOk="0" h="640080" w="20360030">
                  <a:moveTo>
                    <a:pt x="0" y="0"/>
                  </a:moveTo>
                  <a:lnTo>
                    <a:pt x="20360030" y="0"/>
                  </a:lnTo>
                  <a:lnTo>
                    <a:pt x="20360030" y="640080"/>
                  </a:lnTo>
                  <a:lnTo>
                    <a:pt x="0" y="640080"/>
                  </a:lnTo>
                  <a:close/>
                </a:path>
              </a:pathLst>
            </a:custGeom>
            <a:blipFill rotWithShape="1">
              <a:blip r:embed="rId3">
                <a:alphaModFix amt="0"/>
              </a:blip>
              <a:stretch>
                <a:fillRect b="-569732" l="0" r="0" t="-569732"/>
              </a:stretch>
            </a:blipFill>
            <a:ln>
              <a:noFill/>
            </a:ln>
          </p:spPr>
        </p:sp>
        <p:sp>
          <p:nvSpPr>
            <p:cNvPr id="514" name="Google Shape;514;p14"/>
            <p:cNvSpPr txBox="1"/>
            <p:nvPr/>
          </p:nvSpPr>
          <p:spPr>
            <a:xfrm>
              <a:off x="0" y="-38100"/>
              <a:ext cx="20360030" cy="678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25" u="none" cap="none" strike="noStrike">
                  <a:solidFill>
                    <a:srgbClr val="FFFFFF"/>
                  </a:solidFill>
                  <a:latin typeface="Calibri"/>
                  <a:ea typeface="Calibri"/>
                  <a:cs typeface="Calibri"/>
                  <a:sym typeface="Calibri"/>
                </a:rPr>
                <a:t>CAPA DE NEGOCIO — MICROSERVICIOS</a:t>
              </a:r>
              <a:endParaRPr/>
            </a:p>
          </p:txBody>
        </p:sp>
      </p:grpSp>
      <p:sp>
        <p:nvSpPr>
          <p:cNvPr id="515" name="Google Shape;515;p14"/>
          <p:cNvSpPr txBox="1"/>
          <p:nvPr/>
        </p:nvSpPr>
        <p:spPr>
          <a:xfrm>
            <a:off x="2217420" y="5288280"/>
            <a:ext cx="15087143" cy="5227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25" u="none" cap="none" strike="noStrike">
                <a:solidFill>
                  <a:srgbClr val="CCCCCC"/>
                </a:solidFill>
                <a:latin typeface="Calibri"/>
                <a:ea typeface="Calibri"/>
                <a:cs typeface="Calibri"/>
                <a:sym typeface="Calibri"/>
              </a:rPr>
              <a:t>Auth JWT · Tickets &amp; SLA · Inventario y Bodega · Geolocalización y QR · Reportería y PDF · Integración IMER</a:t>
            </a:r>
            <a:endParaRPr/>
          </a:p>
        </p:txBody>
      </p:sp>
      <p:sp>
        <p:nvSpPr>
          <p:cNvPr id="516" name="Google Shape;516;p14"/>
          <p:cNvSpPr/>
          <p:nvPr/>
        </p:nvSpPr>
        <p:spPr>
          <a:xfrm>
            <a:off x="811054" y="6105430"/>
            <a:ext cx="16665416" cy="1285684"/>
          </a:xfrm>
          <a:custGeom>
            <a:rect b="b" l="l" r="r" t="t"/>
            <a:pathLst>
              <a:path extrusionOk="0" h="1714246" w="22220555">
                <a:moveTo>
                  <a:pt x="0" y="149098"/>
                </a:moveTo>
                <a:cubicBezTo>
                  <a:pt x="0" y="66802"/>
                  <a:pt x="66802" y="0"/>
                  <a:pt x="149098" y="0"/>
                </a:cubicBezTo>
                <a:lnTo>
                  <a:pt x="22071457" y="0"/>
                </a:lnTo>
                <a:cubicBezTo>
                  <a:pt x="22153753" y="0"/>
                  <a:pt x="22220555" y="66802"/>
                  <a:pt x="22220555" y="149098"/>
                </a:cubicBezTo>
                <a:lnTo>
                  <a:pt x="22220555" y="1565148"/>
                </a:lnTo>
                <a:cubicBezTo>
                  <a:pt x="22220555" y="1647444"/>
                  <a:pt x="22153753" y="1714246"/>
                  <a:pt x="22071457" y="1714246"/>
                </a:cubicBezTo>
                <a:lnTo>
                  <a:pt x="149098" y="1714246"/>
                </a:lnTo>
                <a:cubicBezTo>
                  <a:pt x="66802" y="1714246"/>
                  <a:pt x="0" y="1647444"/>
                  <a:pt x="0" y="1565148"/>
                </a:cubicBezTo>
                <a:close/>
              </a:path>
            </a:pathLst>
          </a:custGeom>
          <a:solidFill>
            <a:srgbClr val="252B45"/>
          </a:solidFill>
          <a:ln cap="sq" cmpd="sng" w="23800">
            <a:solidFill>
              <a:srgbClr val="2ECC7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1124712" y="6391656"/>
            <a:ext cx="713232" cy="713232"/>
          </a:xfrm>
          <a:custGeom>
            <a:rect b="b" l="l" r="r" t="t"/>
            <a:pathLst>
              <a:path extrusionOk="0" h="950976" w="950976">
                <a:moveTo>
                  <a:pt x="0" y="475488"/>
                </a:moveTo>
                <a:cubicBezTo>
                  <a:pt x="0" y="212852"/>
                  <a:pt x="212852" y="0"/>
                  <a:pt x="475488" y="0"/>
                </a:cubicBezTo>
                <a:cubicBezTo>
                  <a:pt x="738124" y="0"/>
                  <a:pt x="950976" y="212852"/>
                  <a:pt x="950976" y="475488"/>
                </a:cubicBezTo>
                <a:cubicBezTo>
                  <a:pt x="950976" y="738124"/>
                  <a:pt x="738124" y="950976"/>
                  <a:pt x="475488" y="950976"/>
                </a:cubicBezTo>
                <a:cubicBezTo>
                  <a:pt x="212852" y="950976"/>
                  <a:pt x="0" y="738124"/>
                  <a:pt x="0" y="475488"/>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database.png" id="518" name="Google Shape;518;p14"/>
          <p:cNvSpPr/>
          <p:nvPr/>
        </p:nvSpPr>
        <p:spPr>
          <a:xfrm>
            <a:off x="1303020" y="6542532"/>
            <a:ext cx="356616" cy="356616"/>
          </a:xfrm>
          <a:custGeom>
            <a:rect b="b" l="l" r="r" t="t"/>
            <a:pathLst>
              <a:path extrusionOk="0" h="475488" w="475488">
                <a:moveTo>
                  <a:pt x="0" y="0"/>
                </a:moveTo>
                <a:lnTo>
                  <a:pt x="475488" y="0"/>
                </a:lnTo>
                <a:lnTo>
                  <a:pt x="475488" y="475488"/>
                </a:lnTo>
                <a:lnTo>
                  <a:pt x="0" y="475488"/>
                </a:lnTo>
                <a:lnTo>
                  <a:pt x="0" y="0"/>
                </a:lnTo>
                <a:close/>
              </a:path>
            </a:pathLst>
          </a:custGeom>
          <a:blipFill rotWithShape="1">
            <a:blip r:embed="rId7">
              <a:alphaModFix/>
            </a:blip>
            <a:stretch>
              <a:fillRect b="0" l="0" r="0" t="0"/>
            </a:stretch>
          </a:blipFill>
          <a:ln>
            <a:noFill/>
          </a:ln>
        </p:spPr>
      </p:sp>
      <p:grpSp>
        <p:nvGrpSpPr>
          <p:cNvPr id="519" name="Google Shape;519;p14"/>
          <p:cNvGrpSpPr/>
          <p:nvPr/>
        </p:nvGrpSpPr>
        <p:grpSpPr>
          <a:xfrm>
            <a:off x="2125980" y="6225921"/>
            <a:ext cx="15270023" cy="508635"/>
            <a:chOff x="0" y="-38100"/>
            <a:chExt cx="20360030" cy="678180"/>
          </a:xfrm>
        </p:grpSpPr>
        <p:sp>
          <p:nvSpPr>
            <p:cNvPr id="520" name="Google Shape;520;p14"/>
            <p:cNvSpPr/>
            <p:nvPr/>
          </p:nvSpPr>
          <p:spPr>
            <a:xfrm>
              <a:off x="0" y="0"/>
              <a:ext cx="20360030" cy="640080"/>
            </a:xfrm>
            <a:custGeom>
              <a:rect b="b" l="l" r="r" t="t"/>
              <a:pathLst>
                <a:path extrusionOk="0" h="640080" w="20360030">
                  <a:moveTo>
                    <a:pt x="0" y="0"/>
                  </a:moveTo>
                  <a:lnTo>
                    <a:pt x="20360030" y="0"/>
                  </a:lnTo>
                  <a:lnTo>
                    <a:pt x="20360030" y="640080"/>
                  </a:lnTo>
                  <a:lnTo>
                    <a:pt x="0" y="640080"/>
                  </a:lnTo>
                  <a:close/>
                </a:path>
              </a:pathLst>
            </a:custGeom>
            <a:blipFill rotWithShape="1">
              <a:blip r:embed="rId3">
                <a:alphaModFix amt="0"/>
              </a:blip>
              <a:stretch>
                <a:fillRect b="-569732" l="0" r="0" t="-569732"/>
              </a:stretch>
            </a:blipFill>
            <a:ln>
              <a:noFill/>
            </a:ln>
          </p:spPr>
        </p:sp>
        <p:sp>
          <p:nvSpPr>
            <p:cNvPr id="521" name="Google Shape;521;p14"/>
            <p:cNvSpPr txBox="1"/>
            <p:nvPr/>
          </p:nvSpPr>
          <p:spPr>
            <a:xfrm>
              <a:off x="0" y="-38100"/>
              <a:ext cx="20360030" cy="678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25" u="none" cap="none" strike="noStrike">
                  <a:solidFill>
                    <a:srgbClr val="FFFFFF"/>
                  </a:solidFill>
                  <a:latin typeface="Calibri"/>
                  <a:ea typeface="Calibri"/>
                  <a:cs typeface="Calibri"/>
                  <a:sym typeface="Calibri"/>
                </a:rPr>
                <a:t>CAPA DE DATOS</a:t>
              </a:r>
              <a:endParaRPr/>
            </a:p>
          </p:txBody>
        </p:sp>
      </p:grpSp>
      <p:sp>
        <p:nvSpPr>
          <p:cNvPr id="522" name="Google Shape;522;p14"/>
          <p:cNvSpPr txBox="1"/>
          <p:nvPr/>
        </p:nvSpPr>
        <p:spPr>
          <a:xfrm>
            <a:off x="2217420" y="6742176"/>
            <a:ext cx="15087143" cy="5227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25" u="none" cap="none" strike="noStrike">
                <a:solidFill>
                  <a:srgbClr val="CCCCCC"/>
                </a:solidFill>
                <a:latin typeface="Calibri"/>
                <a:ea typeface="Calibri"/>
                <a:cs typeface="Calibri"/>
                <a:sym typeface="Calibri"/>
              </a:rPr>
              <a:t>MySQL + Triggers de Auditoría + Cron Jobs de Respaldo</a:t>
            </a:r>
            <a:endParaRPr/>
          </a:p>
        </p:txBody>
      </p:sp>
      <p:grpSp>
        <p:nvGrpSpPr>
          <p:cNvPr id="523" name="Google Shape;523;p14"/>
          <p:cNvGrpSpPr/>
          <p:nvPr/>
        </p:nvGrpSpPr>
        <p:grpSpPr>
          <a:xfrm>
            <a:off x="822960" y="7727537"/>
            <a:ext cx="6858000" cy="515779"/>
            <a:chOff x="0" y="-47625"/>
            <a:chExt cx="9144000" cy="687705"/>
          </a:xfrm>
        </p:grpSpPr>
        <p:sp>
          <p:nvSpPr>
            <p:cNvPr id="524" name="Google Shape;524;p14"/>
            <p:cNvSpPr/>
            <p:nvPr/>
          </p:nvSpPr>
          <p:spPr>
            <a:xfrm>
              <a:off x="0" y="0"/>
              <a:ext cx="9144000" cy="640080"/>
            </a:xfrm>
            <a:custGeom>
              <a:rect b="b" l="l" r="r" t="t"/>
              <a:pathLst>
                <a:path extrusionOk="0" h="640080" w="9144000">
                  <a:moveTo>
                    <a:pt x="0" y="0"/>
                  </a:moveTo>
                  <a:lnTo>
                    <a:pt x="9144000" y="0"/>
                  </a:lnTo>
                  <a:lnTo>
                    <a:pt x="9144000" y="640080"/>
                  </a:lnTo>
                  <a:lnTo>
                    <a:pt x="0" y="640080"/>
                  </a:lnTo>
                  <a:close/>
                </a:path>
              </a:pathLst>
            </a:custGeom>
            <a:blipFill rotWithShape="1">
              <a:blip r:embed="rId3">
                <a:alphaModFix amt="0"/>
              </a:blip>
              <a:stretch>
                <a:fillRect b="-228365" l="0" r="0" t="-228365"/>
              </a:stretch>
            </a:blipFill>
            <a:ln>
              <a:noFill/>
            </a:ln>
          </p:spPr>
        </p:sp>
        <p:sp>
          <p:nvSpPr>
            <p:cNvPr id="525" name="Google Shape;525;p14"/>
            <p:cNvSpPr txBox="1"/>
            <p:nvPr/>
          </p:nvSpPr>
          <p:spPr>
            <a:xfrm>
              <a:off x="0" y="-47625"/>
              <a:ext cx="9144000" cy="6877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FFFFFF"/>
                  </a:solidFill>
                  <a:latin typeface="Calibri"/>
                  <a:ea typeface="Calibri"/>
                  <a:cs typeface="Calibri"/>
                  <a:sym typeface="Calibri"/>
                </a:rPr>
                <a:t>STACK TECNOLÓGICO</a:t>
              </a:r>
              <a:endParaRPr/>
            </a:p>
          </p:txBody>
        </p:sp>
      </p:grpSp>
      <p:sp>
        <p:nvSpPr>
          <p:cNvPr id="526" name="Google Shape;526;p14"/>
          <p:cNvSpPr/>
          <p:nvPr/>
        </p:nvSpPr>
        <p:spPr>
          <a:xfrm>
            <a:off x="813435" y="8329803"/>
            <a:ext cx="3870770" cy="1184910"/>
          </a:xfrm>
          <a:custGeom>
            <a:rect b="b" l="l" r="r" t="t"/>
            <a:pathLst>
              <a:path extrusionOk="0" h="1579880" w="5161026">
                <a:moveTo>
                  <a:pt x="0" y="130048"/>
                </a:moveTo>
                <a:cubicBezTo>
                  <a:pt x="0" y="58293"/>
                  <a:pt x="58293" y="0"/>
                  <a:pt x="130048" y="0"/>
                </a:cubicBezTo>
                <a:lnTo>
                  <a:pt x="5030978" y="0"/>
                </a:lnTo>
                <a:cubicBezTo>
                  <a:pt x="5102860" y="0"/>
                  <a:pt x="5161026" y="58293"/>
                  <a:pt x="5161026" y="130048"/>
                </a:cubicBezTo>
                <a:lnTo>
                  <a:pt x="5161026" y="1449832"/>
                </a:lnTo>
                <a:cubicBezTo>
                  <a:pt x="5161026" y="1521714"/>
                  <a:pt x="5102733" y="1579880"/>
                  <a:pt x="5030978" y="1579880"/>
                </a:cubicBezTo>
                <a:lnTo>
                  <a:pt x="130048" y="1579880"/>
                </a:lnTo>
                <a:cubicBezTo>
                  <a:pt x="58293" y="1579880"/>
                  <a:pt x="0" y="1521587"/>
                  <a:pt x="0" y="1449832"/>
                </a:cubicBezTo>
                <a:close/>
              </a:path>
            </a:pathLst>
          </a:custGeom>
          <a:solidFill>
            <a:srgbClr val="20263D"/>
          </a:solidFill>
          <a:ln cap="sq" cmpd="sng" w="19050">
            <a:solidFill>
              <a:srgbClr val="4A9FD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7" name="Google Shape;527;p14"/>
          <p:cNvGrpSpPr/>
          <p:nvPr/>
        </p:nvGrpSpPr>
        <p:grpSpPr>
          <a:xfrm>
            <a:off x="1014984" y="8427625"/>
            <a:ext cx="3467748" cy="405479"/>
            <a:chOff x="0" y="-28575"/>
            <a:chExt cx="4623664" cy="540639"/>
          </a:xfrm>
        </p:grpSpPr>
        <p:sp>
          <p:nvSpPr>
            <p:cNvPr id="528" name="Google Shape;528;p14"/>
            <p:cNvSpPr/>
            <p:nvPr/>
          </p:nvSpPr>
          <p:spPr>
            <a:xfrm>
              <a:off x="0" y="0"/>
              <a:ext cx="4623664" cy="512064"/>
            </a:xfrm>
            <a:custGeom>
              <a:rect b="b" l="l" r="r" t="t"/>
              <a:pathLst>
                <a:path extrusionOk="0" h="512064" w="4623664">
                  <a:moveTo>
                    <a:pt x="0" y="0"/>
                  </a:moveTo>
                  <a:lnTo>
                    <a:pt x="4623664" y="0"/>
                  </a:lnTo>
                  <a:lnTo>
                    <a:pt x="4623664" y="512064"/>
                  </a:lnTo>
                  <a:lnTo>
                    <a:pt x="0" y="512064"/>
                  </a:lnTo>
                  <a:close/>
                </a:path>
              </a:pathLst>
            </a:custGeom>
            <a:blipFill rotWithShape="1">
              <a:blip r:embed="rId3">
                <a:alphaModFix amt="0"/>
              </a:blip>
              <a:stretch>
                <a:fillRect b="-125945" l="0" r="0" t="-125945"/>
              </a:stretch>
            </a:blipFill>
            <a:ln>
              <a:noFill/>
            </a:ln>
          </p:spPr>
        </p:sp>
        <p:sp>
          <p:nvSpPr>
            <p:cNvPr id="529" name="Google Shape;529;p14"/>
            <p:cNvSpPr txBox="1"/>
            <p:nvPr/>
          </p:nvSpPr>
          <p:spPr>
            <a:xfrm>
              <a:off x="0" y="-28575"/>
              <a:ext cx="4623664" cy="54063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4A9FD5"/>
                  </a:solidFill>
                  <a:latin typeface="Calibri"/>
                  <a:ea typeface="Calibri"/>
                  <a:cs typeface="Calibri"/>
                  <a:sym typeface="Calibri"/>
                </a:rPr>
                <a:t>Frontend:</a:t>
              </a:r>
              <a:endParaRPr/>
            </a:p>
          </p:txBody>
        </p:sp>
      </p:grpSp>
      <p:sp>
        <p:nvSpPr>
          <p:cNvPr id="530" name="Google Shape;530;p14"/>
          <p:cNvSpPr txBox="1"/>
          <p:nvPr/>
        </p:nvSpPr>
        <p:spPr>
          <a:xfrm>
            <a:off x="1106424" y="8840724"/>
            <a:ext cx="3284868" cy="550164"/>
          </a:xfrm>
          <a:prstGeom prst="rect">
            <a:avLst/>
          </a:prstGeom>
          <a:noFill/>
          <a:ln>
            <a:noFill/>
          </a:ln>
        </p:spPr>
        <p:txBody>
          <a:bodyPr anchorCtr="0" anchor="t" bIns="0" lIns="0" spcFirstLastPara="1" rIns="0" wrap="square" tIns="0">
            <a:spAutoFit/>
          </a:bodyPr>
          <a:lstStyle/>
          <a:p>
            <a:pPr indent="0" lvl="0" marL="0" marR="0" rtl="0" algn="l">
              <a:lnSpc>
                <a:spcPct val="125933"/>
              </a:lnSpc>
              <a:spcBef>
                <a:spcPts val="0"/>
              </a:spcBef>
              <a:spcAft>
                <a:spcPts val="0"/>
              </a:spcAft>
              <a:buNone/>
            </a:pPr>
            <a:r>
              <a:rPr b="0" i="0" lang="en-US" sz="1500" u="none" cap="none" strike="noStrike">
                <a:solidFill>
                  <a:srgbClr val="CCCCCC"/>
                </a:solidFill>
                <a:latin typeface="Calibri"/>
                <a:ea typeface="Calibri"/>
                <a:cs typeface="Calibri"/>
                <a:sym typeface="Calibri"/>
              </a:rPr>
              <a:t>Alpine.js + HTML5 + Chart.js</a:t>
            </a:r>
            <a:endParaRPr/>
          </a:p>
        </p:txBody>
      </p:sp>
      <p:sp>
        <p:nvSpPr>
          <p:cNvPr id="531" name="Google Shape;531;p14"/>
          <p:cNvSpPr/>
          <p:nvPr/>
        </p:nvSpPr>
        <p:spPr>
          <a:xfrm>
            <a:off x="5076711" y="8329803"/>
            <a:ext cx="3870769" cy="1184910"/>
          </a:xfrm>
          <a:custGeom>
            <a:rect b="b" l="l" r="r" t="t"/>
            <a:pathLst>
              <a:path extrusionOk="0" h="1579880" w="5161026">
                <a:moveTo>
                  <a:pt x="0" y="130048"/>
                </a:moveTo>
                <a:cubicBezTo>
                  <a:pt x="0" y="58293"/>
                  <a:pt x="58293" y="0"/>
                  <a:pt x="130048" y="0"/>
                </a:cubicBezTo>
                <a:lnTo>
                  <a:pt x="5030978" y="0"/>
                </a:lnTo>
                <a:cubicBezTo>
                  <a:pt x="5102860" y="0"/>
                  <a:pt x="5161026" y="58293"/>
                  <a:pt x="5161026" y="130048"/>
                </a:cubicBezTo>
                <a:lnTo>
                  <a:pt x="5161026" y="1449832"/>
                </a:lnTo>
                <a:cubicBezTo>
                  <a:pt x="5161026" y="1521714"/>
                  <a:pt x="5102733" y="1579880"/>
                  <a:pt x="5030978" y="1579880"/>
                </a:cubicBezTo>
                <a:lnTo>
                  <a:pt x="130048" y="1579880"/>
                </a:lnTo>
                <a:cubicBezTo>
                  <a:pt x="58293" y="1579880"/>
                  <a:pt x="0" y="1521587"/>
                  <a:pt x="0" y="1449832"/>
                </a:cubicBezTo>
                <a:close/>
              </a:path>
            </a:pathLst>
          </a:custGeom>
          <a:solidFill>
            <a:srgbClr val="20263D"/>
          </a:solidFill>
          <a:ln cap="sq" cmpd="sng" w="19050">
            <a:solidFill>
              <a:srgbClr val="2ECC7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 name="Google Shape;532;p14"/>
          <p:cNvGrpSpPr/>
          <p:nvPr/>
        </p:nvGrpSpPr>
        <p:grpSpPr>
          <a:xfrm>
            <a:off x="5278260" y="8427625"/>
            <a:ext cx="3467748" cy="405479"/>
            <a:chOff x="0" y="-28575"/>
            <a:chExt cx="4623664" cy="540639"/>
          </a:xfrm>
        </p:grpSpPr>
        <p:sp>
          <p:nvSpPr>
            <p:cNvPr id="533" name="Google Shape;533;p14"/>
            <p:cNvSpPr/>
            <p:nvPr/>
          </p:nvSpPr>
          <p:spPr>
            <a:xfrm>
              <a:off x="0" y="0"/>
              <a:ext cx="4623664" cy="512064"/>
            </a:xfrm>
            <a:custGeom>
              <a:rect b="b" l="l" r="r" t="t"/>
              <a:pathLst>
                <a:path extrusionOk="0" h="512064" w="4623664">
                  <a:moveTo>
                    <a:pt x="0" y="0"/>
                  </a:moveTo>
                  <a:lnTo>
                    <a:pt x="4623664" y="0"/>
                  </a:lnTo>
                  <a:lnTo>
                    <a:pt x="4623664" y="512064"/>
                  </a:lnTo>
                  <a:lnTo>
                    <a:pt x="0" y="512064"/>
                  </a:lnTo>
                  <a:close/>
                </a:path>
              </a:pathLst>
            </a:custGeom>
            <a:blipFill rotWithShape="1">
              <a:blip r:embed="rId3">
                <a:alphaModFix amt="0"/>
              </a:blip>
              <a:stretch>
                <a:fillRect b="-125945" l="0" r="0" t="-125945"/>
              </a:stretch>
            </a:blipFill>
            <a:ln>
              <a:noFill/>
            </a:ln>
          </p:spPr>
        </p:sp>
        <p:sp>
          <p:nvSpPr>
            <p:cNvPr id="534" name="Google Shape;534;p14"/>
            <p:cNvSpPr txBox="1"/>
            <p:nvPr/>
          </p:nvSpPr>
          <p:spPr>
            <a:xfrm>
              <a:off x="0" y="-28575"/>
              <a:ext cx="4623664" cy="54063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2ECC71"/>
                  </a:solidFill>
                  <a:latin typeface="Calibri"/>
                  <a:ea typeface="Calibri"/>
                  <a:cs typeface="Calibri"/>
                  <a:sym typeface="Calibri"/>
                </a:rPr>
                <a:t>Backend:</a:t>
              </a:r>
              <a:endParaRPr/>
            </a:p>
          </p:txBody>
        </p:sp>
      </p:grpSp>
      <p:sp>
        <p:nvSpPr>
          <p:cNvPr id="535" name="Google Shape;535;p14"/>
          <p:cNvSpPr txBox="1"/>
          <p:nvPr/>
        </p:nvSpPr>
        <p:spPr>
          <a:xfrm>
            <a:off x="5369700" y="8840724"/>
            <a:ext cx="3284868" cy="550164"/>
          </a:xfrm>
          <a:prstGeom prst="rect">
            <a:avLst/>
          </a:prstGeom>
          <a:noFill/>
          <a:ln>
            <a:noFill/>
          </a:ln>
        </p:spPr>
        <p:txBody>
          <a:bodyPr anchorCtr="0" anchor="t" bIns="0" lIns="0" spcFirstLastPara="1" rIns="0" wrap="square" tIns="0">
            <a:spAutoFit/>
          </a:bodyPr>
          <a:lstStyle/>
          <a:p>
            <a:pPr indent="0" lvl="0" marL="0" marR="0" rtl="0" algn="l">
              <a:lnSpc>
                <a:spcPct val="125933"/>
              </a:lnSpc>
              <a:spcBef>
                <a:spcPts val="0"/>
              </a:spcBef>
              <a:spcAft>
                <a:spcPts val="0"/>
              </a:spcAft>
              <a:buNone/>
            </a:pPr>
            <a:r>
              <a:rPr b="0" i="0" lang="en-US" sz="1500" u="none" cap="none" strike="noStrike">
                <a:solidFill>
                  <a:srgbClr val="CCCCCC"/>
                </a:solidFill>
                <a:latin typeface="Calibri"/>
                <a:ea typeface="Calibri"/>
                <a:cs typeface="Calibri"/>
                <a:sym typeface="Calibri"/>
              </a:rPr>
              <a:t>Node.js + Multer + Nodemailer + Archiver.js</a:t>
            </a:r>
            <a:endParaRPr/>
          </a:p>
        </p:txBody>
      </p:sp>
      <p:sp>
        <p:nvSpPr>
          <p:cNvPr id="536" name="Google Shape;536;p14"/>
          <p:cNvSpPr/>
          <p:nvPr/>
        </p:nvSpPr>
        <p:spPr>
          <a:xfrm>
            <a:off x="9339986" y="8329803"/>
            <a:ext cx="3870769" cy="1184910"/>
          </a:xfrm>
          <a:custGeom>
            <a:rect b="b" l="l" r="r" t="t"/>
            <a:pathLst>
              <a:path extrusionOk="0" h="1579880" w="5161026">
                <a:moveTo>
                  <a:pt x="0" y="130048"/>
                </a:moveTo>
                <a:cubicBezTo>
                  <a:pt x="0" y="58293"/>
                  <a:pt x="58293" y="0"/>
                  <a:pt x="130048" y="0"/>
                </a:cubicBezTo>
                <a:lnTo>
                  <a:pt x="5030978" y="0"/>
                </a:lnTo>
                <a:cubicBezTo>
                  <a:pt x="5102860" y="0"/>
                  <a:pt x="5161026" y="58293"/>
                  <a:pt x="5161026" y="130048"/>
                </a:cubicBezTo>
                <a:lnTo>
                  <a:pt x="5161026" y="1449832"/>
                </a:lnTo>
                <a:cubicBezTo>
                  <a:pt x="5161026" y="1521714"/>
                  <a:pt x="5102733" y="1579880"/>
                  <a:pt x="5030978" y="1579880"/>
                </a:cubicBezTo>
                <a:lnTo>
                  <a:pt x="130048" y="1579880"/>
                </a:lnTo>
                <a:cubicBezTo>
                  <a:pt x="58293" y="1579880"/>
                  <a:pt x="0" y="1521587"/>
                  <a:pt x="0" y="1449832"/>
                </a:cubicBezTo>
                <a:close/>
              </a:path>
            </a:pathLst>
          </a:custGeom>
          <a:solidFill>
            <a:srgbClr val="20263D"/>
          </a:solidFill>
          <a:ln cap="sq" cmpd="sng" w="19050">
            <a:solidFill>
              <a:srgbClr val="9B59B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 name="Google Shape;537;p14"/>
          <p:cNvGrpSpPr/>
          <p:nvPr/>
        </p:nvGrpSpPr>
        <p:grpSpPr>
          <a:xfrm>
            <a:off x="9541535" y="8427625"/>
            <a:ext cx="3467748" cy="405479"/>
            <a:chOff x="0" y="-28575"/>
            <a:chExt cx="4623664" cy="540639"/>
          </a:xfrm>
        </p:grpSpPr>
        <p:sp>
          <p:nvSpPr>
            <p:cNvPr id="538" name="Google Shape;538;p14"/>
            <p:cNvSpPr/>
            <p:nvPr/>
          </p:nvSpPr>
          <p:spPr>
            <a:xfrm>
              <a:off x="0" y="0"/>
              <a:ext cx="4623664" cy="512064"/>
            </a:xfrm>
            <a:custGeom>
              <a:rect b="b" l="l" r="r" t="t"/>
              <a:pathLst>
                <a:path extrusionOk="0" h="512064" w="4623664">
                  <a:moveTo>
                    <a:pt x="0" y="0"/>
                  </a:moveTo>
                  <a:lnTo>
                    <a:pt x="4623664" y="0"/>
                  </a:lnTo>
                  <a:lnTo>
                    <a:pt x="4623664" y="512064"/>
                  </a:lnTo>
                  <a:lnTo>
                    <a:pt x="0" y="512064"/>
                  </a:lnTo>
                  <a:close/>
                </a:path>
              </a:pathLst>
            </a:custGeom>
            <a:blipFill rotWithShape="1">
              <a:blip r:embed="rId3">
                <a:alphaModFix amt="0"/>
              </a:blip>
              <a:stretch>
                <a:fillRect b="-125945" l="0" r="0" t="-125945"/>
              </a:stretch>
            </a:blipFill>
            <a:ln>
              <a:noFill/>
            </a:ln>
          </p:spPr>
        </p:sp>
        <p:sp>
          <p:nvSpPr>
            <p:cNvPr id="539" name="Google Shape;539;p14"/>
            <p:cNvSpPr txBox="1"/>
            <p:nvPr/>
          </p:nvSpPr>
          <p:spPr>
            <a:xfrm>
              <a:off x="0" y="-28575"/>
              <a:ext cx="4623664" cy="54063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9B59B6"/>
                  </a:solidFill>
                  <a:latin typeface="Calibri"/>
                  <a:ea typeface="Calibri"/>
                  <a:cs typeface="Calibri"/>
                  <a:sym typeface="Calibri"/>
                </a:rPr>
                <a:t>Base de Datos:</a:t>
              </a:r>
              <a:endParaRPr/>
            </a:p>
          </p:txBody>
        </p:sp>
      </p:grpSp>
      <p:sp>
        <p:nvSpPr>
          <p:cNvPr id="540" name="Google Shape;540;p14"/>
          <p:cNvSpPr txBox="1"/>
          <p:nvPr/>
        </p:nvSpPr>
        <p:spPr>
          <a:xfrm>
            <a:off x="9632975" y="8840724"/>
            <a:ext cx="3284868" cy="550164"/>
          </a:xfrm>
          <a:prstGeom prst="rect">
            <a:avLst/>
          </a:prstGeom>
          <a:noFill/>
          <a:ln>
            <a:noFill/>
          </a:ln>
        </p:spPr>
        <p:txBody>
          <a:bodyPr anchorCtr="0" anchor="t" bIns="0" lIns="0" spcFirstLastPara="1" rIns="0" wrap="square" tIns="0">
            <a:spAutoFit/>
          </a:bodyPr>
          <a:lstStyle/>
          <a:p>
            <a:pPr indent="0" lvl="0" marL="0" marR="0" rtl="0" algn="l">
              <a:lnSpc>
                <a:spcPct val="125933"/>
              </a:lnSpc>
              <a:spcBef>
                <a:spcPts val="0"/>
              </a:spcBef>
              <a:spcAft>
                <a:spcPts val="0"/>
              </a:spcAft>
              <a:buNone/>
            </a:pPr>
            <a:r>
              <a:rPr b="0" i="0" lang="en-US" sz="1500" u="none" cap="none" strike="noStrike">
                <a:solidFill>
                  <a:srgbClr val="CCCCCC"/>
                </a:solidFill>
                <a:latin typeface="Calibri"/>
                <a:ea typeface="Calibri"/>
                <a:cs typeface="Calibri"/>
                <a:sym typeface="Calibri"/>
              </a:rPr>
              <a:t>MySQL + Triggers de Auditoría</a:t>
            </a:r>
            <a:endParaRPr/>
          </a:p>
        </p:txBody>
      </p:sp>
      <p:sp>
        <p:nvSpPr>
          <p:cNvPr id="541" name="Google Shape;541;p14"/>
          <p:cNvSpPr/>
          <p:nvPr/>
        </p:nvSpPr>
        <p:spPr>
          <a:xfrm>
            <a:off x="13603262" y="8329803"/>
            <a:ext cx="3870770" cy="1184910"/>
          </a:xfrm>
          <a:custGeom>
            <a:rect b="b" l="l" r="r" t="t"/>
            <a:pathLst>
              <a:path extrusionOk="0" h="1579880" w="5161026">
                <a:moveTo>
                  <a:pt x="0" y="130048"/>
                </a:moveTo>
                <a:cubicBezTo>
                  <a:pt x="0" y="58293"/>
                  <a:pt x="58293" y="0"/>
                  <a:pt x="130048" y="0"/>
                </a:cubicBezTo>
                <a:lnTo>
                  <a:pt x="5030978" y="0"/>
                </a:lnTo>
                <a:cubicBezTo>
                  <a:pt x="5102860" y="0"/>
                  <a:pt x="5161026" y="58293"/>
                  <a:pt x="5161026" y="130048"/>
                </a:cubicBezTo>
                <a:lnTo>
                  <a:pt x="5161026" y="1449832"/>
                </a:lnTo>
                <a:cubicBezTo>
                  <a:pt x="5161026" y="1521714"/>
                  <a:pt x="5102733" y="1579880"/>
                  <a:pt x="5030978" y="1579880"/>
                </a:cubicBezTo>
                <a:lnTo>
                  <a:pt x="130048" y="1579880"/>
                </a:lnTo>
                <a:cubicBezTo>
                  <a:pt x="58293" y="1579880"/>
                  <a:pt x="0" y="1521587"/>
                  <a:pt x="0" y="1449832"/>
                </a:cubicBezTo>
                <a:close/>
              </a:path>
            </a:pathLst>
          </a:custGeom>
          <a:solidFill>
            <a:srgbClr val="20263D"/>
          </a:solidFill>
          <a:ln cap="sq" cmpd="sng" w="19050">
            <a:solidFill>
              <a:srgbClr val="F5C54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 name="Google Shape;542;p14"/>
          <p:cNvGrpSpPr/>
          <p:nvPr/>
        </p:nvGrpSpPr>
        <p:grpSpPr>
          <a:xfrm>
            <a:off x="13804811" y="8427625"/>
            <a:ext cx="3467748" cy="405479"/>
            <a:chOff x="0" y="-28575"/>
            <a:chExt cx="4623664" cy="540639"/>
          </a:xfrm>
        </p:grpSpPr>
        <p:sp>
          <p:nvSpPr>
            <p:cNvPr id="543" name="Google Shape;543;p14"/>
            <p:cNvSpPr/>
            <p:nvPr/>
          </p:nvSpPr>
          <p:spPr>
            <a:xfrm>
              <a:off x="0" y="0"/>
              <a:ext cx="4623664" cy="512064"/>
            </a:xfrm>
            <a:custGeom>
              <a:rect b="b" l="l" r="r" t="t"/>
              <a:pathLst>
                <a:path extrusionOk="0" h="512064" w="4623664">
                  <a:moveTo>
                    <a:pt x="0" y="0"/>
                  </a:moveTo>
                  <a:lnTo>
                    <a:pt x="4623664" y="0"/>
                  </a:lnTo>
                  <a:lnTo>
                    <a:pt x="4623664" y="512064"/>
                  </a:lnTo>
                  <a:lnTo>
                    <a:pt x="0" y="512064"/>
                  </a:lnTo>
                  <a:close/>
                </a:path>
              </a:pathLst>
            </a:custGeom>
            <a:blipFill rotWithShape="1">
              <a:blip r:embed="rId3">
                <a:alphaModFix amt="0"/>
              </a:blip>
              <a:stretch>
                <a:fillRect b="-125945" l="0" r="0" t="-125945"/>
              </a:stretch>
            </a:blipFill>
            <a:ln>
              <a:noFill/>
            </a:ln>
          </p:spPr>
        </p:sp>
        <p:sp>
          <p:nvSpPr>
            <p:cNvPr id="544" name="Google Shape;544;p14"/>
            <p:cNvSpPr txBox="1"/>
            <p:nvPr/>
          </p:nvSpPr>
          <p:spPr>
            <a:xfrm>
              <a:off x="0" y="-28575"/>
              <a:ext cx="4623664" cy="54063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5C542"/>
                  </a:solidFill>
                  <a:latin typeface="Calibri"/>
                  <a:ea typeface="Calibri"/>
                  <a:cs typeface="Calibri"/>
                  <a:sym typeface="Calibri"/>
                </a:rPr>
                <a:t>Automatización:</a:t>
              </a:r>
              <a:endParaRPr/>
            </a:p>
          </p:txBody>
        </p:sp>
      </p:grpSp>
      <p:sp>
        <p:nvSpPr>
          <p:cNvPr id="545" name="Google Shape;545;p14"/>
          <p:cNvSpPr txBox="1"/>
          <p:nvPr/>
        </p:nvSpPr>
        <p:spPr>
          <a:xfrm>
            <a:off x="13896251" y="8840724"/>
            <a:ext cx="3284868" cy="550164"/>
          </a:xfrm>
          <a:prstGeom prst="rect">
            <a:avLst/>
          </a:prstGeom>
          <a:noFill/>
          <a:ln>
            <a:noFill/>
          </a:ln>
        </p:spPr>
        <p:txBody>
          <a:bodyPr anchorCtr="0" anchor="t" bIns="0" lIns="0" spcFirstLastPara="1" rIns="0" wrap="square" tIns="0">
            <a:spAutoFit/>
          </a:bodyPr>
          <a:lstStyle/>
          <a:p>
            <a:pPr indent="0" lvl="0" marL="0" marR="0" rtl="0" algn="l">
              <a:lnSpc>
                <a:spcPct val="125933"/>
              </a:lnSpc>
              <a:spcBef>
                <a:spcPts val="0"/>
              </a:spcBef>
              <a:spcAft>
                <a:spcPts val="0"/>
              </a:spcAft>
              <a:buNone/>
            </a:pPr>
            <a:r>
              <a:rPr b="0" i="0" lang="en-US" sz="1500" u="none" cap="none" strike="noStrike">
                <a:solidFill>
                  <a:srgbClr val="CCCCCC"/>
                </a:solidFill>
                <a:latin typeface="Calibri"/>
                <a:ea typeface="Calibri"/>
                <a:cs typeface="Calibri"/>
                <a:sym typeface="Calibri"/>
              </a:rPr>
              <a:t>Cron Jobs — Motor SLA, Auto-cierre, Reportes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553" name="Shape 553"/>
        <p:cNvGrpSpPr/>
        <p:nvPr/>
      </p:nvGrpSpPr>
      <p:grpSpPr>
        <a:xfrm>
          <a:off x="0" y="0"/>
          <a:ext cx="0" cy="0"/>
          <a:chOff x="0" y="0"/>
          <a:chExt cx="0" cy="0"/>
        </a:xfrm>
      </p:grpSpPr>
      <p:grpSp>
        <p:nvGrpSpPr>
          <p:cNvPr id="554" name="Google Shape;554;p15"/>
          <p:cNvGrpSpPr/>
          <p:nvPr/>
        </p:nvGrpSpPr>
        <p:grpSpPr>
          <a:xfrm>
            <a:off x="685800" y="408623"/>
            <a:ext cx="16915944" cy="1305878"/>
            <a:chOff x="0" y="-95250"/>
            <a:chExt cx="22554591" cy="1741170"/>
          </a:xfrm>
        </p:grpSpPr>
        <p:sp>
          <p:nvSpPr>
            <p:cNvPr id="555" name="Google Shape;555;p15"/>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556" name="Google Shape;556;p15"/>
            <p:cNvSpPr txBox="1"/>
            <p:nvPr/>
          </p:nvSpPr>
          <p:spPr>
            <a:xfrm>
              <a:off x="0" y="-95250"/>
              <a:ext cx="22554590" cy="174117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FFFFFF"/>
                  </a:solidFill>
                  <a:latin typeface="Calibri"/>
                  <a:ea typeface="Calibri"/>
                  <a:cs typeface="Calibri"/>
                  <a:sym typeface="Calibri"/>
                </a:rPr>
                <a:t>CASOS DE USO IMPLEMENTADOS</a:t>
              </a:r>
              <a:endParaRPr/>
            </a:p>
          </p:txBody>
        </p:sp>
      </p:grpSp>
      <p:grpSp>
        <p:nvGrpSpPr>
          <p:cNvPr id="557" name="Google Shape;557;p15"/>
          <p:cNvGrpSpPr/>
          <p:nvPr/>
        </p:nvGrpSpPr>
        <p:grpSpPr>
          <a:xfrm>
            <a:off x="822960" y="1370457"/>
            <a:ext cx="16641623" cy="467487"/>
            <a:chOff x="0" y="-38100"/>
            <a:chExt cx="22188830" cy="623316"/>
          </a:xfrm>
        </p:grpSpPr>
        <p:sp>
          <p:nvSpPr>
            <p:cNvPr id="558" name="Google Shape;558;p15"/>
            <p:cNvSpPr/>
            <p:nvPr/>
          </p:nvSpPr>
          <p:spPr>
            <a:xfrm>
              <a:off x="0" y="0"/>
              <a:ext cx="22188830" cy="585216"/>
            </a:xfrm>
            <a:custGeom>
              <a:rect b="b" l="l" r="r" t="t"/>
              <a:pathLst>
                <a:path extrusionOk="0" h="585216" w="22188830">
                  <a:moveTo>
                    <a:pt x="0" y="0"/>
                  </a:moveTo>
                  <a:lnTo>
                    <a:pt x="22188830" y="0"/>
                  </a:lnTo>
                  <a:lnTo>
                    <a:pt x="22188830" y="585216"/>
                  </a:lnTo>
                  <a:lnTo>
                    <a:pt x="0" y="585216"/>
                  </a:lnTo>
                  <a:close/>
                </a:path>
              </a:pathLst>
            </a:custGeom>
            <a:blipFill rotWithShape="1">
              <a:blip r:embed="rId3">
                <a:alphaModFix amt="0"/>
              </a:blip>
              <a:stretch>
                <a:fillRect b="-688771" l="0" r="0" t="-688771"/>
              </a:stretch>
            </a:blipFill>
            <a:ln>
              <a:noFill/>
            </a:ln>
          </p:spPr>
        </p:sp>
        <p:sp>
          <p:nvSpPr>
            <p:cNvPr id="559" name="Google Shape;559;p15"/>
            <p:cNvSpPr txBox="1"/>
            <p:nvPr/>
          </p:nvSpPr>
          <p:spPr>
            <a:xfrm>
              <a:off x="0" y="-38100"/>
              <a:ext cx="22188830" cy="62331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1" lang="en-US" sz="1800" u="none" cap="none" strike="noStrike">
                  <a:solidFill>
                    <a:srgbClr val="CCCCCC"/>
                  </a:solidFill>
                  <a:latin typeface="Calibri"/>
                  <a:ea typeface="Calibri"/>
                  <a:cs typeface="Calibri"/>
                  <a:sym typeface="Calibri"/>
                </a:rPr>
                <a:t>28 nuevos Casos de Uso en formato OMT extendido  |  Actores: Administrador, Técnico, Solicitante, Sistema</a:t>
              </a:r>
              <a:endParaRPr/>
            </a:p>
          </p:txBody>
        </p:sp>
      </p:grpSp>
      <p:sp>
        <p:nvSpPr>
          <p:cNvPr id="560" name="Google Shape;560;p15"/>
          <p:cNvSpPr/>
          <p:nvPr/>
        </p:nvSpPr>
        <p:spPr>
          <a:xfrm>
            <a:off x="754380" y="205740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5"/>
          <p:cNvSpPr/>
          <p:nvPr/>
        </p:nvSpPr>
        <p:spPr>
          <a:xfrm>
            <a:off x="905256" y="222199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15"/>
          <p:cNvGrpSpPr/>
          <p:nvPr/>
        </p:nvGrpSpPr>
        <p:grpSpPr>
          <a:xfrm>
            <a:off x="1193292" y="2104549"/>
            <a:ext cx="3481464" cy="378047"/>
            <a:chOff x="0" y="-28575"/>
            <a:chExt cx="4641952" cy="504063"/>
          </a:xfrm>
        </p:grpSpPr>
        <p:sp>
          <p:nvSpPr>
            <p:cNvPr id="563" name="Google Shape;56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64" name="Google Shape;56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CU-05</a:t>
              </a:r>
              <a:endParaRPr/>
            </a:p>
          </p:txBody>
        </p:sp>
      </p:grpSp>
      <p:sp>
        <p:nvSpPr>
          <p:cNvPr id="565" name="Google Shape;565;p15"/>
          <p:cNvSpPr txBox="1"/>
          <p:nvPr/>
        </p:nvSpPr>
        <p:spPr>
          <a:xfrm>
            <a:off x="996696" y="254088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Config. Prioridad y SLA</a:t>
            </a:r>
            <a:endParaRPr/>
          </a:p>
        </p:txBody>
      </p:sp>
      <p:sp>
        <p:nvSpPr>
          <p:cNvPr id="566" name="Google Shape;566;p15"/>
          <p:cNvSpPr/>
          <p:nvPr/>
        </p:nvSpPr>
        <p:spPr>
          <a:xfrm>
            <a:off x="5003940" y="205740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5154816" y="222199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 name="Google Shape;568;p15"/>
          <p:cNvGrpSpPr/>
          <p:nvPr/>
        </p:nvGrpSpPr>
        <p:grpSpPr>
          <a:xfrm>
            <a:off x="5442852" y="2104549"/>
            <a:ext cx="3481464" cy="378047"/>
            <a:chOff x="0" y="-28575"/>
            <a:chExt cx="4641952" cy="504063"/>
          </a:xfrm>
        </p:grpSpPr>
        <p:sp>
          <p:nvSpPr>
            <p:cNvPr id="569" name="Google Shape;56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70" name="Google Shape;57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CU-06</a:t>
              </a:r>
              <a:endParaRPr/>
            </a:p>
          </p:txBody>
        </p:sp>
      </p:grpSp>
      <p:sp>
        <p:nvSpPr>
          <p:cNvPr id="571" name="Google Shape;571;p15"/>
          <p:cNvSpPr txBox="1"/>
          <p:nvPr/>
        </p:nvSpPr>
        <p:spPr>
          <a:xfrm>
            <a:off x="5246256" y="254088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Asignación Automática</a:t>
            </a:r>
            <a:endParaRPr/>
          </a:p>
        </p:txBody>
      </p:sp>
      <p:sp>
        <p:nvSpPr>
          <p:cNvPr id="572" name="Google Shape;572;p15"/>
          <p:cNvSpPr/>
          <p:nvPr/>
        </p:nvSpPr>
        <p:spPr>
          <a:xfrm>
            <a:off x="9253499" y="205740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a:off x="9404375" y="222199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4" name="Google Shape;574;p15"/>
          <p:cNvGrpSpPr/>
          <p:nvPr/>
        </p:nvGrpSpPr>
        <p:grpSpPr>
          <a:xfrm>
            <a:off x="9692411" y="2104549"/>
            <a:ext cx="3481464" cy="378047"/>
            <a:chOff x="0" y="-28575"/>
            <a:chExt cx="4641952" cy="504063"/>
          </a:xfrm>
        </p:grpSpPr>
        <p:sp>
          <p:nvSpPr>
            <p:cNvPr id="575" name="Google Shape;57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76" name="Google Shape;57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CU-10</a:t>
              </a:r>
              <a:endParaRPr/>
            </a:p>
          </p:txBody>
        </p:sp>
      </p:grpSp>
      <p:sp>
        <p:nvSpPr>
          <p:cNvPr id="577" name="Google Shape;577;p15"/>
          <p:cNvSpPr txBox="1"/>
          <p:nvPr/>
        </p:nvSpPr>
        <p:spPr>
          <a:xfrm>
            <a:off x="9495815" y="254088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Advertencia Externa</a:t>
            </a:r>
            <a:endParaRPr/>
          </a:p>
        </p:txBody>
      </p:sp>
      <p:sp>
        <p:nvSpPr>
          <p:cNvPr id="578" name="Google Shape;578;p15"/>
          <p:cNvSpPr/>
          <p:nvPr/>
        </p:nvSpPr>
        <p:spPr>
          <a:xfrm>
            <a:off x="13503059" y="205740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13653935" y="222199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0" name="Google Shape;580;p15"/>
          <p:cNvGrpSpPr/>
          <p:nvPr/>
        </p:nvGrpSpPr>
        <p:grpSpPr>
          <a:xfrm>
            <a:off x="13941971" y="2104549"/>
            <a:ext cx="3481464" cy="378047"/>
            <a:chOff x="0" y="-28575"/>
            <a:chExt cx="4641952" cy="504063"/>
          </a:xfrm>
        </p:grpSpPr>
        <p:sp>
          <p:nvSpPr>
            <p:cNvPr id="581" name="Google Shape;581;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82" name="Google Shape;582;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CU-12</a:t>
              </a:r>
              <a:endParaRPr/>
            </a:p>
          </p:txBody>
        </p:sp>
      </p:grpSp>
      <p:sp>
        <p:nvSpPr>
          <p:cNvPr id="583" name="Google Shape;583;p15"/>
          <p:cNvSpPr txBox="1"/>
          <p:nvPr/>
        </p:nvSpPr>
        <p:spPr>
          <a:xfrm>
            <a:off x="13745375" y="254088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Reportes y KPIs</a:t>
            </a:r>
            <a:endParaRPr/>
          </a:p>
        </p:txBody>
      </p:sp>
      <p:sp>
        <p:nvSpPr>
          <p:cNvPr id="584" name="Google Shape;584;p15"/>
          <p:cNvSpPr/>
          <p:nvPr/>
        </p:nvSpPr>
        <p:spPr>
          <a:xfrm>
            <a:off x="754380" y="317819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905256" y="334278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 name="Google Shape;586;p15"/>
          <p:cNvGrpSpPr/>
          <p:nvPr/>
        </p:nvGrpSpPr>
        <p:grpSpPr>
          <a:xfrm>
            <a:off x="1193292" y="3225346"/>
            <a:ext cx="3481464" cy="378047"/>
            <a:chOff x="0" y="-28575"/>
            <a:chExt cx="4641952" cy="504063"/>
          </a:xfrm>
        </p:grpSpPr>
        <p:sp>
          <p:nvSpPr>
            <p:cNvPr id="587" name="Google Shape;587;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88" name="Google Shape;588;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CU-13</a:t>
              </a:r>
              <a:endParaRPr/>
            </a:p>
          </p:txBody>
        </p:sp>
      </p:grpSp>
      <p:sp>
        <p:nvSpPr>
          <p:cNvPr id="589" name="Google Shape;589;p15"/>
          <p:cNvSpPr txBox="1"/>
          <p:nvPr/>
        </p:nvSpPr>
        <p:spPr>
          <a:xfrm>
            <a:off x="996696" y="366168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Exportación de Datos</a:t>
            </a:r>
            <a:endParaRPr/>
          </a:p>
        </p:txBody>
      </p:sp>
      <p:sp>
        <p:nvSpPr>
          <p:cNvPr id="590" name="Google Shape;590;p15"/>
          <p:cNvSpPr/>
          <p:nvPr/>
        </p:nvSpPr>
        <p:spPr>
          <a:xfrm>
            <a:off x="5003940" y="317819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5"/>
          <p:cNvSpPr/>
          <p:nvPr/>
        </p:nvSpPr>
        <p:spPr>
          <a:xfrm>
            <a:off x="5154816" y="334278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2" name="Google Shape;592;p15"/>
          <p:cNvGrpSpPr/>
          <p:nvPr/>
        </p:nvGrpSpPr>
        <p:grpSpPr>
          <a:xfrm>
            <a:off x="5442852" y="3225346"/>
            <a:ext cx="3481464" cy="378047"/>
            <a:chOff x="0" y="-28575"/>
            <a:chExt cx="4641952" cy="504063"/>
          </a:xfrm>
        </p:grpSpPr>
        <p:sp>
          <p:nvSpPr>
            <p:cNvPr id="593" name="Google Shape;59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594" name="Google Shape;59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CU-14</a:t>
              </a:r>
              <a:endParaRPr/>
            </a:p>
          </p:txBody>
        </p:sp>
      </p:grpSp>
      <p:sp>
        <p:nvSpPr>
          <p:cNvPr id="595" name="Google Shape;595;p15"/>
          <p:cNvSpPr txBox="1"/>
          <p:nvPr/>
        </p:nvSpPr>
        <p:spPr>
          <a:xfrm>
            <a:off x="5246256" y="366168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Ventana Operativa</a:t>
            </a:r>
            <a:endParaRPr/>
          </a:p>
        </p:txBody>
      </p:sp>
      <p:sp>
        <p:nvSpPr>
          <p:cNvPr id="596" name="Google Shape;596;p15"/>
          <p:cNvSpPr/>
          <p:nvPr/>
        </p:nvSpPr>
        <p:spPr>
          <a:xfrm>
            <a:off x="9253499" y="317819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9404375" y="334278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 name="Google Shape;598;p15"/>
          <p:cNvGrpSpPr/>
          <p:nvPr/>
        </p:nvGrpSpPr>
        <p:grpSpPr>
          <a:xfrm>
            <a:off x="9692411" y="3225346"/>
            <a:ext cx="3481464" cy="378047"/>
            <a:chOff x="0" y="-28575"/>
            <a:chExt cx="4641952" cy="504063"/>
          </a:xfrm>
        </p:grpSpPr>
        <p:sp>
          <p:nvSpPr>
            <p:cNvPr id="599" name="Google Shape;59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00" name="Google Shape;60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CU-17</a:t>
              </a:r>
              <a:endParaRPr/>
            </a:p>
          </p:txBody>
        </p:sp>
      </p:grpSp>
      <p:sp>
        <p:nvSpPr>
          <p:cNvPr id="601" name="Google Shape;601;p15"/>
          <p:cNvSpPr txBox="1"/>
          <p:nvPr/>
        </p:nvSpPr>
        <p:spPr>
          <a:xfrm>
            <a:off x="9495815" y="366168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Notas Técnicas Privadas</a:t>
            </a:r>
            <a:endParaRPr/>
          </a:p>
        </p:txBody>
      </p:sp>
      <p:sp>
        <p:nvSpPr>
          <p:cNvPr id="602" name="Google Shape;602;p15"/>
          <p:cNvSpPr/>
          <p:nvPr/>
        </p:nvSpPr>
        <p:spPr>
          <a:xfrm>
            <a:off x="13503059" y="317819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13653935" y="334278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4" name="Google Shape;604;p15"/>
          <p:cNvGrpSpPr/>
          <p:nvPr/>
        </p:nvGrpSpPr>
        <p:grpSpPr>
          <a:xfrm>
            <a:off x="13941971" y="3225346"/>
            <a:ext cx="3481464" cy="378047"/>
            <a:chOff x="0" y="-28575"/>
            <a:chExt cx="4641952" cy="504063"/>
          </a:xfrm>
        </p:grpSpPr>
        <p:sp>
          <p:nvSpPr>
            <p:cNvPr id="605" name="Google Shape;60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06" name="Google Shape;60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CU-18</a:t>
              </a:r>
              <a:endParaRPr/>
            </a:p>
          </p:txBody>
        </p:sp>
      </p:grpSp>
      <p:sp>
        <p:nvSpPr>
          <p:cNvPr id="607" name="Google Shape;607;p15"/>
          <p:cNvSpPr txBox="1"/>
          <p:nvPr/>
        </p:nvSpPr>
        <p:spPr>
          <a:xfrm>
            <a:off x="13745375" y="366168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Reapertura de Ticket</a:t>
            </a:r>
            <a:endParaRPr/>
          </a:p>
        </p:txBody>
      </p:sp>
      <p:sp>
        <p:nvSpPr>
          <p:cNvPr id="608" name="Google Shape;608;p15"/>
          <p:cNvSpPr/>
          <p:nvPr/>
        </p:nvSpPr>
        <p:spPr>
          <a:xfrm>
            <a:off x="754380" y="429898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5"/>
          <p:cNvSpPr/>
          <p:nvPr/>
        </p:nvSpPr>
        <p:spPr>
          <a:xfrm>
            <a:off x="905256" y="446357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15"/>
          <p:cNvGrpSpPr/>
          <p:nvPr/>
        </p:nvGrpSpPr>
        <p:grpSpPr>
          <a:xfrm>
            <a:off x="1193292" y="4346134"/>
            <a:ext cx="3481464" cy="378047"/>
            <a:chOff x="0" y="-28575"/>
            <a:chExt cx="4641952" cy="504063"/>
          </a:xfrm>
        </p:grpSpPr>
        <p:sp>
          <p:nvSpPr>
            <p:cNvPr id="611" name="Google Shape;611;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12" name="Google Shape;612;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CU-21</a:t>
              </a:r>
              <a:endParaRPr/>
            </a:p>
          </p:txBody>
        </p:sp>
      </p:grpSp>
      <p:sp>
        <p:nvSpPr>
          <p:cNvPr id="613" name="Google Shape;613;p15"/>
          <p:cNvSpPr txBox="1"/>
          <p:nvPr/>
        </p:nvSpPr>
        <p:spPr>
          <a:xfrm>
            <a:off x="996696" y="478247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Ajuste de Urgencia</a:t>
            </a:r>
            <a:endParaRPr/>
          </a:p>
        </p:txBody>
      </p:sp>
      <p:sp>
        <p:nvSpPr>
          <p:cNvPr id="614" name="Google Shape;614;p15"/>
          <p:cNvSpPr/>
          <p:nvPr/>
        </p:nvSpPr>
        <p:spPr>
          <a:xfrm>
            <a:off x="5003940" y="429898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5"/>
          <p:cNvSpPr/>
          <p:nvPr/>
        </p:nvSpPr>
        <p:spPr>
          <a:xfrm>
            <a:off x="5154816" y="446357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6" name="Google Shape;616;p15"/>
          <p:cNvGrpSpPr/>
          <p:nvPr/>
        </p:nvGrpSpPr>
        <p:grpSpPr>
          <a:xfrm>
            <a:off x="5442852" y="4346134"/>
            <a:ext cx="3481464" cy="378047"/>
            <a:chOff x="0" y="-28575"/>
            <a:chExt cx="4641952" cy="504063"/>
          </a:xfrm>
        </p:grpSpPr>
        <p:sp>
          <p:nvSpPr>
            <p:cNvPr id="617" name="Google Shape;617;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18" name="Google Shape;618;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CU-22</a:t>
              </a:r>
              <a:endParaRPr/>
            </a:p>
          </p:txBody>
        </p:sp>
      </p:grpSp>
      <p:sp>
        <p:nvSpPr>
          <p:cNvPr id="619" name="Google Shape;619;p15"/>
          <p:cNvSpPr txBox="1"/>
          <p:nvPr/>
        </p:nvSpPr>
        <p:spPr>
          <a:xfrm>
            <a:off x="5246256" y="478247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Ubicación del Incidente</a:t>
            </a:r>
            <a:endParaRPr/>
          </a:p>
        </p:txBody>
      </p:sp>
      <p:sp>
        <p:nvSpPr>
          <p:cNvPr id="620" name="Google Shape;620;p15"/>
          <p:cNvSpPr/>
          <p:nvPr/>
        </p:nvSpPr>
        <p:spPr>
          <a:xfrm>
            <a:off x="9253499" y="429898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9404375" y="446357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15"/>
          <p:cNvGrpSpPr/>
          <p:nvPr/>
        </p:nvGrpSpPr>
        <p:grpSpPr>
          <a:xfrm>
            <a:off x="9692411" y="4346134"/>
            <a:ext cx="3481464" cy="378047"/>
            <a:chOff x="0" y="-28575"/>
            <a:chExt cx="4641952" cy="504063"/>
          </a:xfrm>
        </p:grpSpPr>
        <p:sp>
          <p:nvSpPr>
            <p:cNvPr id="623" name="Google Shape;62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24" name="Google Shape;62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CU-23</a:t>
              </a:r>
              <a:endParaRPr/>
            </a:p>
          </p:txBody>
        </p:sp>
      </p:grpSp>
      <p:sp>
        <p:nvSpPr>
          <p:cNvPr id="625" name="Google Shape;625;p15"/>
          <p:cNvSpPr txBox="1"/>
          <p:nvPr/>
        </p:nvSpPr>
        <p:spPr>
          <a:xfrm>
            <a:off x="9495815" y="478247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Autocompletado de Equipo</a:t>
            </a:r>
            <a:endParaRPr/>
          </a:p>
        </p:txBody>
      </p:sp>
      <p:sp>
        <p:nvSpPr>
          <p:cNvPr id="626" name="Google Shape;626;p15"/>
          <p:cNvSpPr/>
          <p:nvPr/>
        </p:nvSpPr>
        <p:spPr>
          <a:xfrm>
            <a:off x="13503059" y="429898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5"/>
          <p:cNvSpPr/>
          <p:nvPr/>
        </p:nvSpPr>
        <p:spPr>
          <a:xfrm>
            <a:off x="13653935" y="446357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8" name="Google Shape;628;p15"/>
          <p:cNvGrpSpPr/>
          <p:nvPr/>
        </p:nvGrpSpPr>
        <p:grpSpPr>
          <a:xfrm>
            <a:off x="13941971" y="4346134"/>
            <a:ext cx="3481464" cy="378047"/>
            <a:chOff x="0" y="-28575"/>
            <a:chExt cx="4641952" cy="504063"/>
          </a:xfrm>
        </p:grpSpPr>
        <p:sp>
          <p:nvSpPr>
            <p:cNvPr id="629" name="Google Shape;62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30" name="Google Shape;63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CU-24</a:t>
              </a:r>
              <a:endParaRPr/>
            </a:p>
          </p:txBody>
        </p:sp>
      </p:grpSp>
      <p:sp>
        <p:nvSpPr>
          <p:cNvPr id="631" name="Google Shape;631;p15"/>
          <p:cNvSpPr txBox="1"/>
          <p:nvPr/>
        </p:nvSpPr>
        <p:spPr>
          <a:xfrm>
            <a:off x="13745375" y="478247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Imputación de Materiales</a:t>
            </a:r>
            <a:endParaRPr/>
          </a:p>
        </p:txBody>
      </p:sp>
      <p:sp>
        <p:nvSpPr>
          <p:cNvPr id="632" name="Google Shape;632;p15"/>
          <p:cNvSpPr/>
          <p:nvPr/>
        </p:nvSpPr>
        <p:spPr>
          <a:xfrm>
            <a:off x="754380" y="5419782"/>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5"/>
          <p:cNvSpPr/>
          <p:nvPr/>
        </p:nvSpPr>
        <p:spPr>
          <a:xfrm>
            <a:off x="905256" y="5584374"/>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4" name="Google Shape;634;p15"/>
          <p:cNvGrpSpPr/>
          <p:nvPr/>
        </p:nvGrpSpPr>
        <p:grpSpPr>
          <a:xfrm>
            <a:off x="1193292" y="5466931"/>
            <a:ext cx="3481464" cy="378047"/>
            <a:chOff x="0" y="-28575"/>
            <a:chExt cx="4641952" cy="504063"/>
          </a:xfrm>
        </p:grpSpPr>
        <p:sp>
          <p:nvSpPr>
            <p:cNvPr id="635" name="Google Shape;63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36" name="Google Shape;63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CU-25</a:t>
              </a:r>
              <a:endParaRPr/>
            </a:p>
          </p:txBody>
        </p:sp>
      </p:grpSp>
      <p:sp>
        <p:nvSpPr>
          <p:cNvPr id="637" name="Google Shape;637;p15"/>
          <p:cNvSpPr txBox="1"/>
          <p:nvPr/>
        </p:nvSpPr>
        <p:spPr>
          <a:xfrm>
            <a:off x="996696" y="5903271"/>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Consolidado Financiero</a:t>
            </a:r>
            <a:endParaRPr/>
          </a:p>
        </p:txBody>
      </p:sp>
      <p:sp>
        <p:nvSpPr>
          <p:cNvPr id="638" name="Google Shape;638;p15"/>
          <p:cNvSpPr/>
          <p:nvPr/>
        </p:nvSpPr>
        <p:spPr>
          <a:xfrm>
            <a:off x="5003940" y="5419782"/>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5"/>
          <p:cNvSpPr/>
          <p:nvPr/>
        </p:nvSpPr>
        <p:spPr>
          <a:xfrm>
            <a:off x="5154816" y="5584374"/>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15"/>
          <p:cNvGrpSpPr/>
          <p:nvPr/>
        </p:nvGrpSpPr>
        <p:grpSpPr>
          <a:xfrm>
            <a:off x="5442852" y="5466931"/>
            <a:ext cx="3481464" cy="378047"/>
            <a:chOff x="0" y="-28575"/>
            <a:chExt cx="4641952" cy="504063"/>
          </a:xfrm>
        </p:grpSpPr>
        <p:sp>
          <p:nvSpPr>
            <p:cNvPr id="641" name="Google Shape;641;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42" name="Google Shape;642;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CU-28</a:t>
              </a:r>
              <a:endParaRPr/>
            </a:p>
          </p:txBody>
        </p:sp>
      </p:grpSp>
      <p:sp>
        <p:nvSpPr>
          <p:cNvPr id="643" name="Google Shape;643;p15"/>
          <p:cNvSpPr txBox="1"/>
          <p:nvPr/>
        </p:nvSpPr>
        <p:spPr>
          <a:xfrm>
            <a:off x="5246256" y="5903271"/>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Tiempos de Respuesta SLA</a:t>
            </a:r>
            <a:endParaRPr/>
          </a:p>
        </p:txBody>
      </p:sp>
      <p:sp>
        <p:nvSpPr>
          <p:cNvPr id="644" name="Google Shape;644;p15"/>
          <p:cNvSpPr/>
          <p:nvPr/>
        </p:nvSpPr>
        <p:spPr>
          <a:xfrm>
            <a:off x="9253499" y="5419782"/>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5"/>
          <p:cNvSpPr/>
          <p:nvPr/>
        </p:nvSpPr>
        <p:spPr>
          <a:xfrm>
            <a:off x="9404375" y="5584374"/>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6" name="Google Shape;646;p15"/>
          <p:cNvGrpSpPr/>
          <p:nvPr/>
        </p:nvGrpSpPr>
        <p:grpSpPr>
          <a:xfrm>
            <a:off x="9692411" y="5466931"/>
            <a:ext cx="3481464" cy="378047"/>
            <a:chOff x="0" y="-28575"/>
            <a:chExt cx="4641952" cy="504063"/>
          </a:xfrm>
        </p:grpSpPr>
        <p:sp>
          <p:nvSpPr>
            <p:cNvPr id="647" name="Google Shape;647;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48" name="Google Shape;648;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CU-29</a:t>
              </a:r>
              <a:endParaRPr/>
            </a:p>
          </p:txBody>
        </p:sp>
      </p:grpSp>
      <p:sp>
        <p:nvSpPr>
          <p:cNvPr id="649" name="Google Shape;649;p15"/>
          <p:cNvSpPr txBox="1"/>
          <p:nvPr/>
        </p:nvSpPr>
        <p:spPr>
          <a:xfrm>
            <a:off x="9495815" y="5903271"/>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Monitoreo de Vencimiento</a:t>
            </a:r>
            <a:endParaRPr/>
          </a:p>
        </p:txBody>
      </p:sp>
      <p:sp>
        <p:nvSpPr>
          <p:cNvPr id="650" name="Google Shape;650;p15"/>
          <p:cNvSpPr/>
          <p:nvPr/>
        </p:nvSpPr>
        <p:spPr>
          <a:xfrm>
            <a:off x="13503059" y="5419782"/>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5"/>
          <p:cNvSpPr/>
          <p:nvPr/>
        </p:nvSpPr>
        <p:spPr>
          <a:xfrm>
            <a:off x="13653935" y="5584374"/>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2" name="Google Shape;652;p15"/>
          <p:cNvGrpSpPr/>
          <p:nvPr/>
        </p:nvGrpSpPr>
        <p:grpSpPr>
          <a:xfrm>
            <a:off x="13941971" y="5466931"/>
            <a:ext cx="3481464" cy="378047"/>
            <a:chOff x="0" y="-28575"/>
            <a:chExt cx="4641952" cy="504063"/>
          </a:xfrm>
        </p:grpSpPr>
        <p:sp>
          <p:nvSpPr>
            <p:cNvPr id="653" name="Google Shape;65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54" name="Google Shape;65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CU-33</a:t>
              </a:r>
              <a:endParaRPr/>
            </a:p>
          </p:txBody>
        </p:sp>
      </p:grpSp>
      <p:sp>
        <p:nvSpPr>
          <p:cNvPr id="655" name="Google Shape;655;p15"/>
          <p:cNvSpPr txBox="1"/>
          <p:nvPr/>
        </p:nvSpPr>
        <p:spPr>
          <a:xfrm>
            <a:off x="13745375" y="5903271"/>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Envío de Métricas</a:t>
            </a:r>
            <a:endParaRPr/>
          </a:p>
        </p:txBody>
      </p:sp>
      <p:sp>
        <p:nvSpPr>
          <p:cNvPr id="656" name="Google Shape;656;p15"/>
          <p:cNvSpPr/>
          <p:nvPr/>
        </p:nvSpPr>
        <p:spPr>
          <a:xfrm>
            <a:off x="754380" y="654057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5"/>
          <p:cNvSpPr/>
          <p:nvPr/>
        </p:nvSpPr>
        <p:spPr>
          <a:xfrm>
            <a:off x="905256" y="670516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8" name="Google Shape;658;p15"/>
          <p:cNvGrpSpPr/>
          <p:nvPr/>
        </p:nvGrpSpPr>
        <p:grpSpPr>
          <a:xfrm>
            <a:off x="1193292" y="6587719"/>
            <a:ext cx="3481464" cy="378047"/>
            <a:chOff x="0" y="-28575"/>
            <a:chExt cx="4641952" cy="504063"/>
          </a:xfrm>
        </p:grpSpPr>
        <p:sp>
          <p:nvSpPr>
            <p:cNvPr id="659" name="Google Shape;65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60" name="Google Shape;66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CU-45</a:t>
              </a:r>
              <a:endParaRPr/>
            </a:p>
          </p:txBody>
        </p:sp>
      </p:grpSp>
      <p:sp>
        <p:nvSpPr>
          <p:cNvPr id="661" name="Google Shape;661;p15"/>
          <p:cNvSpPr txBox="1"/>
          <p:nvPr/>
        </p:nvSpPr>
        <p:spPr>
          <a:xfrm>
            <a:off x="996696" y="702405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Calendario Operativo</a:t>
            </a:r>
            <a:endParaRPr/>
          </a:p>
        </p:txBody>
      </p:sp>
      <p:sp>
        <p:nvSpPr>
          <p:cNvPr id="662" name="Google Shape;662;p15"/>
          <p:cNvSpPr/>
          <p:nvPr/>
        </p:nvSpPr>
        <p:spPr>
          <a:xfrm>
            <a:off x="5003940" y="654057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5"/>
          <p:cNvSpPr/>
          <p:nvPr/>
        </p:nvSpPr>
        <p:spPr>
          <a:xfrm>
            <a:off x="5154816" y="670516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4" name="Google Shape;664;p15"/>
          <p:cNvGrpSpPr/>
          <p:nvPr/>
        </p:nvGrpSpPr>
        <p:grpSpPr>
          <a:xfrm>
            <a:off x="5442852" y="6587719"/>
            <a:ext cx="3481464" cy="378047"/>
            <a:chOff x="0" y="-28575"/>
            <a:chExt cx="4641952" cy="504063"/>
          </a:xfrm>
        </p:grpSpPr>
        <p:sp>
          <p:nvSpPr>
            <p:cNvPr id="665" name="Google Shape;66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66" name="Google Shape;66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CU-47</a:t>
              </a:r>
              <a:endParaRPr/>
            </a:p>
          </p:txBody>
        </p:sp>
      </p:grpSp>
      <p:sp>
        <p:nvSpPr>
          <p:cNvPr id="667" name="Google Shape;667;p15"/>
          <p:cNvSpPr txBox="1"/>
          <p:nvPr/>
        </p:nvSpPr>
        <p:spPr>
          <a:xfrm>
            <a:off x="5246256" y="702405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Integraciones Externas</a:t>
            </a:r>
            <a:endParaRPr/>
          </a:p>
        </p:txBody>
      </p:sp>
      <p:sp>
        <p:nvSpPr>
          <p:cNvPr id="668" name="Google Shape;668;p15"/>
          <p:cNvSpPr/>
          <p:nvPr/>
        </p:nvSpPr>
        <p:spPr>
          <a:xfrm>
            <a:off x="9253499" y="654057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5"/>
          <p:cNvSpPr/>
          <p:nvPr/>
        </p:nvSpPr>
        <p:spPr>
          <a:xfrm>
            <a:off x="9404375" y="670516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15"/>
          <p:cNvGrpSpPr/>
          <p:nvPr/>
        </p:nvGrpSpPr>
        <p:grpSpPr>
          <a:xfrm>
            <a:off x="9692411" y="6587719"/>
            <a:ext cx="3481464" cy="378047"/>
            <a:chOff x="0" y="-28575"/>
            <a:chExt cx="4641952" cy="504063"/>
          </a:xfrm>
        </p:grpSpPr>
        <p:sp>
          <p:nvSpPr>
            <p:cNvPr id="671" name="Google Shape;671;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72" name="Google Shape;672;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CU-48</a:t>
              </a:r>
              <a:endParaRPr/>
            </a:p>
          </p:txBody>
        </p:sp>
      </p:grpSp>
      <p:sp>
        <p:nvSpPr>
          <p:cNvPr id="673" name="Google Shape;673;p15"/>
          <p:cNvSpPr txBox="1"/>
          <p:nvPr/>
        </p:nvSpPr>
        <p:spPr>
          <a:xfrm>
            <a:off x="9495815" y="702405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Etiquetas QR</a:t>
            </a:r>
            <a:endParaRPr/>
          </a:p>
        </p:txBody>
      </p:sp>
      <p:sp>
        <p:nvSpPr>
          <p:cNvPr id="674" name="Google Shape;674;p15"/>
          <p:cNvSpPr/>
          <p:nvPr/>
        </p:nvSpPr>
        <p:spPr>
          <a:xfrm>
            <a:off x="13503059" y="6540570"/>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5"/>
          <p:cNvSpPr/>
          <p:nvPr/>
        </p:nvSpPr>
        <p:spPr>
          <a:xfrm>
            <a:off x="13653935" y="6705162"/>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5"/>
          <p:cNvGrpSpPr/>
          <p:nvPr/>
        </p:nvGrpSpPr>
        <p:grpSpPr>
          <a:xfrm>
            <a:off x="13941971" y="6587719"/>
            <a:ext cx="3481464" cy="378047"/>
            <a:chOff x="0" y="-28575"/>
            <a:chExt cx="4641952" cy="504063"/>
          </a:xfrm>
        </p:grpSpPr>
        <p:sp>
          <p:nvSpPr>
            <p:cNvPr id="677" name="Google Shape;677;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78" name="Google Shape;678;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CU-52</a:t>
              </a:r>
              <a:endParaRPr/>
            </a:p>
          </p:txBody>
        </p:sp>
      </p:grpSp>
      <p:sp>
        <p:nvSpPr>
          <p:cNvPr id="679" name="Google Shape;679;p15"/>
          <p:cNvSpPr txBox="1"/>
          <p:nvPr/>
        </p:nvSpPr>
        <p:spPr>
          <a:xfrm>
            <a:off x="13745375" y="7024059"/>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Control de Repuestos</a:t>
            </a:r>
            <a:endParaRPr/>
          </a:p>
        </p:txBody>
      </p:sp>
      <p:sp>
        <p:nvSpPr>
          <p:cNvPr id="680" name="Google Shape;680;p15"/>
          <p:cNvSpPr/>
          <p:nvPr/>
        </p:nvSpPr>
        <p:spPr>
          <a:xfrm>
            <a:off x="754380" y="766136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5"/>
          <p:cNvSpPr/>
          <p:nvPr/>
        </p:nvSpPr>
        <p:spPr>
          <a:xfrm>
            <a:off x="905256" y="782595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2" name="Google Shape;682;p15"/>
          <p:cNvGrpSpPr/>
          <p:nvPr/>
        </p:nvGrpSpPr>
        <p:grpSpPr>
          <a:xfrm>
            <a:off x="1193292" y="7708516"/>
            <a:ext cx="3481464" cy="378047"/>
            <a:chOff x="0" y="-28575"/>
            <a:chExt cx="4641952" cy="504063"/>
          </a:xfrm>
        </p:grpSpPr>
        <p:sp>
          <p:nvSpPr>
            <p:cNvPr id="683" name="Google Shape;68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84" name="Google Shape;68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CU-53</a:t>
              </a:r>
              <a:endParaRPr/>
            </a:p>
          </p:txBody>
        </p:sp>
      </p:grpSp>
      <p:sp>
        <p:nvSpPr>
          <p:cNvPr id="685" name="Google Shape;685;p15"/>
          <p:cNvSpPr txBox="1"/>
          <p:nvPr/>
        </p:nvSpPr>
        <p:spPr>
          <a:xfrm>
            <a:off x="996696" y="814485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Reasignación Forzada</a:t>
            </a:r>
            <a:endParaRPr/>
          </a:p>
        </p:txBody>
      </p:sp>
      <p:sp>
        <p:nvSpPr>
          <p:cNvPr id="686" name="Google Shape;686;p15"/>
          <p:cNvSpPr/>
          <p:nvPr/>
        </p:nvSpPr>
        <p:spPr>
          <a:xfrm>
            <a:off x="5003940" y="766136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5"/>
          <p:cNvSpPr/>
          <p:nvPr/>
        </p:nvSpPr>
        <p:spPr>
          <a:xfrm>
            <a:off x="5154816" y="782595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8" name="Google Shape;688;p15"/>
          <p:cNvGrpSpPr/>
          <p:nvPr/>
        </p:nvGrpSpPr>
        <p:grpSpPr>
          <a:xfrm>
            <a:off x="5442852" y="7708516"/>
            <a:ext cx="3481464" cy="378047"/>
            <a:chOff x="0" y="-28575"/>
            <a:chExt cx="4641952" cy="504063"/>
          </a:xfrm>
        </p:grpSpPr>
        <p:sp>
          <p:nvSpPr>
            <p:cNvPr id="689" name="Google Shape;68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90" name="Google Shape;69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CU-55</a:t>
              </a:r>
              <a:endParaRPr/>
            </a:p>
          </p:txBody>
        </p:sp>
      </p:grpSp>
      <p:sp>
        <p:nvSpPr>
          <p:cNvPr id="691" name="Google Shape;691;p15"/>
          <p:cNvSpPr txBox="1"/>
          <p:nvPr/>
        </p:nvSpPr>
        <p:spPr>
          <a:xfrm>
            <a:off x="5246256" y="814485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Mapa de Calor</a:t>
            </a:r>
            <a:endParaRPr/>
          </a:p>
        </p:txBody>
      </p:sp>
      <p:sp>
        <p:nvSpPr>
          <p:cNvPr id="692" name="Google Shape;692;p15"/>
          <p:cNvSpPr/>
          <p:nvPr/>
        </p:nvSpPr>
        <p:spPr>
          <a:xfrm>
            <a:off x="9253499" y="766136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5"/>
          <p:cNvSpPr/>
          <p:nvPr/>
        </p:nvSpPr>
        <p:spPr>
          <a:xfrm>
            <a:off x="9404375" y="782595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 name="Google Shape;694;p15"/>
          <p:cNvGrpSpPr/>
          <p:nvPr/>
        </p:nvGrpSpPr>
        <p:grpSpPr>
          <a:xfrm>
            <a:off x="9692411" y="7708516"/>
            <a:ext cx="3481464" cy="378047"/>
            <a:chOff x="0" y="-28575"/>
            <a:chExt cx="4641952" cy="504063"/>
          </a:xfrm>
        </p:grpSpPr>
        <p:sp>
          <p:nvSpPr>
            <p:cNvPr id="695" name="Google Shape;69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696" name="Google Shape;69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CU-57</a:t>
              </a:r>
              <a:endParaRPr/>
            </a:p>
          </p:txBody>
        </p:sp>
      </p:grpSp>
      <p:sp>
        <p:nvSpPr>
          <p:cNvPr id="697" name="Google Shape;697;p15"/>
          <p:cNvSpPr txBox="1"/>
          <p:nvPr/>
        </p:nvSpPr>
        <p:spPr>
          <a:xfrm>
            <a:off x="9495815" y="814485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Descarga ZIP Adjuntos</a:t>
            </a:r>
            <a:endParaRPr/>
          </a:p>
        </p:txBody>
      </p:sp>
      <p:sp>
        <p:nvSpPr>
          <p:cNvPr id="698" name="Google Shape;698;p15"/>
          <p:cNvSpPr/>
          <p:nvPr/>
        </p:nvSpPr>
        <p:spPr>
          <a:xfrm>
            <a:off x="13503059" y="7661367"/>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5"/>
          <p:cNvSpPr/>
          <p:nvPr/>
        </p:nvSpPr>
        <p:spPr>
          <a:xfrm>
            <a:off x="13653935" y="7825959"/>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0" name="Google Shape;700;p15"/>
          <p:cNvGrpSpPr/>
          <p:nvPr/>
        </p:nvGrpSpPr>
        <p:grpSpPr>
          <a:xfrm>
            <a:off x="13941971" y="7708516"/>
            <a:ext cx="3481464" cy="378047"/>
            <a:chOff x="0" y="-28575"/>
            <a:chExt cx="4641952" cy="504063"/>
          </a:xfrm>
        </p:grpSpPr>
        <p:sp>
          <p:nvSpPr>
            <p:cNvPr id="701" name="Google Shape;701;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702" name="Google Shape;702;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CU-58</a:t>
              </a:r>
              <a:endParaRPr/>
            </a:p>
          </p:txBody>
        </p:sp>
      </p:grpSp>
      <p:sp>
        <p:nvSpPr>
          <p:cNvPr id="703" name="Google Shape;703;p15"/>
          <p:cNvSpPr txBox="1"/>
          <p:nvPr/>
        </p:nvSpPr>
        <p:spPr>
          <a:xfrm>
            <a:off x="13745375" y="8144856"/>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Aviso Preventivo SLA</a:t>
            </a:r>
            <a:endParaRPr/>
          </a:p>
        </p:txBody>
      </p:sp>
      <p:sp>
        <p:nvSpPr>
          <p:cNvPr id="704" name="Google Shape;704;p15"/>
          <p:cNvSpPr/>
          <p:nvPr/>
        </p:nvSpPr>
        <p:spPr>
          <a:xfrm>
            <a:off x="754380" y="878215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5"/>
          <p:cNvSpPr/>
          <p:nvPr/>
        </p:nvSpPr>
        <p:spPr>
          <a:xfrm>
            <a:off x="905256" y="894674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 name="Google Shape;706;p15"/>
          <p:cNvGrpSpPr/>
          <p:nvPr/>
        </p:nvGrpSpPr>
        <p:grpSpPr>
          <a:xfrm>
            <a:off x="1193292" y="8829304"/>
            <a:ext cx="3481464" cy="378047"/>
            <a:chOff x="0" y="-28575"/>
            <a:chExt cx="4641952" cy="504063"/>
          </a:xfrm>
        </p:grpSpPr>
        <p:sp>
          <p:nvSpPr>
            <p:cNvPr id="707" name="Google Shape;707;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708" name="Google Shape;708;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CU-60</a:t>
              </a:r>
              <a:endParaRPr/>
            </a:p>
          </p:txBody>
        </p:sp>
      </p:grpSp>
      <p:sp>
        <p:nvSpPr>
          <p:cNvPr id="709" name="Google Shape;709;p15"/>
          <p:cNvSpPr txBox="1"/>
          <p:nvPr/>
        </p:nvSpPr>
        <p:spPr>
          <a:xfrm>
            <a:off x="996696" y="926564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Desempeño por Técnico</a:t>
            </a:r>
            <a:endParaRPr/>
          </a:p>
        </p:txBody>
      </p:sp>
      <p:sp>
        <p:nvSpPr>
          <p:cNvPr id="710" name="Google Shape;710;p15"/>
          <p:cNvSpPr/>
          <p:nvPr/>
        </p:nvSpPr>
        <p:spPr>
          <a:xfrm>
            <a:off x="5003940" y="878215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5"/>
          <p:cNvSpPr/>
          <p:nvPr/>
        </p:nvSpPr>
        <p:spPr>
          <a:xfrm>
            <a:off x="5154816" y="894674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2" name="Google Shape;712;p15"/>
          <p:cNvGrpSpPr/>
          <p:nvPr/>
        </p:nvGrpSpPr>
        <p:grpSpPr>
          <a:xfrm>
            <a:off x="5442852" y="8829304"/>
            <a:ext cx="3481464" cy="378047"/>
            <a:chOff x="0" y="-28575"/>
            <a:chExt cx="4641952" cy="504063"/>
          </a:xfrm>
        </p:grpSpPr>
        <p:sp>
          <p:nvSpPr>
            <p:cNvPr id="713" name="Google Shape;713;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714" name="Google Shape;714;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CU-61</a:t>
              </a:r>
              <a:endParaRPr/>
            </a:p>
          </p:txBody>
        </p:sp>
      </p:grpSp>
      <p:sp>
        <p:nvSpPr>
          <p:cNvPr id="715" name="Google Shape;715;p15"/>
          <p:cNvSpPr txBox="1"/>
          <p:nvPr/>
        </p:nvSpPr>
        <p:spPr>
          <a:xfrm>
            <a:off x="5246256" y="926564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Cierre Automático</a:t>
            </a:r>
            <a:endParaRPr/>
          </a:p>
        </p:txBody>
      </p:sp>
      <p:sp>
        <p:nvSpPr>
          <p:cNvPr id="716" name="Google Shape;716;p15"/>
          <p:cNvSpPr/>
          <p:nvPr/>
        </p:nvSpPr>
        <p:spPr>
          <a:xfrm>
            <a:off x="9253499" y="878215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5"/>
          <p:cNvSpPr/>
          <p:nvPr/>
        </p:nvSpPr>
        <p:spPr>
          <a:xfrm>
            <a:off x="9404375" y="894674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8" name="Google Shape;718;p15"/>
          <p:cNvGrpSpPr/>
          <p:nvPr/>
        </p:nvGrpSpPr>
        <p:grpSpPr>
          <a:xfrm>
            <a:off x="9692411" y="8829304"/>
            <a:ext cx="3481464" cy="378047"/>
            <a:chOff x="0" y="-28575"/>
            <a:chExt cx="4641952" cy="504063"/>
          </a:xfrm>
        </p:grpSpPr>
        <p:sp>
          <p:nvSpPr>
            <p:cNvPr id="719" name="Google Shape;719;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720" name="Google Shape;720;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CU-64</a:t>
              </a:r>
              <a:endParaRPr/>
            </a:p>
          </p:txBody>
        </p:sp>
      </p:grpSp>
      <p:sp>
        <p:nvSpPr>
          <p:cNvPr id="721" name="Google Shape;721;p15"/>
          <p:cNvSpPr txBox="1"/>
          <p:nvPr/>
        </p:nvSpPr>
        <p:spPr>
          <a:xfrm>
            <a:off x="9495815" y="926564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Reporte vía QR</a:t>
            </a:r>
            <a:endParaRPr/>
          </a:p>
        </p:txBody>
      </p:sp>
      <p:sp>
        <p:nvSpPr>
          <p:cNvPr id="722" name="Google Shape;722;p15"/>
          <p:cNvSpPr/>
          <p:nvPr/>
        </p:nvSpPr>
        <p:spPr>
          <a:xfrm>
            <a:off x="13503059" y="8782155"/>
            <a:ext cx="4030123" cy="983647"/>
          </a:xfrm>
          <a:custGeom>
            <a:rect b="b" l="l" r="r" t="t"/>
            <a:pathLst>
              <a:path extrusionOk="0" h="1311529" w="5373497">
                <a:moveTo>
                  <a:pt x="0" y="109728"/>
                </a:moveTo>
                <a:cubicBezTo>
                  <a:pt x="0" y="49149"/>
                  <a:pt x="49149" y="0"/>
                  <a:pt x="109728" y="0"/>
                </a:cubicBezTo>
                <a:lnTo>
                  <a:pt x="5263769" y="0"/>
                </a:lnTo>
                <a:cubicBezTo>
                  <a:pt x="5324348" y="0"/>
                  <a:pt x="5373497" y="49149"/>
                  <a:pt x="5373497" y="109728"/>
                </a:cubicBezTo>
                <a:lnTo>
                  <a:pt x="5373497" y="1201801"/>
                </a:lnTo>
                <a:cubicBezTo>
                  <a:pt x="5373497" y="1262380"/>
                  <a:pt x="5324348" y="1311529"/>
                  <a:pt x="5263769" y="1311529"/>
                </a:cubicBezTo>
                <a:lnTo>
                  <a:pt x="109728" y="1311529"/>
                </a:lnTo>
                <a:cubicBezTo>
                  <a:pt x="49149" y="1311529"/>
                  <a:pt x="0" y="1262380"/>
                  <a:pt x="0" y="1201801"/>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5"/>
          <p:cNvSpPr/>
          <p:nvPr/>
        </p:nvSpPr>
        <p:spPr>
          <a:xfrm>
            <a:off x="13653935" y="8946747"/>
            <a:ext cx="178308" cy="178308"/>
          </a:xfrm>
          <a:custGeom>
            <a:rect b="b" l="l" r="r" t="t"/>
            <a:pathLst>
              <a:path extrusionOk="0"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4" name="Google Shape;724;p15"/>
          <p:cNvGrpSpPr/>
          <p:nvPr/>
        </p:nvGrpSpPr>
        <p:grpSpPr>
          <a:xfrm>
            <a:off x="13941971" y="8829304"/>
            <a:ext cx="3481464" cy="378047"/>
            <a:chOff x="0" y="-28575"/>
            <a:chExt cx="4641952" cy="504063"/>
          </a:xfrm>
        </p:grpSpPr>
        <p:sp>
          <p:nvSpPr>
            <p:cNvPr id="725" name="Google Shape;725;p15"/>
            <p:cNvSpPr/>
            <p:nvPr/>
          </p:nvSpPr>
          <p:spPr>
            <a:xfrm>
              <a:off x="0" y="0"/>
              <a:ext cx="4641952" cy="475488"/>
            </a:xfrm>
            <a:custGeom>
              <a:rect b="b" l="l" r="r" t="t"/>
              <a:pathLst>
                <a:path extrusionOk="0" h="475488" w="4641952">
                  <a:moveTo>
                    <a:pt x="0" y="0"/>
                  </a:moveTo>
                  <a:lnTo>
                    <a:pt x="4641952" y="0"/>
                  </a:lnTo>
                  <a:lnTo>
                    <a:pt x="4641952" y="475488"/>
                  </a:lnTo>
                  <a:lnTo>
                    <a:pt x="0" y="475488"/>
                  </a:lnTo>
                  <a:close/>
                </a:path>
              </a:pathLst>
            </a:custGeom>
            <a:blipFill rotWithShape="1">
              <a:blip r:embed="rId3">
                <a:alphaModFix amt="0"/>
              </a:blip>
              <a:stretch>
                <a:fillRect b="-140215" l="0" r="0" t="-140215"/>
              </a:stretch>
            </a:blipFill>
            <a:ln>
              <a:noFill/>
            </a:ln>
          </p:spPr>
        </p:sp>
        <p:sp>
          <p:nvSpPr>
            <p:cNvPr id="726" name="Google Shape;726;p15"/>
            <p:cNvSpPr txBox="1"/>
            <p:nvPr/>
          </p:nvSpPr>
          <p:spPr>
            <a:xfrm>
              <a:off x="0" y="-28575"/>
              <a:ext cx="4641952" cy="50406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650" u="none" cap="none" strike="noStrike">
                  <a:solidFill>
                    <a:srgbClr val="FFFFFF"/>
                  </a:solidFill>
                  <a:latin typeface="Calibri"/>
                  <a:ea typeface="Calibri"/>
                  <a:cs typeface="Calibri"/>
                  <a:sym typeface="Calibri"/>
                </a:rPr>
                <a:t>CU-69</a:t>
              </a:r>
              <a:endParaRPr/>
            </a:p>
          </p:txBody>
        </p:sp>
      </p:grpSp>
      <p:sp>
        <p:nvSpPr>
          <p:cNvPr id="727" name="Google Shape;727;p15"/>
          <p:cNvSpPr txBox="1"/>
          <p:nvPr/>
        </p:nvSpPr>
        <p:spPr>
          <a:xfrm>
            <a:off x="13745375" y="9265644"/>
            <a:ext cx="3545472" cy="3721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CCCCCC"/>
                </a:solidFill>
                <a:latin typeface="Calibri"/>
                <a:ea typeface="Calibri"/>
                <a:cs typeface="Calibri"/>
                <a:sym typeface="Calibri"/>
              </a:rPr>
              <a:t>Pausa de SLA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9"/>
        </a:solidFill>
      </p:bgPr>
    </p:bg>
    <p:spTree>
      <p:nvGrpSpPr>
        <p:cNvPr id="735" name="Shape 735"/>
        <p:cNvGrpSpPr/>
        <p:nvPr/>
      </p:nvGrpSpPr>
      <p:grpSpPr>
        <a:xfrm>
          <a:off x="0" y="0"/>
          <a:ext cx="0" cy="0"/>
          <a:chOff x="0" y="0"/>
          <a:chExt cx="0" cy="0"/>
        </a:xfrm>
      </p:grpSpPr>
      <p:grpSp>
        <p:nvGrpSpPr>
          <p:cNvPr id="736" name="Google Shape;736;p16"/>
          <p:cNvGrpSpPr/>
          <p:nvPr/>
        </p:nvGrpSpPr>
        <p:grpSpPr>
          <a:xfrm>
            <a:off x="685800" y="415766"/>
            <a:ext cx="16915944" cy="1298734"/>
            <a:chOff x="0" y="-85725"/>
            <a:chExt cx="22554591" cy="1731645"/>
          </a:xfrm>
        </p:grpSpPr>
        <p:sp>
          <p:nvSpPr>
            <p:cNvPr id="737" name="Google Shape;737;p16"/>
            <p:cNvSpPr/>
            <p:nvPr/>
          </p:nvSpPr>
          <p:spPr>
            <a:xfrm>
              <a:off x="0" y="0"/>
              <a:ext cx="22554591" cy="1645920"/>
            </a:xfrm>
            <a:custGeom>
              <a:rect b="b" l="l" r="r" t="t"/>
              <a:pathLst>
                <a:path extrusionOk="0" h="1645920" w="22554591">
                  <a:moveTo>
                    <a:pt x="0" y="0"/>
                  </a:moveTo>
                  <a:lnTo>
                    <a:pt x="22554591" y="0"/>
                  </a:lnTo>
                  <a:lnTo>
                    <a:pt x="22554591" y="1645920"/>
                  </a:lnTo>
                  <a:lnTo>
                    <a:pt x="0" y="1645920"/>
                  </a:lnTo>
                  <a:close/>
                </a:path>
              </a:pathLst>
            </a:custGeom>
            <a:blipFill rotWithShape="1">
              <a:blip r:embed="rId3">
                <a:alphaModFix amt="0"/>
              </a:blip>
              <a:stretch>
                <a:fillRect b="-217009" l="0" r="0" t="-217009"/>
              </a:stretch>
            </a:blipFill>
            <a:ln>
              <a:noFill/>
            </a:ln>
          </p:spPr>
        </p:sp>
        <p:sp>
          <p:nvSpPr>
            <p:cNvPr id="738" name="Google Shape;738;p16"/>
            <p:cNvSpPr txBox="1"/>
            <p:nvPr/>
          </p:nvSpPr>
          <p:spPr>
            <a:xfrm>
              <a:off x="0" y="-85725"/>
              <a:ext cx="22554590" cy="1731645"/>
            </a:xfrm>
            <a:prstGeom prst="rect">
              <a:avLst/>
            </a:prstGeom>
            <a:noFill/>
            <a:ln>
              <a:noFill/>
            </a:ln>
          </p:spPr>
          <p:txBody>
            <a:bodyPr anchorCtr="0" anchor="ctr" bIns="0" lIns="0" spcFirstLastPara="1" rIns="0" wrap="square" tIns="0">
              <a:no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Calibri"/>
                  <a:ea typeface="Calibri"/>
                  <a:cs typeface="Calibri"/>
                  <a:sym typeface="Calibri"/>
                </a:rPr>
                <a:t>CONCLUSIÓN</a:t>
              </a:r>
              <a:endParaRPr/>
            </a:p>
          </p:txBody>
        </p:sp>
      </p:grpSp>
      <p:sp>
        <p:nvSpPr>
          <p:cNvPr id="739" name="Google Shape;739;p16"/>
          <p:cNvSpPr/>
          <p:nvPr/>
        </p:nvSpPr>
        <p:spPr>
          <a:xfrm>
            <a:off x="822960" y="1851660"/>
            <a:ext cx="16641603" cy="1261872"/>
          </a:xfrm>
          <a:custGeom>
            <a:rect b="b" l="l" r="r" t="t"/>
            <a:pathLst>
              <a:path extrusionOk="0" h="1682496" w="22188804">
                <a:moveTo>
                  <a:pt x="0" y="128016"/>
                </a:moveTo>
                <a:cubicBezTo>
                  <a:pt x="0" y="57277"/>
                  <a:pt x="57277" y="0"/>
                  <a:pt x="128016" y="0"/>
                </a:cubicBezTo>
                <a:lnTo>
                  <a:pt x="22060788" y="0"/>
                </a:lnTo>
                <a:cubicBezTo>
                  <a:pt x="22131527" y="0"/>
                  <a:pt x="22188804" y="57277"/>
                  <a:pt x="22188804" y="128016"/>
                </a:cubicBezTo>
                <a:lnTo>
                  <a:pt x="22188804" y="1554480"/>
                </a:lnTo>
                <a:cubicBezTo>
                  <a:pt x="22188804" y="1625219"/>
                  <a:pt x="22131527" y="1682496"/>
                  <a:pt x="22060788" y="1682496"/>
                </a:cubicBezTo>
                <a:lnTo>
                  <a:pt x="128016" y="1682496"/>
                </a:lnTo>
                <a:cubicBezTo>
                  <a:pt x="57277" y="1682496"/>
                  <a:pt x="0" y="1625219"/>
                  <a:pt x="0" y="1554480"/>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6"/>
          <p:cNvSpPr/>
          <p:nvPr/>
        </p:nvSpPr>
        <p:spPr>
          <a:xfrm>
            <a:off x="1124712" y="2112264"/>
            <a:ext cx="740664" cy="740664"/>
          </a:xfrm>
          <a:custGeom>
            <a:rect b="b" l="l" r="r" t="t"/>
            <a:pathLst>
              <a:path extrusionOk="0" h="987552" w="987552">
                <a:moveTo>
                  <a:pt x="0" y="493776"/>
                </a:moveTo>
                <a:cubicBezTo>
                  <a:pt x="0" y="221107"/>
                  <a:pt x="221107" y="0"/>
                  <a:pt x="493776" y="0"/>
                </a:cubicBezTo>
                <a:cubicBezTo>
                  <a:pt x="766445" y="0"/>
                  <a:pt x="987552" y="221107"/>
                  <a:pt x="987552" y="493776"/>
                </a:cubicBezTo>
                <a:cubicBezTo>
                  <a:pt x="987552" y="766445"/>
                  <a:pt x="766445" y="987552"/>
                  <a:pt x="493776" y="987552"/>
                </a:cubicBezTo>
                <a:cubicBezTo>
                  <a:pt x="221107" y="987552"/>
                  <a:pt x="0" y="766445"/>
                  <a:pt x="0" y="493776"/>
                </a:cubicBezTo>
                <a:close/>
              </a:path>
            </a:pathLst>
          </a:custGeom>
          <a:solidFill>
            <a:srgbClr val="2ECC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check.png" id="741" name="Google Shape;741;p16"/>
          <p:cNvSpPr/>
          <p:nvPr/>
        </p:nvSpPr>
        <p:spPr>
          <a:xfrm>
            <a:off x="1221000" y="2208552"/>
            <a:ext cx="548069" cy="548069"/>
          </a:xfrm>
          <a:custGeom>
            <a:rect b="b" l="l" r="r" t="t"/>
            <a:pathLst>
              <a:path extrusionOk="0" h="730758" w="730758">
                <a:moveTo>
                  <a:pt x="0" y="0"/>
                </a:moveTo>
                <a:lnTo>
                  <a:pt x="730758" y="0"/>
                </a:lnTo>
                <a:lnTo>
                  <a:pt x="730758" y="730758"/>
                </a:lnTo>
                <a:lnTo>
                  <a:pt x="0" y="730758"/>
                </a:lnTo>
                <a:lnTo>
                  <a:pt x="0" y="0"/>
                </a:lnTo>
                <a:close/>
              </a:path>
            </a:pathLst>
          </a:custGeom>
          <a:blipFill rotWithShape="1">
            <a:blip r:embed="rId4">
              <a:alphaModFix/>
            </a:blip>
            <a:stretch>
              <a:fillRect b="-3" l="0" r="-3" t="0"/>
            </a:stretch>
          </a:blipFill>
          <a:ln>
            <a:noFill/>
          </a:ln>
        </p:spPr>
      </p:sp>
      <p:grpSp>
        <p:nvGrpSpPr>
          <p:cNvPr id="742" name="Google Shape;742;p16"/>
          <p:cNvGrpSpPr/>
          <p:nvPr/>
        </p:nvGrpSpPr>
        <p:grpSpPr>
          <a:xfrm>
            <a:off x="2125980" y="1953101"/>
            <a:ext cx="15270023" cy="502063"/>
            <a:chOff x="0" y="-47625"/>
            <a:chExt cx="20360030" cy="669417"/>
          </a:xfrm>
        </p:grpSpPr>
        <p:sp>
          <p:nvSpPr>
            <p:cNvPr id="743" name="Google Shape;743;p16"/>
            <p:cNvSpPr/>
            <p:nvPr/>
          </p:nvSpPr>
          <p:spPr>
            <a:xfrm>
              <a:off x="0" y="0"/>
              <a:ext cx="20360030" cy="621792"/>
            </a:xfrm>
            <a:custGeom>
              <a:rect b="b" l="l" r="r" t="t"/>
              <a:pathLst>
                <a:path extrusionOk="0" h="621792" w="20360030">
                  <a:moveTo>
                    <a:pt x="0" y="0"/>
                  </a:moveTo>
                  <a:lnTo>
                    <a:pt x="20360030" y="0"/>
                  </a:lnTo>
                  <a:lnTo>
                    <a:pt x="20360030" y="621792"/>
                  </a:lnTo>
                  <a:lnTo>
                    <a:pt x="0" y="621792"/>
                  </a:lnTo>
                  <a:close/>
                </a:path>
              </a:pathLst>
            </a:custGeom>
            <a:blipFill rotWithShape="1">
              <a:blip r:embed="rId3">
                <a:alphaModFix amt="0"/>
              </a:blip>
              <a:stretch>
                <a:fillRect b="-588081" l="0" r="0" t="-588081"/>
              </a:stretch>
            </a:blipFill>
            <a:ln>
              <a:noFill/>
            </a:ln>
          </p:spPr>
        </p:sp>
        <p:sp>
          <p:nvSpPr>
            <p:cNvPr id="744" name="Google Shape;744;p16"/>
            <p:cNvSpPr txBox="1"/>
            <p:nvPr/>
          </p:nvSpPr>
          <p:spPr>
            <a:xfrm>
              <a:off x="0" y="-47625"/>
              <a:ext cx="20360030" cy="6694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MVP evolucionado al 71,4%</a:t>
              </a:r>
              <a:endParaRPr/>
            </a:p>
          </p:txBody>
        </p:sp>
      </p:grpSp>
      <p:sp>
        <p:nvSpPr>
          <p:cNvPr id="745" name="Google Shape;745;p16"/>
          <p:cNvSpPr txBox="1"/>
          <p:nvPr/>
        </p:nvSpPr>
        <p:spPr>
          <a:xfrm>
            <a:off x="2217420" y="2457450"/>
            <a:ext cx="15087143" cy="541782"/>
          </a:xfrm>
          <a:prstGeom prst="rect">
            <a:avLst/>
          </a:prstGeom>
          <a:noFill/>
          <a:ln>
            <a:noFill/>
          </a:ln>
        </p:spPr>
        <p:txBody>
          <a:bodyPr anchorCtr="0" anchor="t" bIns="0" lIns="0" spcFirstLastPara="1" rIns="0" wrap="square" tIns="0">
            <a:spAutoFit/>
          </a:bodyPr>
          <a:lstStyle/>
          <a:p>
            <a:pPr indent="0" lvl="0" marL="0" marR="0" rtl="0" algn="l">
              <a:lnSpc>
                <a:spcPct val="129565"/>
              </a:lnSpc>
              <a:spcBef>
                <a:spcPts val="0"/>
              </a:spcBef>
              <a:spcAft>
                <a:spcPts val="0"/>
              </a:spcAft>
              <a:buNone/>
            </a:pPr>
            <a:r>
              <a:rPr b="0" i="0" lang="en-US" sz="1725" u="none" cap="none" strike="noStrike">
                <a:solidFill>
                  <a:srgbClr val="CCCCCC"/>
                </a:solidFill>
                <a:latin typeface="Calibri"/>
                <a:ea typeface="Calibri"/>
                <a:cs typeface="Calibri"/>
                <a:sym typeface="Calibri"/>
              </a:rPr>
              <a:t>50 de 70 Casos de Uso implementados: control financiero, SLA avanzado, activos por QR e inteligencia de negocio.</a:t>
            </a:r>
            <a:endParaRPr/>
          </a:p>
        </p:txBody>
      </p:sp>
      <p:sp>
        <p:nvSpPr>
          <p:cNvPr id="746" name="Google Shape;746;p16"/>
          <p:cNvSpPr/>
          <p:nvPr/>
        </p:nvSpPr>
        <p:spPr>
          <a:xfrm>
            <a:off x="822960" y="3250692"/>
            <a:ext cx="16641603" cy="1261872"/>
          </a:xfrm>
          <a:custGeom>
            <a:rect b="b" l="l" r="r" t="t"/>
            <a:pathLst>
              <a:path extrusionOk="0" h="1682496" w="22188804">
                <a:moveTo>
                  <a:pt x="0" y="128016"/>
                </a:moveTo>
                <a:cubicBezTo>
                  <a:pt x="0" y="57277"/>
                  <a:pt x="57277" y="0"/>
                  <a:pt x="128016" y="0"/>
                </a:cubicBezTo>
                <a:lnTo>
                  <a:pt x="22060788" y="0"/>
                </a:lnTo>
                <a:cubicBezTo>
                  <a:pt x="22131527" y="0"/>
                  <a:pt x="22188804" y="57277"/>
                  <a:pt x="22188804" y="128016"/>
                </a:cubicBezTo>
                <a:lnTo>
                  <a:pt x="22188804" y="1554480"/>
                </a:lnTo>
                <a:cubicBezTo>
                  <a:pt x="22188804" y="1625219"/>
                  <a:pt x="22131527" y="1682496"/>
                  <a:pt x="22060788" y="1682496"/>
                </a:cubicBezTo>
                <a:lnTo>
                  <a:pt x="128016" y="1682496"/>
                </a:lnTo>
                <a:cubicBezTo>
                  <a:pt x="57277" y="1682496"/>
                  <a:pt x="0" y="1625219"/>
                  <a:pt x="0" y="1554480"/>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6"/>
          <p:cNvSpPr/>
          <p:nvPr/>
        </p:nvSpPr>
        <p:spPr>
          <a:xfrm>
            <a:off x="1124712" y="3511296"/>
            <a:ext cx="740664" cy="740664"/>
          </a:xfrm>
          <a:custGeom>
            <a:rect b="b" l="l" r="r" t="t"/>
            <a:pathLst>
              <a:path extrusionOk="0" h="987552" w="987552">
                <a:moveTo>
                  <a:pt x="0" y="493776"/>
                </a:moveTo>
                <a:cubicBezTo>
                  <a:pt x="0" y="221107"/>
                  <a:pt x="221107" y="0"/>
                  <a:pt x="493776" y="0"/>
                </a:cubicBezTo>
                <a:cubicBezTo>
                  <a:pt x="766445" y="0"/>
                  <a:pt x="987552" y="221107"/>
                  <a:pt x="987552" y="493776"/>
                </a:cubicBezTo>
                <a:cubicBezTo>
                  <a:pt x="987552" y="766445"/>
                  <a:pt x="766445" y="987552"/>
                  <a:pt x="493776" y="987552"/>
                </a:cubicBezTo>
                <a:cubicBezTo>
                  <a:pt x="221107" y="987552"/>
                  <a:pt x="0" y="766445"/>
                  <a:pt x="0" y="493776"/>
                </a:cubicBezTo>
                <a:close/>
              </a:path>
            </a:pathLst>
          </a:custGeom>
          <a:solidFill>
            <a:srgbClr val="4A9F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qr.png" id="748" name="Google Shape;748;p16"/>
          <p:cNvSpPr/>
          <p:nvPr/>
        </p:nvSpPr>
        <p:spPr>
          <a:xfrm>
            <a:off x="1221000" y="3607584"/>
            <a:ext cx="548069" cy="548069"/>
          </a:xfrm>
          <a:custGeom>
            <a:rect b="b" l="l" r="r" t="t"/>
            <a:pathLst>
              <a:path extrusionOk="0" h="730758" w="730758">
                <a:moveTo>
                  <a:pt x="0" y="0"/>
                </a:moveTo>
                <a:lnTo>
                  <a:pt x="730758" y="0"/>
                </a:lnTo>
                <a:lnTo>
                  <a:pt x="730758" y="730758"/>
                </a:lnTo>
                <a:lnTo>
                  <a:pt x="0" y="730758"/>
                </a:lnTo>
                <a:lnTo>
                  <a:pt x="0" y="0"/>
                </a:lnTo>
                <a:close/>
              </a:path>
            </a:pathLst>
          </a:custGeom>
          <a:blipFill rotWithShape="1">
            <a:blip r:embed="rId5">
              <a:alphaModFix/>
            </a:blip>
            <a:stretch>
              <a:fillRect b="-3" l="0" r="-3" t="0"/>
            </a:stretch>
          </a:blipFill>
          <a:ln>
            <a:noFill/>
          </a:ln>
        </p:spPr>
      </p:sp>
      <p:grpSp>
        <p:nvGrpSpPr>
          <p:cNvPr id="749" name="Google Shape;749;p16"/>
          <p:cNvGrpSpPr/>
          <p:nvPr/>
        </p:nvGrpSpPr>
        <p:grpSpPr>
          <a:xfrm>
            <a:off x="2125980" y="3352133"/>
            <a:ext cx="15270023" cy="502063"/>
            <a:chOff x="0" y="-47625"/>
            <a:chExt cx="20360030" cy="669417"/>
          </a:xfrm>
        </p:grpSpPr>
        <p:sp>
          <p:nvSpPr>
            <p:cNvPr id="750" name="Google Shape;750;p16"/>
            <p:cNvSpPr/>
            <p:nvPr/>
          </p:nvSpPr>
          <p:spPr>
            <a:xfrm>
              <a:off x="0" y="0"/>
              <a:ext cx="20360030" cy="621792"/>
            </a:xfrm>
            <a:custGeom>
              <a:rect b="b" l="l" r="r" t="t"/>
              <a:pathLst>
                <a:path extrusionOk="0" h="621792" w="20360030">
                  <a:moveTo>
                    <a:pt x="0" y="0"/>
                  </a:moveTo>
                  <a:lnTo>
                    <a:pt x="20360030" y="0"/>
                  </a:lnTo>
                  <a:lnTo>
                    <a:pt x="20360030" y="621792"/>
                  </a:lnTo>
                  <a:lnTo>
                    <a:pt x="0" y="621792"/>
                  </a:lnTo>
                  <a:close/>
                </a:path>
              </a:pathLst>
            </a:custGeom>
            <a:blipFill rotWithShape="1">
              <a:blip r:embed="rId3">
                <a:alphaModFix amt="0"/>
              </a:blip>
              <a:stretch>
                <a:fillRect b="-588081" l="0" r="0" t="-588081"/>
              </a:stretch>
            </a:blipFill>
            <a:ln>
              <a:noFill/>
            </a:ln>
          </p:spPr>
        </p:sp>
        <p:sp>
          <p:nvSpPr>
            <p:cNvPr id="751" name="Google Shape;751;p16"/>
            <p:cNvSpPr txBox="1"/>
            <p:nvPr/>
          </p:nvSpPr>
          <p:spPr>
            <a:xfrm>
              <a:off x="0" y="-47625"/>
              <a:ext cx="20360030" cy="6694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Valor inmediato para la clínica</a:t>
              </a:r>
              <a:endParaRPr/>
            </a:p>
          </p:txBody>
        </p:sp>
      </p:grpSp>
      <p:sp>
        <p:nvSpPr>
          <p:cNvPr id="752" name="Google Shape;752;p16"/>
          <p:cNvSpPr txBox="1"/>
          <p:nvPr/>
        </p:nvSpPr>
        <p:spPr>
          <a:xfrm>
            <a:off x="2217420" y="3856482"/>
            <a:ext cx="15087143" cy="541782"/>
          </a:xfrm>
          <a:prstGeom prst="rect">
            <a:avLst/>
          </a:prstGeom>
          <a:noFill/>
          <a:ln>
            <a:noFill/>
          </a:ln>
        </p:spPr>
        <p:txBody>
          <a:bodyPr anchorCtr="0" anchor="t" bIns="0" lIns="0" spcFirstLastPara="1" rIns="0" wrap="square" tIns="0">
            <a:spAutoFit/>
          </a:bodyPr>
          <a:lstStyle/>
          <a:p>
            <a:pPr indent="0" lvl="0" marL="0" marR="0" rtl="0" algn="l">
              <a:lnSpc>
                <a:spcPct val="129565"/>
              </a:lnSpc>
              <a:spcBef>
                <a:spcPts val="0"/>
              </a:spcBef>
              <a:spcAft>
                <a:spcPts val="0"/>
              </a:spcAft>
              <a:buNone/>
            </a:pPr>
            <a:r>
              <a:rPr b="0" i="0" lang="en-US" sz="1725" u="none" cap="none" strike="noStrike">
                <a:solidFill>
                  <a:srgbClr val="CCCCCC"/>
                </a:solidFill>
                <a:latin typeface="Calibri"/>
                <a:ea typeface="Calibri"/>
                <a:cs typeface="Calibri"/>
                <a:sym typeface="Calibri"/>
              </a:rPr>
              <a:t>Reporte de incidentes vía QR en menos de 30 segundos y transparencia total del gasto en insumos.</a:t>
            </a:r>
            <a:endParaRPr/>
          </a:p>
        </p:txBody>
      </p:sp>
      <p:sp>
        <p:nvSpPr>
          <p:cNvPr id="753" name="Google Shape;753;p16"/>
          <p:cNvSpPr/>
          <p:nvPr/>
        </p:nvSpPr>
        <p:spPr>
          <a:xfrm>
            <a:off x="822960" y="4649724"/>
            <a:ext cx="16641603" cy="1261872"/>
          </a:xfrm>
          <a:custGeom>
            <a:rect b="b" l="l" r="r" t="t"/>
            <a:pathLst>
              <a:path extrusionOk="0" h="1682496" w="22188804">
                <a:moveTo>
                  <a:pt x="0" y="128016"/>
                </a:moveTo>
                <a:cubicBezTo>
                  <a:pt x="0" y="57277"/>
                  <a:pt x="57277" y="0"/>
                  <a:pt x="128016" y="0"/>
                </a:cubicBezTo>
                <a:lnTo>
                  <a:pt x="22060788" y="0"/>
                </a:lnTo>
                <a:cubicBezTo>
                  <a:pt x="22131527" y="0"/>
                  <a:pt x="22188804" y="57277"/>
                  <a:pt x="22188804" y="128016"/>
                </a:cubicBezTo>
                <a:lnTo>
                  <a:pt x="22188804" y="1554480"/>
                </a:lnTo>
                <a:cubicBezTo>
                  <a:pt x="22188804" y="1625219"/>
                  <a:pt x="22131527" y="1682496"/>
                  <a:pt x="22060788" y="1682496"/>
                </a:cubicBezTo>
                <a:lnTo>
                  <a:pt x="128016" y="1682496"/>
                </a:lnTo>
                <a:cubicBezTo>
                  <a:pt x="57277" y="1682496"/>
                  <a:pt x="0" y="1625219"/>
                  <a:pt x="0" y="1554480"/>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6"/>
          <p:cNvSpPr/>
          <p:nvPr/>
        </p:nvSpPr>
        <p:spPr>
          <a:xfrm>
            <a:off x="1124712" y="4910328"/>
            <a:ext cx="740664" cy="740664"/>
          </a:xfrm>
          <a:custGeom>
            <a:rect b="b" l="l" r="r" t="t"/>
            <a:pathLst>
              <a:path extrusionOk="0" h="987552" w="987552">
                <a:moveTo>
                  <a:pt x="0" y="493776"/>
                </a:moveTo>
                <a:cubicBezTo>
                  <a:pt x="0" y="221107"/>
                  <a:pt x="221107" y="0"/>
                  <a:pt x="493776" y="0"/>
                </a:cubicBezTo>
                <a:cubicBezTo>
                  <a:pt x="766445" y="0"/>
                  <a:pt x="987552" y="221107"/>
                  <a:pt x="987552" y="493776"/>
                </a:cubicBezTo>
                <a:cubicBezTo>
                  <a:pt x="987552" y="766445"/>
                  <a:pt x="766445" y="987552"/>
                  <a:pt x="493776" y="987552"/>
                </a:cubicBezTo>
                <a:cubicBezTo>
                  <a:pt x="221107" y="987552"/>
                  <a:pt x="0" y="766445"/>
                  <a:pt x="0" y="493776"/>
                </a:cubicBezTo>
                <a:close/>
              </a:path>
            </a:pathLst>
          </a:cu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shield.png" id="755" name="Google Shape;755;p16"/>
          <p:cNvSpPr/>
          <p:nvPr/>
        </p:nvSpPr>
        <p:spPr>
          <a:xfrm>
            <a:off x="1221000" y="5006616"/>
            <a:ext cx="548069" cy="548069"/>
          </a:xfrm>
          <a:custGeom>
            <a:rect b="b" l="l" r="r" t="t"/>
            <a:pathLst>
              <a:path extrusionOk="0" h="730758" w="730758">
                <a:moveTo>
                  <a:pt x="0" y="0"/>
                </a:moveTo>
                <a:lnTo>
                  <a:pt x="730758" y="0"/>
                </a:lnTo>
                <a:lnTo>
                  <a:pt x="730758" y="730758"/>
                </a:lnTo>
                <a:lnTo>
                  <a:pt x="0" y="730758"/>
                </a:lnTo>
                <a:lnTo>
                  <a:pt x="0" y="0"/>
                </a:lnTo>
                <a:close/>
              </a:path>
            </a:pathLst>
          </a:custGeom>
          <a:blipFill rotWithShape="1">
            <a:blip r:embed="rId6">
              <a:alphaModFix/>
            </a:blip>
            <a:stretch>
              <a:fillRect b="-3" l="0" r="-3" t="0"/>
            </a:stretch>
          </a:blipFill>
          <a:ln>
            <a:noFill/>
          </a:ln>
        </p:spPr>
      </p:sp>
      <p:grpSp>
        <p:nvGrpSpPr>
          <p:cNvPr id="756" name="Google Shape;756;p16"/>
          <p:cNvGrpSpPr/>
          <p:nvPr/>
        </p:nvGrpSpPr>
        <p:grpSpPr>
          <a:xfrm>
            <a:off x="2125980" y="4751165"/>
            <a:ext cx="15270023" cy="502063"/>
            <a:chOff x="0" y="-47625"/>
            <a:chExt cx="20360030" cy="669417"/>
          </a:xfrm>
        </p:grpSpPr>
        <p:sp>
          <p:nvSpPr>
            <p:cNvPr id="757" name="Google Shape;757;p16"/>
            <p:cNvSpPr/>
            <p:nvPr/>
          </p:nvSpPr>
          <p:spPr>
            <a:xfrm>
              <a:off x="0" y="0"/>
              <a:ext cx="20360030" cy="621792"/>
            </a:xfrm>
            <a:custGeom>
              <a:rect b="b" l="l" r="r" t="t"/>
              <a:pathLst>
                <a:path extrusionOk="0" h="621792" w="20360030">
                  <a:moveTo>
                    <a:pt x="0" y="0"/>
                  </a:moveTo>
                  <a:lnTo>
                    <a:pt x="20360030" y="0"/>
                  </a:lnTo>
                  <a:lnTo>
                    <a:pt x="20360030" y="621792"/>
                  </a:lnTo>
                  <a:lnTo>
                    <a:pt x="0" y="621792"/>
                  </a:lnTo>
                  <a:close/>
                </a:path>
              </a:pathLst>
            </a:custGeom>
            <a:blipFill rotWithShape="1">
              <a:blip r:embed="rId3">
                <a:alphaModFix amt="0"/>
              </a:blip>
              <a:stretch>
                <a:fillRect b="-588081" l="0" r="0" t="-588081"/>
              </a:stretch>
            </a:blipFill>
            <a:ln>
              <a:noFill/>
            </a:ln>
          </p:spPr>
        </p:sp>
        <p:sp>
          <p:nvSpPr>
            <p:cNvPr id="758" name="Google Shape;758;p16"/>
            <p:cNvSpPr txBox="1"/>
            <p:nvPr/>
          </p:nvSpPr>
          <p:spPr>
            <a:xfrm>
              <a:off x="0" y="-47625"/>
              <a:ext cx="20360030" cy="6694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Seguridad y cumplimiento</a:t>
              </a:r>
              <a:endParaRPr/>
            </a:p>
          </p:txBody>
        </p:sp>
      </p:grpSp>
      <p:sp>
        <p:nvSpPr>
          <p:cNvPr id="759" name="Google Shape;759;p16"/>
          <p:cNvSpPr txBox="1"/>
          <p:nvPr/>
        </p:nvSpPr>
        <p:spPr>
          <a:xfrm>
            <a:off x="2217420" y="5255514"/>
            <a:ext cx="15087143" cy="541782"/>
          </a:xfrm>
          <a:prstGeom prst="rect">
            <a:avLst/>
          </a:prstGeom>
          <a:noFill/>
          <a:ln>
            <a:noFill/>
          </a:ln>
        </p:spPr>
        <p:txBody>
          <a:bodyPr anchorCtr="0" anchor="t" bIns="0" lIns="0" spcFirstLastPara="1" rIns="0" wrap="square" tIns="0">
            <a:spAutoFit/>
          </a:bodyPr>
          <a:lstStyle/>
          <a:p>
            <a:pPr indent="0" lvl="0" marL="0" marR="0" rtl="0" algn="l">
              <a:lnSpc>
                <a:spcPct val="129565"/>
              </a:lnSpc>
              <a:spcBef>
                <a:spcPts val="0"/>
              </a:spcBef>
              <a:spcAft>
                <a:spcPts val="0"/>
              </a:spcAft>
              <a:buNone/>
            </a:pPr>
            <a:r>
              <a:rPr b="0" i="0" lang="en-US" sz="1725" u="none" cap="none" strike="noStrike">
                <a:solidFill>
                  <a:srgbClr val="CCCCCC"/>
                </a:solidFill>
                <a:latin typeface="Calibri"/>
                <a:ea typeface="Calibri"/>
                <a:cs typeface="Calibri"/>
                <a:sym typeface="Calibri"/>
              </a:rPr>
              <a:t>Notas técnicas restringidas, bitácora inmutable ampliada y resguardo de datos según la Ley 20.584.</a:t>
            </a:r>
            <a:endParaRPr/>
          </a:p>
        </p:txBody>
      </p:sp>
      <p:sp>
        <p:nvSpPr>
          <p:cNvPr id="760" name="Google Shape;760;p16"/>
          <p:cNvSpPr/>
          <p:nvPr/>
        </p:nvSpPr>
        <p:spPr>
          <a:xfrm>
            <a:off x="822960" y="6048756"/>
            <a:ext cx="16641603" cy="1261872"/>
          </a:xfrm>
          <a:custGeom>
            <a:rect b="b" l="l" r="r" t="t"/>
            <a:pathLst>
              <a:path extrusionOk="0" h="1682496" w="22188804">
                <a:moveTo>
                  <a:pt x="0" y="128016"/>
                </a:moveTo>
                <a:cubicBezTo>
                  <a:pt x="0" y="57277"/>
                  <a:pt x="57277" y="0"/>
                  <a:pt x="128016" y="0"/>
                </a:cubicBezTo>
                <a:lnTo>
                  <a:pt x="22060788" y="0"/>
                </a:lnTo>
                <a:cubicBezTo>
                  <a:pt x="22131527" y="0"/>
                  <a:pt x="22188804" y="57277"/>
                  <a:pt x="22188804" y="128016"/>
                </a:cubicBezTo>
                <a:lnTo>
                  <a:pt x="22188804" y="1554480"/>
                </a:lnTo>
                <a:cubicBezTo>
                  <a:pt x="22188804" y="1625219"/>
                  <a:pt x="22131527" y="1682496"/>
                  <a:pt x="22060788" y="1682496"/>
                </a:cubicBezTo>
                <a:lnTo>
                  <a:pt x="128016" y="1682496"/>
                </a:lnTo>
                <a:cubicBezTo>
                  <a:pt x="57277" y="1682496"/>
                  <a:pt x="0" y="1625219"/>
                  <a:pt x="0" y="1554480"/>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a:off x="1124712" y="6309360"/>
            <a:ext cx="740664" cy="740664"/>
          </a:xfrm>
          <a:custGeom>
            <a:rect b="b" l="l" r="r" t="t"/>
            <a:pathLst>
              <a:path extrusionOk="0" h="987552" w="987552">
                <a:moveTo>
                  <a:pt x="0" y="493776"/>
                </a:moveTo>
                <a:cubicBezTo>
                  <a:pt x="0" y="221107"/>
                  <a:pt x="221107" y="0"/>
                  <a:pt x="493776" y="0"/>
                </a:cubicBezTo>
                <a:cubicBezTo>
                  <a:pt x="766445" y="0"/>
                  <a:pt x="987552" y="221107"/>
                  <a:pt x="987552" y="493776"/>
                </a:cubicBezTo>
                <a:cubicBezTo>
                  <a:pt x="987552" y="766445"/>
                  <a:pt x="766445" y="987552"/>
                  <a:pt x="493776" y="987552"/>
                </a:cubicBezTo>
                <a:cubicBezTo>
                  <a:pt x="221107" y="987552"/>
                  <a:pt x="0" y="766445"/>
                  <a:pt x="0" y="493776"/>
                </a:cubicBezTo>
                <a:close/>
              </a:path>
            </a:pathLst>
          </a:custGeom>
          <a:solidFill>
            <a:srgbClr val="F5C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arch.png" id="762" name="Google Shape;762;p16"/>
          <p:cNvSpPr/>
          <p:nvPr/>
        </p:nvSpPr>
        <p:spPr>
          <a:xfrm>
            <a:off x="1221000" y="6405648"/>
            <a:ext cx="548069" cy="548069"/>
          </a:xfrm>
          <a:custGeom>
            <a:rect b="b" l="l" r="r" t="t"/>
            <a:pathLst>
              <a:path extrusionOk="0" h="730758" w="730758">
                <a:moveTo>
                  <a:pt x="0" y="0"/>
                </a:moveTo>
                <a:lnTo>
                  <a:pt x="730758" y="0"/>
                </a:lnTo>
                <a:lnTo>
                  <a:pt x="730758" y="730758"/>
                </a:lnTo>
                <a:lnTo>
                  <a:pt x="0" y="730758"/>
                </a:lnTo>
                <a:lnTo>
                  <a:pt x="0" y="0"/>
                </a:lnTo>
                <a:close/>
              </a:path>
            </a:pathLst>
          </a:custGeom>
          <a:blipFill rotWithShape="1">
            <a:blip r:embed="rId7">
              <a:alphaModFix/>
            </a:blip>
            <a:stretch>
              <a:fillRect b="-3" l="0" r="-3" t="0"/>
            </a:stretch>
          </a:blipFill>
          <a:ln>
            <a:noFill/>
          </a:ln>
        </p:spPr>
      </p:sp>
      <p:grpSp>
        <p:nvGrpSpPr>
          <p:cNvPr id="763" name="Google Shape;763;p16"/>
          <p:cNvGrpSpPr/>
          <p:nvPr/>
        </p:nvGrpSpPr>
        <p:grpSpPr>
          <a:xfrm>
            <a:off x="2125980" y="6150197"/>
            <a:ext cx="15270023" cy="502063"/>
            <a:chOff x="0" y="-47625"/>
            <a:chExt cx="20360030" cy="669417"/>
          </a:xfrm>
        </p:grpSpPr>
        <p:sp>
          <p:nvSpPr>
            <p:cNvPr id="764" name="Google Shape;764;p16"/>
            <p:cNvSpPr/>
            <p:nvPr/>
          </p:nvSpPr>
          <p:spPr>
            <a:xfrm>
              <a:off x="0" y="0"/>
              <a:ext cx="20360030" cy="621792"/>
            </a:xfrm>
            <a:custGeom>
              <a:rect b="b" l="l" r="r" t="t"/>
              <a:pathLst>
                <a:path extrusionOk="0" h="621792" w="20360030">
                  <a:moveTo>
                    <a:pt x="0" y="0"/>
                  </a:moveTo>
                  <a:lnTo>
                    <a:pt x="20360030" y="0"/>
                  </a:lnTo>
                  <a:lnTo>
                    <a:pt x="20360030" y="621792"/>
                  </a:lnTo>
                  <a:lnTo>
                    <a:pt x="0" y="621792"/>
                  </a:lnTo>
                  <a:close/>
                </a:path>
              </a:pathLst>
            </a:custGeom>
            <a:blipFill rotWithShape="1">
              <a:blip r:embed="rId3">
                <a:alphaModFix amt="0"/>
              </a:blip>
              <a:stretch>
                <a:fillRect b="-588081" l="0" r="0" t="-588081"/>
              </a:stretch>
            </a:blipFill>
            <a:ln>
              <a:noFill/>
            </a:ln>
          </p:spPr>
        </p:sp>
        <p:sp>
          <p:nvSpPr>
            <p:cNvPr id="765" name="Google Shape;765;p16"/>
            <p:cNvSpPr txBox="1"/>
            <p:nvPr/>
          </p:nvSpPr>
          <p:spPr>
            <a:xfrm>
              <a:off x="0" y="-47625"/>
              <a:ext cx="20360030" cy="6694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Arquitectura robusta</a:t>
              </a:r>
              <a:endParaRPr/>
            </a:p>
          </p:txBody>
        </p:sp>
      </p:grpSp>
      <p:sp>
        <p:nvSpPr>
          <p:cNvPr id="766" name="Google Shape;766;p16"/>
          <p:cNvSpPr txBox="1"/>
          <p:nvPr/>
        </p:nvSpPr>
        <p:spPr>
          <a:xfrm>
            <a:off x="2217420" y="6654546"/>
            <a:ext cx="15087143" cy="541782"/>
          </a:xfrm>
          <a:prstGeom prst="rect">
            <a:avLst/>
          </a:prstGeom>
          <a:noFill/>
          <a:ln>
            <a:noFill/>
          </a:ln>
        </p:spPr>
        <p:txBody>
          <a:bodyPr anchorCtr="0" anchor="t" bIns="0" lIns="0" spcFirstLastPara="1" rIns="0" wrap="square" tIns="0">
            <a:spAutoFit/>
          </a:bodyPr>
          <a:lstStyle/>
          <a:p>
            <a:pPr indent="0" lvl="0" marL="0" marR="0" rtl="0" algn="l">
              <a:lnSpc>
                <a:spcPct val="129565"/>
              </a:lnSpc>
              <a:spcBef>
                <a:spcPts val="0"/>
              </a:spcBef>
              <a:spcAft>
                <a:spcPts val="0"/>
              </a:spcAft>
              <a:buNone/>
            </a:pPr>
            <a:r>
              <a:rPr b="0" i="0" lang="en-US" sz="1725" u="none" cap="none" strike="noStrike">
                <a:solidFill>
                  <a:srgbClr val="CCCCCC"/>
                </a:solidFill>
                <a:latin typeface="Calibri"/>
                <a:ea typeface="Calibri"/>
                <a:cs typeface="Calibri"/>
                <a:sym typeface="Calibri"/>
              </a:rPr>
              <a:t>Microservicios independientes (SLA, Inventario, QR, Reportería, Integración IMER) sobre Node.js + MySQL.</a:t>
            </a:r>
            <a:endParaRPr/>
          </a:p>
        </p:txBody>
      </p:sp>
      <p:sp>
        <p:nvSpPr>
          <p:cNvPr id="767" name="Google Shape;767;p16"/>
          <p:cNvSpPr/>
          <p:nvPr/>
        </p:nvSpPr>
        <p:spPr>
          <a:xfrm>
            <a:off x="822960" y="7447788"/>
            <a:ext cx="16641603" cy="1261872"/>
          </a:xfrm>
          <a:custGeom>
            <a:rect b="b" l="l" r="r" t="t"/>
            <a:pathLst>
              <a:path extrusionOk="0" h="1682496" w="22188804">
                <a:moveTo>
                  <a:pt x="0" y="128016"/>
                </a:moveTo>
                <a:cubicBezTo>
                  <a:pt x="0" y="57277"/>
                  <a:pt x="57277" y="0"/>
                  <a:pt x="128016" y="0"/>
                </a:cubicBezTo>
                <a:lnTo>
                  <a:pt x="22060788" y="0"/>
                </a:lnTo>
                <a:cubicBezTo>
                  <a:pt x="22131527" y="0"/>
                  <a:pt x="22188804" y="57277"/>
                  <a:pt x="22188804" y="128016"/>
                </a:cubicBezTo>
                <a:lnTo>
                  <a:pt x="22188804" y="1554480"/>
                </a:lnTo>
                <a:cubicBezTo>
                  <a:pt x="22188804" y="1625219"/>
                  <a:pt x="22131527" y="1682496"/>
                  <a:pt x="22060788" y="1682496"/>
                </a:cubicBezTo>
                <a:lnTo>
                  <a:pt x="128016" y="1682496"/>
                </a:lnTo>
                <a:cubicBezTo>
                  <a:pt x="57277" y="1682496"/>
                  <a:pt x="0" y="1625219"/>
                  <a:pt x="0" y="1554480"/>
                </a:cubicBezTo>
                <a:close/>
              </a:path>
            </a:pathLst>
          </a:custGeom>
          <a:solidFill>
            <a:srgbClr val="252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6"/>
          <p:cNvSpPr/>
          <p:nvPr/>
        </p:nvSpPr>
        <p:spPr>
          <a:xfrm>
            <a:off x="1124712" y="7708392"/>
            <a:ext cx="740664" cy="740664"/>
          </a:xfrm>
          <a:custGeom>
            <a:rect b="b" l="l" r="r" t="t"/>
            <a:pathLst>
              <a:path extrusionOk="0" h="987552" w="987552">
                <a:moveTo>
                  <a:pt x="0" y="493776"/>
                </a:moveTo>
                <a:cubicBezTo>
                  <a:pt x="0" y="221107"/>
                  <a:pt x="221107" y="0"/>
                  <a:pt x="493776" y="0"/>
                </a:cubicBezTo>
                <a:cubicBezTo>
                  <a:pt x="766445" y="0"/>
                  <a:pt x="987552" y="221107"/>
                  <a:pt x="987552" y="493776"/>
                </a:cubicBezTo>
                <a:cubicBezTo>
                  <a:pt x="987552" y="766445"/>
                  <a:pt x="766445" y="987552"/>
                  <a:pt x="493776" y="987552"/>
                </a:cubicBezTo>
                <a:cubicBezTo>
                  <a:pt x="221107" y="987552"/>
                  <a:pt x="0" y="766445"/>
                  <a:pt x="0" y="493776"/>
                </a:cubicBez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home/claude/assets/icons/piechart.png" id="769" name="Google Shape;769;p16"/>
          <p:cNvSpPr/>
          <p:nvPr/>
        </p:nvSpPr>
        <p:spPr>
          <a:xfrm>
            <a:off x="1221000" y="7804680"/>
            <a:ext cx="548069" cy="548069"/>
          </a:xfrm>
          <a:custGeom>
            <a:rect b="b" l="l" r="r" t="t"/>
            <a:pathLst>
              <a:path extrusionOk="0" h="730758" w="730758">
                <a:moveTo>
                  <a:pt x="0" y="0"/>
                </a:moveTo>
                <a:lnTo>
                  <a:pt x="730758" y="0"/>
                </a:lnTo>
                <a:lnTo>
                  <a:pt x="730758" y="730758"/>
                </a:lnTo>
                <a:lnTo>
                  <a:pt x="0" y="730758"/>
                </a:lnTo>
                <a:lnTo>
                  <a:pt x="0" y="0"/>
                </a:lnTo>
                <a:close/>
              </a:path>
            </a:pathLst>
          </a:custGeom>
          <a:blipFill rotWithShape="1">
            <a:blip r:embed="rId8">
              <a:alphaModFix/>
            </a:blip>
            <a:stretch>
              <a:fillRect b="-3" l="0" r="-3" t="0"/>
            </a:stretch>
          </a:blipFill>
          <a:ln>
            <a:noFill/>
          </a:ln>
        </p:spPr>
      </p:sp>
      <p:grpSp>
        <p:nvGrpSpPr>
          <p:cNvPr id="770" name="Google Shape;770;p16"/>
          <p:cNvGrpSpPr/>
          <p:nvPr/>
        </p:nvGrpSpPr>
        <p:grpSpPr>
          <a:xfrm>
            <a:off x="2125980" y="7549229"/>
            <a:ext cx="15270023" cy="502063"/>
            <a:chOff x="0" y="-47625"/>
            <a:chExt cx="20360030" cy="669417"/>
          </a:xfrm>
        </p:grpSpPr>
        <p:sp>
          <p:nvSpPr>
            <p:cNvPr id="771" name="Google Shape;771;p16"/>
            <p:cNvSpPr/>
            <p:nvPr/>
          </p:nvSpPr>
          <p:spPr>
            <a:xfrm>
              <a:off x="0" y="0"/>
              <a:ext cx="20360030" cy="621792"/>
            </a:xfrm>
            <a:custGeom>
              <a:rect b="b" l="l" r="r" t="t"/>
              <a:pathLst>
                <a:path extrusionOk="0" h="621792" w="20360030">
                  <a:moveTo>
                    <a:pt x="0" y="0"/>
                  </a:moveTo>
                  <a:lnTo>
                    <a:pt x="20360030" y="0"/>
                  </a:lnTo>
                  <a:lnTo>
                    <a:pt x="20360030" y="621792"/>
                  </a:lnTo>
                  <a:lnTo>
                    <a:pt x="0" y="621792"/>
                  </a:lnTo>
                  <a:close/>
                </a:path>
              </a:pathLst>
            </a:custGeom>
            <a:blipFill rotWithShape="1">
              <a:blip r:embed="rId3">
                <a:alphaModFix amt="0"/>
              </a:blip>
              <a:stretch>
                <a:fillRect b="-588081" l="0" r="0" t="-588081"/>
              </a:stretch>
            </a:blipFill>
            <a:ln>
              <a:noFill/>
            </a:ln>
          </p:spPr>
        </p:sp>
        <p:sp>
          <p:nvSpPr>
            <p:cNvPr id="772" name="Google Shape;772;p16"/>
            <p:cNvSpPr txBox="1"/>
            <p:nvPr/>
          </p:nvSpPr>
          <p:spPr>
            <a:xfrm>
              <a:off x="0" y="-47625"/>
              <a:ext cx="20360030" cy="6694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Calibri"/>
                  <a:ea typeface="Calibri"/>
                  <a:cs typeface="Calibri"/>
                  <a:sym typeface="Calibri"/>
                </a:rPr>
                <a:t>Control con métricas</a:t>
              </a:r>
              <a:endParaRPr/>
            </a:p>
          </p:txBody>
        </p:sp>
      </p:grpSp>
      <p:sp>
        <p:nvSpPr>
          <p:cNvPr id="773" name="Google Shape;773;p16"/>
          <p:cNvSpPr txBox="1"/>
          <p:nvPr/>
        </p:nvSpPr>
        <p:spPr>
          <a:xfrm>
            <a:off x="2217420" y="8053578"/>
            <a:ext cx="15087143" cy="541782"/>
          </a:xfrm>
          <a:prstGeom prst="rect">
            <a:avLst/>
          </a:prstGeom>
          <a:noFill/>
          <a:ln>
            <a:noFill/>
          </a:ln>
        </p:spPr>
        <p:txBody>
          <a:bodyPr anchorCtr="0" anchor="t" bIns="0" lIns="0" spcFirstLastPara="1" rIns="0" wrap="square" tIns="0">
            <a:spAutoFit/>
          </a:bodyPr>
          <a:lstStyle/>
          <a:p>
            <a:pPr indent="0" lvl="0" marL="0" marR="0" rtl="0" algn="l">
              <a:lnSpc>
                <a:spcPct val="129565"/>
              </a:lnSpc>
              <a:spcBef>
                <a:spcPts val="0"/>
              </a:spcBef>
              <a:spcAft>
                <a:spcPts val="0"/>
              </a:spcAft>
              <a:buNone/>
            </a:pPr>
            <a:r>
              <a:rPr b="0" i="0" lang="en-US" sz="1725" u="none" cap="none" strike="noStrike">
                <a:solidFill>
                  <a:srgbClr val="CCCCCC"/>
                </a:solidFill>
                <a:latin typeface="Calibri"/>
                <a:ea typeface="Calibri"/>
                <a:cs typeface="Calibri"/>
                <a:sym typeface="Calibri"/>
              </a:rPr>
              <a:t>Alertas de SLA al 75% del plazo, cálculo de MTTR y reportería gerencial automatizada por correo.</a:t>
            </a:r>
            <a:endParaRPr/>
          </a:p>
        </p:txBody>
      </p:sp>
      <p:grpSp>
        <p:nvGrpSpPr>
          <p:cNvPr id="774" name="Google Shape;774;p16"/>
          <p:cNvGrpSpPr/>
          <p:nvPr/>
        </p:nvGrpSpPr>
        <p:grpSpPr>
          <a:xfrm>
            <a:off x="822960" y="8927973"/>
            <a:ext cx="16641623" cy="508635"/>
            <a:chOff x="0" y="-38100"/>
            <a:chExt cx="22188830" cy="678180"/>
          </a:xfrm>
        </p:grpSpPr>
        <p:sp>
          <p:nvSpPr>
            <p:cNvPr id="775" name="Google Shape;775;p16"/>
            <p:cNvSpPr/>
            <p:nvPr/>
          </p:nvSpPr>
          <p:spPr>
            <a:xfrm>
              <a:off x="0" y="0"/>
              <a:ext cx="22188830" cy="640080"/>
            </a:xfrm>
            <a:custGeom>
              <a:rect b="b" l="l" r="r" t="t"/>
              <a:pathLst>
                <a:path extrusionOk="0" h="640080" w="22188830">
                  <a:moveTo>
                    <a:pt x="0" y="0"/>
                  </a:moveTo>
                  <a:lnTo>
                    <a:pt x="22188830" y="0"/>
                  </a:lnTo>
                  <a:lnTo>
                    <a:pt x="22188830" y="640080"/>
                  </a:lnTo>
                  <a:lnTo>
                    <a:pt x="0" y="640080"/>
                  </a:lnTo>
                  <a:close/>
                </a:path>
              </a:pathLst>
            </a:custGeom>
            <a:blipFill rotWithShape="1">
              <a:blip r:embed="rId3">
                <a:alphaModFix amt="0"/>
              </a:blip>
              <a:stretch>
                <a:fillRect b="-625493" l="0" r="0" t="-625493"/>
              </a:stretch>
            </a:blipFill>
            <a:ln>
              <a:noFill/>
            </a:ln>
          </p:spPr>
        </p:sp>
        <p:sp>
          <p:nvSpPr>
            <p:cNvPr id="776" name="Google Shape;776;p16"/>
            <p:cNvSpPr txBox="1"/>
            <p:nvPr/>
          </p:nvSpPr>
          <p:spPr>
            <a:xfrm>
              <a:off x="0" y="-38100"/>
              <a:ext cx="22188830" cy="6781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1" lang="en-US" sz="1725" u="none" cap="none" strike="noStrike">
                  <a:solidFill>
                    <a:srgbClr val="8A94B0"/>
                  </a:solidFill>
                  <a:latin typeface="Calibri"/>
                  <a:ea typeface="Calibri"/>
                  <a:cs typeface="Calibri"/>
                  <a:sym typeface="Calibri"/>
                </a:rPr>
                <a:t>Sistema de Gestión de Tickets — Centro Clínico Aconcagua  |  Grupo 11  |  2026</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